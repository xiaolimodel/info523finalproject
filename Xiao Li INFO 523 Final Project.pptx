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notesMasterIdLst>
    <p:notesMasterId r:id="rId31"/>
  </p:notesMasterIdLst>
  <p:sldIdLst>
    <p:sldId id="280" r:id="rId2"/>
    <p:sldId id="291" r:id="rId3"/>
    <p:sldId id="296" r:id="rId4"/>
    <p:sldId id="292" r:id="rId5"/>
    <p:sldId id="293" r:id="rId6"/>
    <p:sldId id="297" r:id="rId7"/>
    <p:sldId id="298" r:id="rId8"/>
    <p:sldId id="299" r:id="rId9"/>
    <p:sldId id="300" r:id="rId10"/>
    <p:sldId id="301" r:id="rId11"/>
    <p:sldId id="294" r:id="rId12"/>
    <p:sldId id="304" r:id="rId13"/>
    <p:sldId id="302" r:id="rId14"/>
    <p:sldId id="303" r:id="rId15"/>
    <p:sldId id="305" r:id="rId16"/>
    <p:sldId id="317" r:id="rId17"/>
    <p:sldId id="295" r:id="rId18"/>
    <p:sldId id="306" r:id="rId19"/>
    <p:sldId id="309" r:id="rId20"/>
    <p:sldId id="313" r:id="rId21"/>
    <p:sldId id="314" r:id="rId22"/>
    <p:sldId id="307" r:id="rId23"/>
    <p:sldId id="308" r:id="rId24"/>
    <p:sldId id="315" r:id="rId25"/>
    <p:sldId id="310" r:id="rId26"/>
    <p:sldId id="311" r:id="rId27"/>
    <p:sldId id="312" r:id="rId28"/>
    <p:sldId id="316" r:id="rId29"/>
    <p:sldId id="290" r:id="rId30"/>
  </p:sldIdLst>
  <p:sldSz cx="12192000" cy="6858000"/>
  <p:notesSz cx="6858000" cy="9144000"/>
  <p:embeddedFontLst>
    <p:embeddedFont>
      <p:font typeface="Myriad Pro" panose="020B0503030403020204" charset="0"/>
      <p:regular r:id="rId32"/>
      <p:bold r:id="rId33"/>
      <p:italic r:id="rId34"/>
      <p:boldItalic r:id="rId35"/>
    </p:embeddedFont>
    <p:embeddedFont>
      <p:font typeface="Myriad Pro Light" panose="020B040303040302020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867F68-1B36-D259-48AC-464EF11EF89F}" name="Sheila Storm" initials="SS" userId="S::SStorm@pagregion.com::0d1324a0-4bdb-4b20-b2ce-246d2551614d" providerId="AD"/>
  <p188:author id="{30AB597F-C8F8-763D-4797-DC050BFF01AA}" name="Kristin Griffin" initials="KG" userId="e67e29329b7bfb5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823"/>
    <a:srgbClr val="74A076"/>
    <a:srgbClr val="495671"/>
    <a:srgbClr val="F26823"/>
    <a:srgbClr val="FF762B"/>
    <a:srgbClr val="8C8AA2"/>
    <a:srgbClr val="91AAE2"/>
    <a:srgbClr val="697BA4"/>
    <a:srgbClr val="FFD800"/>
    <a:srgbClr val="95CD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88889" autoAdjust="0"/>
  </p:normalViewPr>
  <p:slideViewPr>
    <p:cSldViewPr snapToGrid="0" snapToObjects="1">
      <p:cViewPr varScale="1">
        <p:scale>
          <a:sx n="73" d="100"/>
          <a:sy n="73" d="100"/>
        </p:scale>
        <p:origin x="1162" y="9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E03F8B-A50D-DE44-9304-39C43FB3C5B0}" type="datetimeFigureOut">
              <a:rPr lang="en-US" smtClean="0"/>
              <a:t>12/10/2025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151AFC-CD2E-5241-A5F6-3092FE7745F8}" type="slidenum">
              <a:rPr lang="en-US" smtClean="0"/>
              <a:t>‹#›</a:t>
            </a:fld>
            <a:endParaRPr lang="en-US" dirty="0"/>
          </a:p>
        </p:txBody>
      </p:sp>
    </p:spTree>
    <p:extLst>
      <p:ext uri="{BB962C8B-B14F-4D97-AF65-F5344CB8AC3E}">
        <p14:creationId xmlns:p14="http://schemas.microsoft.com/office/powerpoint/2010/main" val="2645124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Good Evening everybody.</a:t>
            </a:r>
          </a:p>
          <a:p>
            <a:r>
              <a:rPr lang="en-US" dirty="0"/>
              <a:t>Today I would like to show you the data mining of our Pima County Travel Reduction Program Survey as our final project for this class.</a:t>
            </a:r>
          </a:p>
        </p:txBody>
      </p:sp>
      <p:sp>
        <p:nvSpPr>
          <p:cNvPr id="4" name="Slide Number Placeholder 3"/>
          <p:cNvSpPr>
            <a:spLocks noGrp="1"/>
          </p:cNvSpPr>
          <p:nvPr>
            <p:ph type="sldNum" sz="quarter" idx="5"/>
          </p:nvPr>
        </p:nvSpPr>
        <p:spPr/>
        <p:txBody>
          <a:bodyPr/>
          <a:lstStyle/>
          <a:p>
            <a:fld id="{58151AFC-CD2E-5241-A5F6-3092FE7745F8}" type="slidenum">
              <a:rPr lang="en-US" smtClean="0"/>
              <a:t>1</a:t>
            </a:fld>
            <a:endParaRPr lang="en-US" dirty="0"/>
          </a:p>
        </p:txBody>
      </p:sp>
    </p:spTree>
    <p:extLst>
      <p:ext uri="{BB962C8B-B14F-4D97-AF65-F5344CB8AC3E}">
        <p14:creationId xmlns:p14="http://schemas.microsoft.com/office/powerpoint/2010/main" val="2697362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source is coming from where I work, which is an internal dataset. </a:t>
            </a:r>
          </a:p>
          <a:p>
            <a:r>
              <a:rPr lang="en-US" dirty="0"/>
              <a:t>We have a regional travel reduction program to encourage employees in Pima County to improve traffic congestion and air quality.</a:t>
            </a:r>
          </a:p>
          <a:p>
            <a:r>
              <a:rPr lang="en-US" dirty="0"/>
              <a:t>The program requires the big employers in Pima County to distribute an employee survey to investigate their employees’ commute travel behaviors, such as number of days taking transit, number of days telecommute.</a:t>
            </a:r>
          </a:p>
        </p:txBody>
      </p:sp>
      <p:sp>
        <p:nvSpPr>
          <p:cNvPr id="4" name="Slide Number Placeholder 3"/>
          <p:cNvSpPr>
            <a:spLocks noGrp="1"/>
          </p:cNvSpPr>
          <p:nvPr>
            <p:ph type="sldNum" sz="quarter" idx="5"/>
          </p:nvPr>
        </p:nvSpPr>
        <p:spPr/>
        <p:txBody>
          <a:bodyPr/>
          <a:lstStyle/>
          <a:p>
            <a:fld id="{58151AFC-CD2E-5241-A5F6-3092FE7745F8}" type="slidenum">
              <a:rPr lang="en-US" smtClean="0"/>
              <a:t>2</a:t>
            </a:fld>
            <a:endParaRPr lang="en-US" dirty="0"/>
          </a:p>
        </p:txBody>
      </p:sp>
    </p:spTree>
    <p:extLst>
      <p:ext uri="{BB962C8B-B14F-4D97-AF65-F5344CB8AC3E}">
        <p14:creationId xmlns:p14="http://schemas.microsoft.com/office/powerpoint/2010/main" val="391344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3</a:t>
            </a:fld>
            <a:endParaRPr lang="en-US" dirty="0"/>
          </a:p>
        </p:txBody>
      </p:sp>
    </p:spTree>
    <p:extLst>
      <p:ext uri="{BB962C8B-B14F-4D97-AF65-F5344CB8AC3E}">
        <p14:creationId xmlns:p14="http://schemas.microsoft.com/office/powerpoint/2010/main" val="703152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4</a:t>
            </a:fld>
            <a:endParaRPr lang="en-US" dirty="0"/>
          </a:p>
        </p:txBody>
      </p:sp>
    </p:spTree>
    <p:extLst>
      <p:ext uri="{BB962C8B-B14F-4D97-AF65-F5344CB8AC3E}">
        <p14:creationId xmlns:p14="http://schemas.microsoft.com/office/powerpoint/2010/main" val="677226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6</a:t>
            </a:fld>
            <a:endParaRPr lang="en-US" dirty="0"/>
          </a:p>
        </p:txBody>
      </p:sp>
    </p:spTree>
    <p:extLst>
      <p:ext uri="{BB962C8B-B14F-4D97-AF65-F5344CB8AC3E}">
        <p14:creationId xmlns:p14="http://schemas.microsoft.com/office/powerpoint/2010/main" val="2339305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9</a:t>
            </a:fld>
            <a:endParaRPr lang="en-US" dirty="0"/>
          </a:p>
        </p:txBody>
      </p:sp>
    </p:spTree>
    <p:extLst>
      <p:ext uri="{BB962C8B-B14F-4D97-AF65-F5344CB8AC3E}">
        <p14:creationId xmlns:p14="http://schemas.microsoft.com/office/powerpoint/2010/main" val="3275699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 correlation between workers, drivers, and vehicles. And strong correlations between income, commute time, commute distance, and work from home.</a:t>
            </a:r>
          </a:p>
        </p:txBody>
      </p:sp>
      <p:sp>
        <p:nvSpPr>
          <p:cNvPr id="4" name="Slide Number Placeholder 3"/>
          <p:cNvSpPr>
            <a:spLocks noGrp="1"/>
          </p:cNvSpPr>
          <p:nvPr>
            <p:ph type="sldNum" sz="quarter" idx="5"/>
          </p:nvPr>
        </p:nvSpPr>
        <p:spPr/>
        <p:txBody>
          <a:bodyPr/>
          <a:lstStyle/>
          <a:p>
            <a:fld id="{58151AFC-CD2E-5241-A5F6-3092FE7745F8}" type="slidenum">
              <a:rPr lang="en-US" smtClean="0"/>
              <a:t>10</a:t>
            </a:fld>
            <a:endParaRPr lang="en-US" dirty="0"/>
          </a:p>
        </p:txBody>
      </p:sp>
    </p:spTree>
    <p:extLst>
      <p:ext uri="{BB962C8B-B14F-4D97-AF65-F5344CB8AC3E}">
        <p14:creationId xmlns:p14="http://schemas.microsoft.com/office/powerpoint/2010/main" val="3995579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14</a:t>
            </a:fld>
            <a:endParaRPr lang="en-US" dirty="0"/>
          </a:p>
        </p:txBody>
      </p:sp>
    </p:spTree>
    <p:extLst>
      <p:ext uri="{BB962C8B-B14F-4D97-AF65-F5344CB8AC3E}">
        <p14:creationId xmlns:p14="http://schemas.microsoft.com/office/powerpoint/2010/main" val="3117501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17</a:t>
            </a:fld>
            <a:endParaRPr lang="en-US" dirty="0"/>
          </a:p>
        </p:txBody>
      </p:sp>
    </p:spTree>
    <p:extLst>
      <p:ext uri="{BB962C8B-B14F-4D97-AF65-F5344CB8AC3E}">
        <p14:creationId xmlns:p14="http://schemas.microsoft.com/office/powerpoint/2010/main" val="1442035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18</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objective: Identify enterprise groups with similar commuting characteristics.Provide data support for transportation planning/policy-making.</a:t>
            </a:r>
          </a:p>
          <a:p>
            <a:r>
              <a:rPr lang="en-US" altLang="zh-CN" dirty="0"/>
              <a:t>Data preprocessing: </a:t>
            </a:r>
          </a:p>
          <a:p>
            <a:r>
              <a:rPr lang="en-US" altLang="zh-CN" dirty="0"/>
              <a:t>    - Original data: 138 companies, over 20 commuting indicators</a:t>
            </a:r>
          </a:p>
          <a:p>
            <a:r>
              <a:rPr lang="en-US" altLang="zh-CN" dirty="0"/>
              <a:t>    - Cleaning steps:</a:t>
            </a:r>
          </a:p>
          <a:p>
            <a:r>
              <a:rPr lang="en-US" altLang="zh-CN" dirty="0"/>
              <a:t>    - Remove non-numeric columns (' Company ', 'NAICS2')</a:t>
            </a:r>
          </a:p>
          <a:p>
            <a:r>
              <a:rPr lang="en-US" altLang="zh-CN" dirty="0"/>
              <a:t>    Automatically eliminate zero-variance variables</a:t>
            </a:r>
          </a:p>
          <a:p>
            <a:r>
              <a:rPr lang="en-US" altLang="zh-CN" dirty="0"/>
              <a:t>    - ** Detect and remove outliers ** (Markov distance + business rules)</a:t>
            </a:r>
          </a:p>
          <a:p>
            <a:r>
              <a:rPr lang="en-US" altLang="zh-CN" dirty="0"/>
              <a:t>    Final sample: **135 companies ** (3 exceptions removed)</a:t>
            </a:r>
          </a:p>
          <a:p>
            <a:endParaRPr lang="en-US" altLang="zh-CN" dirty="0"/>
          </a:p>
          <a:p>
            <a:r>
              <a:rPr lang="en-US" altLang="zh-CN" dirty="0"/>
              <a:t>Clustering Method Selection: PAM (Partitioning Around Medoids)</a:t>
            </a:r>
          </a:p>
          <a:p>
            <a:r>
              <a:rPr lang="en-US" altLang="zh-CN" dirty="0"/>
              <a:t>- Advantages:</a:t>
            </a:r>
          </a:p>
          <a:p>
            <a:pPr lvl="1"/>
            <a:r>
              <a:rPr lang="en-US" altLang="zh-CN" dirty="0"/>
              <a:t>- Robust to outliers (pre-processed)</a:t>
            </a:r>
          </a:p>
          <a:p>
            <a:pPr lvl="1"/>
            <a:r>
              <a:rPr lang="en-US" altLang="zh-CN" dirty="0"/>
              <a:t>- Does not rely on the spherical cluster assumption</a:t>
            </a:r>
          </a:p>
          <a:p>
            <a:pPr lvl="1"/>
            <a:r>
              <a:rPr lang="en-US" altLang="zh-CN" dirty="0"/>
              <a:t>- Provide a clear "medoid"</a:t>
            </a:r>
          </a:p>
          <a:p>
            <a:r>
              <a:rPr lang="en-US" altLang="zh-CN" dirty="0"/>
              <a:t>Automatically select the optimal K using the ** contour coefficient **</a:t>
            </a:r>
          </a:p>
        </p:txBody>
      </p:sp>
      <p:sp>
        <p:nvSpPr>
          <p:cNvPr id="4" name="Slide Number Placeholder 3"/>
          <p:cNvSpPr>
            <a:spLocks noGrp="1"/>
          </p:cNvSpPr>
          <p:nvPr>
            <p:ph type="sldNum" sz="quarter" idx="5"/>
          </p:nvPr>
        </p:nvSpPr>
        <p:spPr/>
        <p:txBody>
          <a:bodyPr/>
          <a:lstStyle/>
          <a:p>
            <a:fld id="{58151AFC-CD2E-5241-A5F6-3092FE7745F8}" type="slidenum">
              <a:rPr lang="en-US" smtClean="0"/>
              <a:t>20</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Results of density clustering analysis</a:t>
            </a:r>
          </a:p>
          <a:p>
            <a:endParaRPr lang="en-US" altLang="zh-CN" dirty="0"/>
          </a:p>
          <a:p>
            <a:r>
              <a:rPr lang="en-US" altLang="zh-CN" dirty="0"/>
              <a:t>- Try DBSCAN</a:t>
            </a:r>
          </a:p>
          <a:p>
            <a:r>
              <a:rPr lang="en-US" altLang="zh-CN" dirty="0"/>
              <a:t>- Try OPTICS </a:t>
            </a:r>
          </a:p>
          <a:p>
            <a:r>
              <a:rPr lang="en-US" altLang="zh-CN" dirty="0"/>
              <a:t>- Includes outlier handling and standardization</a:t>
            </a:r>
          </a:p>
          <a:p>
            <a:endParaRPr lang="en-US" altLang="zh-CN" dirty="0"/>
          </a:p>
          <a:p>
            <a:r>
              <a:rPr lang="en-US" altLang="zh-CN" dirty="0"/>
              <a:t>Result</a:t>
            </a:r>
          </a:p>
          <a:p>
            <a:r>
              <a:rPr lang="en-US" altLang="zh-CN" dirty="0"/>
              <a:t>137 points (Cluster 0)</a:t>
            </a:r>
            <a:r>
              <a:rPr lang="zh-CN" altLang="en-US" dirty="0"/>
              <a:t>，</a:t>
            </a:r>
            <a:r>
              <a:rPr lang="en-US" altLang="zh-CN" dirty="0"/>
              <a:t> 1points (Cluster 1)</a:t>
            </a:r>
          </a:p>
          <a:p>
            <a:r>
              <a:rPr lang="en-US" altLang="zh-CN" dirty="0"/>
              <a:t>The PCA projection shows that the data present a continuous band-like distribution without any separated clusters</a:t>
            </a:r>
          </a:p>
          <a:p>
            <a:endParaRPr lang="en-US" altLang="zh-CN" dirty="0"/>
          </a:p>
          <a:p>
            <a:r>
              <a:rPr lang="en-US" altLang="zh-CN" dirty="0"/>
              <a:t>Conclusion</a:t>
            </a:r>
          </a:p>
          <a:p>
            <a:r>
              <a:rPr lang="en-US" altLang="zh-CN" dirty="0"/>
              <a:t>There is no significant density cluster structure in the enterprise commuting mode</a:t>
            </a:r>
          </a:p>
        </p:txBody>
      </p:sp>
      <p:sp>
        <p:nvSpPr>
          <p:cNvPr id="4" name="Slide Number Placeholder 3"/>
          <p:cNvSpPr>
            <a:spLocks noGrp="1"/>
          </p:cNvSpPr>
          <p:nvPr>
            <p:ph type="sldNum" sz="quarter" idx="5"/>
          </p:nvPr>
        </p:nvSpPr>
        <p:spPr/>
        <p:txBody>
          <a:bodyPr/>
          <a:lstStyle/>
          <a:p>
            <a:fld id="{58151AFC-CD2E-5241-A5F6-3092FE7745F8}" type="slidenum">
              <a:rPr lang="en-US" smtClean="0"/>
              <a:t>21</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22</a:t>
            </a:fld>
            <a:endParaRPr lang="en-US" dirty="0"/>
          </a:p>
        </p:txBody>
      </p:sp>
    </p:spTree>
    <p:extLst>
      <p:ext uri="{BB962C8B-B14F-4D97-AF65-F5344CB8AC3E}">
        <p14:creationId xmlns:p14="http://schemas.microsoft.com/office/powerpoint/2010/main" val="1946070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23</a:t>
            </a:fld>
            <a:endParaRPr lang="en-US" dirty="0"/>
          </a:p>
        </p:txBody>
      </p:sp>
    </p:spTree>
    <p:extLst>
      <p:ext uri="{BB962C8B-B14F-4D97-AF65-F5344CB8AC3E}">
        <p14:creationId xmlns:p14="http://schemas.microsoft.com/office/powerpoint/2010/main" val="1890565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51AFC-CD2E-5241-A5F6-3092FE7745F8}" type="slidenum">
              <a:rPr lang="en-US" smtClean="0"/>
              <a:t>25</a:t>
            </a:fld>
            <a:endParaRPr lang="en-US" dirty="0"/>
          </a:p>
        </p:txBody>
      </p:sp>
    </p:spTree>
    <p:extLst>
      <p:ext uri="{BB962C8B-B14F-4D97-AF65-F5344CB8AC3E}">
        <p14:creationId xmlns:p14="http://schemas.microsoft.com/office/powerpoint/2010/main" val="27404696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emf"/><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IN">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FC07C-146D-005A-E4D8-342103E3FFF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5333999" y="0"/>
            <a:ext cx="6858000" cy="6858000"/>
          </a:xfrm>
          <a:prstGeom prst="rect">
            <a:avLst/>
          </a:prstGeom>
        </p:spPr>
      </p:pic>
      <p:sp>
        <p:nvSpPr>
          <p:cNvPr id="6" name="Text Placeholder 5">
            <a:extLst>
              <a:ext uri="{FF2B5EF4-FFF2-40B4-BE49-F238E27FC236}">
                <a16:creationId xmlns:a16="http://schemas.microsoft.com/office/drawing/2014/main" id="{6A78AF43-E4EF-D298-CDF5-C9BCE67810E0}"/>
              </a:ext>
            </a:extLst>
          </p:cNvPr>
          <p:cNvSpPr>
            <a:spLocks noGrp="1"/>
          </p:cNvSpPr>
          <p:nvPr>
            <p:ph type="body" sz="quarter" idx="14" hasCustomPrompt="1"/>
          </p:nvPr>
        </p:nvSpPr>
        <p:spPr>
          <a:xfrm>
            <a:off x="0" y="-251293"/>
            <a:ext cx="4222750" cy="248914"/>
          </a:xfrm>
        </p:spPr>
        <p:txBody>
          <a:bodyPr/>
          <a:lstStyle>
            <a:lvl1pPr marL="0" indent="0">
              <a:buNone/>
              <a:defRPr sz="1100"/>
            </a:lvl1pPr>
            <a:lvl2pPr marL="457200" indent="0">
              <a:buNone/>
              <a:defRPr/>
            </a:lvl2pPr>
            <a:lvl3pPr marL="914400" indent="0">
              <a:buNone/>
              <a:defRPr/>
            </a:lvl3pPr>
            <a:lvl4pPr marL="1371600" indent="0">
              <a:buNone/>
              <a:defRPr/>
            </a:lvl4pPr>
            <a:lvl5pPr marL="1828800" indent="0">
              <a:buNone/>
              <a:defRPr/>
            </a:lvl5pPr>
          </a:lstStyle>
          <a:p>
            <a:r>
              <a:rPr lang="en-US" dirty="0"/>
              <a:t>Main Title Slide Layout</a:t>
            </a:r>
          </a:p>
        </p:txBody>
      </p:sp>
      <p:sp>
        <p:nvSpPr>
          <p:cNvPr id="3" name="Rectangle 2">
            <a:extLst>
              <a:ext uri="{FF2B5EF4-FFF2-40B4-BE49-F238E27FC236}">
                <a16:creationId xmlns:a16="http://schemas.microsoft.com/office/drawing/2014/main" id="{5C931F11-BA28-51AE-00E1-05E235BC2585}"/>
              </a:ext>
            </a:extLst>
          </p:cNvPr>
          <p:cNvSpPr/>
          <p:nvPr userDrawn="1"/>
        </p:nvSpPr>
        <p:spPr>
          <a:xfrm>
            <a:off x="0" y="5338302"/>
            <a:ext cx="12192000" cy="1519698"/>
          </a:xfrm>
          <a:prstGeom prst="rect">
            <a:avLst/>
          </a:prstGeom>
          <a:solidFill>
            <a:srgbClr val="495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a:extLst>
              <a:ext uri="{FF2B5EF4-FFF2-40B4-BE49-F238E27FC236}">
                <a16:creationId xmlns:a16="http://schemas.microsoft.com/office/drawing/2014/main" id="{884B5D89-825D-B388-9298-01EEEEE6CF1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67862" y="5572538"/>
            <a:ext cx="2394126" cy="1062482"/>
          </a:xfrm>
          <a:prstGeom prst="rect">
            <a:avLst/>
          </a:prstGeom>
        </p:spPr>
      </p:pic>
      <p:pic>
        <p:nvPicPr>
          <p:cNvPr id="24" name="Graphic 23">
            <a:extLst>
              <a:ext uri="{FF2B5EF4-FFF2-40B4-BE49-F238E27FC236}">
                <a16:creationId xmlns:a16="http://schemas.microsoft.com/office/drawing/2014/main" id="{2A7864A2-8129-E1FA-81AB-821D3D90BD0F}"/>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300" t="4" r="2258" b="-4"/>
          <a:stretch/>
        </p:blipFill>
        <p:spPr>
          <a:xfrm>
            <a:off x="-2" y="5335421"/>
            <a:ext cx="12192001" cy="45719"/>
          </a:xfrm>
          <a:prstGeom prst="rect">
            <a:avLst/>
          </a:prstGeom>
        </p:spPr>
      </p:pic>
      <p:sp>
        <p:nvSpPr>
          <p:cNvPr id="26" name="Text Placeholder 10">
            <a:extLst>
              <a:ext uri="{FF2B5EF4-FFF2-40B4-BE49-F238E27FC236}">
                <a16:creationId xmlns:a16="http://schemas.microsoft.com/office/drawing/2014/main" id="{9DECC101-9B4A-7998-ECF1-3CA349B57F83}"/>
              </a:ext>
            </a:extLst>
          </p:cNvPr>
          <p:cNvSpPr>
            <a:spLocks noGrp="1"/>
          </p:cNvSpPr>
          <p:nvPr>
            <p:ph type="body" sz="quarter" idx="13"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17" name="Text Placeholder 16">
            <a:extLst>
              <a:ext uri="{FF2B5EF4-FFF2-40B4-BE49-F238E27FC236}">
                <a16:creationId xmlns:a16="http://schemas.microsoft.com/office/drawing/2014/main" id="{B995C957-CDB9-C342-8243-6F7D038511B1}"/>
              </a:ext>
            </a:extLst>
          </p:cNvPr>
          <p:cNvSpPr>
            <a:spLocks noGrp="1"/>
          </p:cNvSpPr>
          <p:nvPr>
            <p:ph type="body" sz="quarter" idx="12" hasCustomPrompt="1"/>
          </p:nvPr>
        </p:nvSpPr>
        <p:spPr>
          <a:xfrm>
            <a:off x="457199" y="5669605"/>
            <a:ext cx="7530353" cy="302390"/>
          </a:xfrm>
        </p:spPr>
        <p:txBody>
          <a:bodyPr bIns="0" anchor="b" anchorCtr="0"/>
          <a:lstStyle>
            <a:lvl1pPr marL="0" indent="0">
              <a:buNone/>
              <a:defRPr sz="1800" b="0">
                <a:solidFill>
                  <a:schemeClr val="bg1"/>
                </a:solidFill>
              </a:defRPr>
            </a:lvl1pPr>
          </a:lstStyle>
          <a:p>
            <a:pPr lvl="0"/>
            <a:r>
              <a:rPr lang="en-US" dirty="0"/>
              <a:t>Insert name, position, date, etc.</a:t>
            </a:r>
          </a:p>
        </p:txBody>
      </p:sp>
      <p:sp>
        <p:nvSpPr>
          <p:cNvPr id="14" name="Text Placeholder 13">
            <a:extLst>
              <a:ext uri="{FF2B5EF4-FFF2-40B4-BE49-F238E27FC236}">
                <a16:creationId xmlns:a16="http://schemas.microsoft.com/office/drawing/2014/main" id="{8F70F15D-372D-5B45-92B4-1B626E0FC12C}"/>
              </a:ext>
            </a:extLst>
          </p:cNvPr>
          <p:cNvSpPr>
            <a:spLocks noGrp="1"/>
          </p:cNvSpPr>
          <p:nvPr>
            <p:ph type="body" sz="quarter" idx="11" hasCustomPrompt="1"/>
          </p:nvPr>
        </p:nvSpPr>
        <p:spPr>
          <a:xfrm>
            <a:off x="457200" y="3622472"/>
            <a:ext cx="6159500" cy="419730"/>
          </a:xfrm>
        </p:spPr>
        <p:txBody>
          <a:bodyPr/>
          <a:lstStyle>
            <a:lvl1pPr marL="0" indent="0">
              <a:buNone/>
              <a:defRPr sz="2300">
                <a:ln>
                  <a:noFill/>
                </a:ln>
                <a:solidFill>
                  <a:schemeClr val="tx1">
                    <a:lumMod val="50000"/>
                    <a:lumOff val="50000"/>
                  </a:schemeClr>
                </a:solidFill>
              </a:defRPr>
            </a:lvl1pPr>
          </a:lstStyle>
          <a:p>
            <a:pPr lvl="0"/>
            <a:r>
              <a:rPr lang="en-US" dirty="0"/>
              <a:t>Insert subtitle</a:t>
            </a:r>
          </a:p>
        </p:txBody>
      </p:sp>
      <p:sp>
        <p:nvSpPr>
          <p:cNvPr id="2" name="Title 1">
            <a:extLst>
              <a:ext uri="{FF2B5EF4-FFF2-40B4-BE49-F238E27FC236}">
                <a16:creationId xmlns:a16="http://schemas.microsoft.com/office/drawing/2014/main" id="{D2D433A5-40D8-765F-186A-7974B5D2ECF0}"/>
              </a:ext>
            </a:extLst>
          </p:cNvPr>
          <p:cNvSpPr>
            <a:spLocks noGrp="1"/>
          </p:cNvSpPr>
          <p:nvPr>
            <p:ph type="title" hasCustomPrompt="1"/>
          </p:nvPr>
        </p:nvSpPr>
        <p:spPr>
          <a:xfrm>
            <a:off x="457199" y="1473574"/>
            <a:ext cx="9544051" cy="1555554"/>
          </a:xfrm>
        </p:spPr>
        <p:txBody>
          <a:bodyPr rIns="182880"/>
          <a:lstStyle>
            <a:lvl1pPr>
              <a:lnSpc>
                <a:spcPts val="5800"/>
              </a:lnSpc>
              <a:defRPr sz="5400" b="0" i="0">
                <a:solidFill>
                  <a:srgbClr val="495671"/>
                </a:solidFill>
                <a:latin typeface="Myriad Pro" panose="020B0503030403020204" pitchFamily="34" charset="0"/>
              </a:defRPr>
            </a:lvl1pPr>
          </a:lstStyle>
          <a:p>
            <a:r>
              <a:rPr lang="en-US" dirty="0"/>
              <a:t>Insert presentation slide title </a:t>
            </a:r>
            <a:br>
              <a:rPr lang="en-US" dirty="0"/>
            </a:br>
            <a:r>
              <a:rPr lang="en-US" dirty="0"/>
              <a:t>in title or sentence case</a:t>
            </a:r>
          </a:p>
        </p:txBody>
      </p:sp>
    </p:spTree>
    <p:extLst>
      <p:ext uri="{BB962C8B-B14F-4D97-AF65-F5344CB8AC3E}">
        <p14:creationId xmlns:p14="http://schemas.microsoft.com/office/powerpoint/2010/main" val="4126455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full photo">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931F11-BA28-51AE-00E1-05E235BC2585}"/>
              </a:ext>
            </a:extLst>
          </p:cNvPr>
          <p:cNvSpPr/>
          <p:nvPr userDrawn="1"/>
        </p:nvSpPr>
        <p:spPr>
          <a:xfrm>
            <a:off x="0" y="5338302"/>
            <a:ext cx="12192000" cy="1519698"/>
          </a:xfrm>
          <a:prstGeom prst="rect">
            <a:avLst/>
          </a:prstGeom>
          <a:solidFill>
            <a:srgbClr val="495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a:extLst>
              <a:ext uri="{FF2B5EF4-FFF2-40B4-BE49-F238E27FC236}">
                <a16:creationId xmlns:a16="http://schemas.microsoft.com/office/drawing/2014/main" id="{884B5D89-825D-B388-9298-01EEEEE6CF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67862" y="5572538"/>
            <a:ext cx="2394126" cy="1062482"/>
          </a:xfrm>
          <a:prstGeom prst="rect">
            <a:avLst/>
          </a:prstGeom>
        </p:spPr>
      </p:pic>
      <p:pic>
        <p:nvPicPr>
          <p:cNvPr id="24" name="Graphic 23">
            <a:extLst>
              <a:ext uri="{FF2B5EF4-FFF2-40B4-BE49-F238E27FC236}">
                <a16:creationId xmlns:a16="http://schemas.microsoft.com/office/drawing/2014/main" id="{2A7864A2-8129-E1FA-81AB-821D3D90BD0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300" t="4" r="2258" b="-4"/>
          <a:stretch/>
        </p:blipFill>
        <p:spPr>
          <a:xfrm>
            <a:off x="-2" y="5335421"/>
            <a:ext cx="12192001" cy="45719"/>
          </a:xfrm>
          <a:prstGeom prst="rect">
            <a:avLst/>
          </a:prstGeom>
        </p:spPr>
      </p:pic>
      <p:sp>
        <p:nvSpPr>
          <p:cNvPr id="6" name="Text Placeholder 5">
            <a:extLst>
              <a:ext uri="{FF2B5EF4-FFF2-40B4-BE49-F238E27FC236}">
                <a16:creationId xmlns:a16="http://schemas.microsoft.com/office/drawing/2014/main" id="{5139AF23-5245-341A-A207-DAA0C188742F}"/>
              </a:ext>
            </a:extLst>
          </p:cNvPr>
          <p:cNvSpPr>
            <a:spLocks noGrp="1"/>
          </p:cNvSpPr>
          <p:nvPr>
            <p:ph type="body" sz="quarter" idx="15" hasCustomPrompt="1"/>
          </p:nvPr>
        </p:nvSpPr>
        <p:spPr>
          <a:xfrm>
            <a:off x="0" y="-251293"/>
            <a:ext cx="4222750" cy="248914"/>
          </a:xfrm>
        </p:spPr>
        <p:txBody>
          <a:bodyPr/>
          <a:lstStyle>
            <a:lvl1pPr marL="0" indent="0">
              <a:buNone/>
              <a:defRPr sz="1100"/>
            </a:lvl1pPr>
            <a:lvl2pPr marL="457200" indent="0">
              <a:buNone/>
              <a:defRPr/>
            </a:lvl2pPr>
            <a:lvl3pPr marL="914400" indent="0">
              <a:buNone/>
              <a:defRPr/>
            </a:lvl3pPr>
            <a:lvl4pPr marL="1371600" indent="0">
              <a:buNone/>
              <a:defRPr/>
            </a:lvl4pPr>
            <a:lvl5pPr marL="1828800" indent="0">
              <a:buNone/>
              <a:defRPr/>
            </a:lvl5pPr>
          </a:lstStyle>
          <a:p>
            <a:r>
              <a:rPr lang="en-US" dirty="0"/>
              <a:t>Title Slide with image option</a:t>
            </a:r>
          </a:p>
        </p:txBody>
      </p:sp>
      <p:sp>
        <p:nvSpPr>
          <p:cNvPr id="26" name="Text Placeholder 10">
            <a:extLst>
              <a:ext uri="{FF2B5EF4-FFF2-40B4-BE49-F238E27FC236}">
                <a16:creationId xmlns:a16="http://schemas.microsoft.com/office/drawing/2014/main" id="{9DECC101-9B4A-7998-ECF1-3CA349B57F83}"/>
              </a:ext>
            </a:extLst>
          </p:cNvPr>
          <p:cNvSpPr>
            <a:spLocks noGrp="1"/>
          </p:cNvSpPr>
          <p:nvPr>
            <p:ph type="body" sz="quarter" idx="13"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5" name="Picture Placeholder 4">
            <a:extLst>
              <a:ext uri="{FF2B5EF4-FFF2-40B4-BE49-F238E27FC236}">
                <a16:creationId xmlns:a16="http://schemas.microsoft.com/office/drawing/2014/main" id="{DA8E1A4D-2D27-DB91-E23D-D784718F6DC8}"/>
              </a:ext>
            </a:extLst>
          </p:cNvPr>
          <p:cNvSpPr>
            <a:spLocks noGrp="1"/>
          </p:cNvSpPr>
          <p:nvPr>
            <p:ph type="pic" sz="quarter" idx="14"/>
          </p:nvPr>
        </p:nvSpPr>
        <p:spPr>
          <a:xfrm>
            <a:off x="5543550" y="9525"/>
            <a:ext cx="6648450" cy="5326063"/>
          </a:xfrm>
        </p:spPr>
        <p:txBody>
          <a:bodyPr/>
          <a:lstStyle/>
          <a:p>
            <a:endParaRPr lang="en-US" dirty="0"/>
          </a:p>
        </p:txBody>
      </p:sp>
      <p:sp>
        <p:nvSpPr>
          <p:cNvPr id="17" name="Text Placeholder 16">
            <a:extLst>
              <a:ext uri="{FF2B5EF4-FFF2-40B4-BE49-F238E27FC236}">
                <a16:creationId xmlns:a16="http://schemas.microsoft.com/office/drawing/2014/main" id="{B995C957-CDB9-C342-8243-6F7D038511B1}"/>
              </a:ext>
            </a:extLst>
          </p:cNvPr>
          <p:cNvSpPr>
            <a:spLocks noGrp="1"/>
          </p:cNvSpPr>
          <p:nvPr>
            <p:ph type="body" sz="quarter" idx="12" hasCustomPrompt="1"/>
          </p:nvPr>
        </p:nvSpPr>
        <p:spPr>
          <a:xfrm>
            <a:off x="457199" y="5669605"/>
            <a:ext cx="7530353" cy="302390"/>
          </a:xfrm>
        </p:spPr>
        <p:txBody>
          <a:bodyPr bIns="0" anchor="b" anchorCtr="0"/>
          <a:lstStyle>
            <a:lvl1pPr marL="0" indent="0">
              <a:buNone/>
              <a:defRPr sz="1800" b="0">
                <a:solidFill>
                  <a:schemeClr val="bg1"/>
                </a:solidFill>
              </a:defRPr>
            </a:lvl1pPr>
          </a:lstStyle>
          <a:p>
            <a:pPr lvl="0"/>
            <a:r>
              <a:rPr lang="en-US" dirty="0"/>
              <a:t>Insert name, position, date, etc.</a:t>
            </a:r>
          </a:p>
        </p:txBody>
      </p:sp>
      <p:sp>
        <p:nvSpPr>
          <p:cNvPr id="14" name="Text Placeholder 13">
            <a:extLst>
              <a:ext uri="{FF2B5EF4-FFF2-40B4-BE49-F238E27FC236}">
                <a16:creationId xmlns:a16="http://schemas.microsoft.com/office/drawing/2014/main" id="{8F70F15D-372D-5B45-92B4-1B626E0FC12C}"/>
              </a:ext>
            </a:extLst>
          </p:cNvPr>
          <p:cNvSpPr>
            <a:spLocks noGrp="1"/>
          </p:cNvSpPr>
          <p:nvPr>
            <p:ph type="body" sz="quarter" idx="11" hasCustomPrompt="1"/>
          </p:nvPr>
        </p:nvSpPr>
        <p:spPr>
          <a:xfrm>
            <a:off x="457200" y="3745269"/>
            <a:ext cx="4672014" cy="419730"/>
          </a:xfrm>
        </p:spPr>
        <p:txBody>
          <a:bodyPr/>
          <a:lstStyle>
            <a:lvl1pPr marL="0" indent="0">
              <a:buNone/>
              <a:defRPr sz="2300">
                <a:ln>
                  <a:noFill/>
                </a:ln>
                <a:solidFill>
                  <a:schemeClr val="tx1">
                    <a:lumMod val="50000"/>
                    <a:lumOff val="50000"/>
                  </a:schemeClr>
                </a:solidFill>
              </a:defRPr>
            </a:lvl1pPr>
          </a:lstStyle>
          <a:p>
            <a:pPr lvl="0"/>
            <a:r>
              <a:rPr lang="en-US" dirty="0"/>
              <a:t>Insert subtitle</a:t>
            </a:r>
          </a:p>
        </p:txBody>
      </p:sp>
      <p:sp>
        <p:nvSpPr>
          <p:cNvPr id="2" name="Title 1">
            <a:extLst>
              <a:ext uri="{FF2B5EF4-FFF2-40B4-BE49-F238E27FC236}">
                <a16:creationId xmlns:a16="http://schemas.microsoft.com/office/drawing/2014/main" id="{D2D433A5-40D8-765F-186A-7974B5D2ECF0}"/>
              </a:ext>
            </a:extLst>
          </p:cNvPr>
          <p:cNvSpPr>
            <a:spLocks noGrp="1"/>
          </p:cNvSpPr>
          <p:nvPr>
            <p:ph type="title" hasCustomPrompt="1"/>
          </p:nvPr>
        </p:nvSpPr>
        <p:spPr>
          <a:xfrm>
            <a:off x="457200" y="439416"/>
            <a:ext cx="4672014" cy="3020058"/>
          </a:xfrm>
        </p:spPr>
        <p:txBody>
          <a:bodyPr rIns="182880"/>
          <a:lstStyle>
            <a:lvl1pPr>
              <a:lnSpc>
                <a:spcPts val="5800"/>
              </a:lnSpc>
              <a:defRPr sz="4800" b="0" i="0">
                <a:solidFill>
                  <a:srgbClr val="495671"/>
                </a:solidFill>
                <a:latin typeface="Myriad Pro" panose="020B0503030403020204" pitchFamily="34" charset="0"/>
              </a:defRPr>
            </a:lvl1pPr>
          </a:lstStyle>
          <a:p>
            <a:r>
              <a:rPr lang="en-US" dirty="0"/>
              <a:t>Insert presentation slide title in title or sentence case</a:t>
            </a:r>
          </a:p>
        </p:txBody>
      </p:sp>
    </p:spTree>
    <p:extLst>
      <p:ext uri="{BB962C8B-B14F-4D97-AF65-F5344CB8AC3E}">
        <p14:creationId xmlns:p14="http://schemas.microsoft.com/office/powerpoint/2010/main" val="2760278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Text Placeholder 10">
            <a:extLst>
              <a:ext uri="{FF2B5EF4-FFF2-40B4-BE49-F238E27FC236}">
                <a16:creationId xmlns:a16="http://schemas.microsoft.com/office/drawing/2014/main" id="{4BD138CA-E234-BC39-AD9D-83B22F32121C}"/>
              </a:ext>
            </a:extLst>
          </p:cNvPr>
          <p:cNvSpPr>
            <a:spLocks noGrp="1"/>
          </p:cNvSpPr>
          <p:nvPr>
            <p:ph type="body" sz="quarter" idx="14"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13" name="Content Placeholder 12">
            <a:extLst>
              <a:ext uri="{FF2B5EF4-FFF2-40B4-BE49-F238E27FC236}">
                <a16:creationId xmlns:a16="http://schemas.microsoft.com/office/drawing/2014/main" id="{FBF89922-C537-DD47-8C8F-19B8B33E65F8}"/>
              </a:ext>
            </a:extLst>
          </p:cNvPr>
          <p:cNvSpPr>
            <a:spLocks noGrp="1"/>
          </p:cNvSpPr>
          <p:nvPr>
            <p:ph sz="quarter" idx="13" hasCustomPrompt="1"/>
          </p:nvPr>
        </p:nvSpPr>
        <p:spPr>
          <a:xfrm>
            <a:off x="471744" y="1603512"/>
            <a:ext cx="11270489" cy="4648200"/>
          </a:xfrm>
        </p:spPr>
        <p:txBody>
          <a:bodyPr/>
          <a:lstStyle/>
          <a:p>
            <a:pPr lvl="0"/>
            <a:r>
              <a:rPr lang="en-US" dirty="0"/>
              <a:t>Bulleted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AA09C912-DA39-C43F-E92C-94BCEDADC48C}"/>
              </a:ext>
            </a:extLst>
          </p:cNvPr>
          <p:cNvSpPr>
            <a:spLocks noGrp="1"/>
          </p:cNvSpPr>
          <p:nvPr>
            <p:ph type="title" hasCustomPrompt="1"/>
          </p:nvPr>
        </p:nvSpPr>
        <p:spPr>
          <a:xfrm>
            <a:off x="457200" y="557784"/>
            <a:ext cx="9110662" cy="600164"/>
          </a:xfrm>
        </p:spPr>
        <p:txBody>
          <a:bodyPr anchor="ctr" anchorCtr="0"/>
          <a:lstStyle>
            <a:lvl1pPr>
              <a:defRPr sz="4400" b="0" i="0" baseline="0">
                <a:latin typeface="Myriad Pro" panose="020B0503030403020204" pitchFamily="34" charset="0"/>
              </a:defRPr>
            </a:lvl1pPr>
          </a:lstStyle>
          <a:p>
            <a:r>
              <a:rPr lang="en-US" dirty="0"/>
              <a:t>Insert slide title</a:t>
            </a:r>
          </a:p>
        </p:txBody>
      </p:sp>
    </p:spTree>
    <p:extLst>
      <p:ext uri="{BB962C8B-B14F-4D97-AF65-F5344CB8AC3E}">
        <p14:creationId xmlns:p14="http://schemas.microsoft.com/office/powerpoint/2010/main" val="3626283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ext Placeholder 10">
            <a:extLst>
              <a:ext uri="{FF2B5EF4-FFF2-40B4-BE49-F238E27FC236}">
                <a16:creationId xmlns:a16="http://schemas.microsoft.com/office/drawing/2014/main" id="{7478FDF4-5FCC-8117-B254-30DA97A51597}"/>
              </a:ext>
            </a:extLst>
          </p:cNvPr>
          <p:cNvSpPr>
            <a:spLocks noGrp="1"/>
          </p:cNvSpPr>
          <p:nvPr>
            <p:ph type="body" sz="quarter" idx="16"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6" name="Content Placeholder 12">
            <a:extLst>
              <a:ext uri="{FF2B5EF4-FFF2-40B4-BE49-F238E27FC236}">
                <a16:creationId xmlns:a16="http://schemas.microsoft.com/office/drawing/2014/main" id="{E2D8BB4A-46A4-1343-BA88-41D2E1C0EA50}"/>
              </a:ext>
            </a:extLst>
          </p:cNvPr>
          <p:cNvSpPr>
            <a:spLocks noGrp="1"/>
          </p:cNvSpPr>
          <p:nvPr>
            <p:ph sz="quarter" idx="15" hasCustomPrompt="1"/>
          </p:nvPr>
        </p:nvSpPr>
        <p:spPr>
          <a:xfrm>
            <a:off x="6334693" y="1600200"/>
            <a:ext cx="5519054" cy="4406900"/>
          </a:xfrm>
        </p:spPr>
        <p:txBody>
          <a:bodyPr/>
          <a:lstStyle>
            <a:lvl1pPr>
              <a:lnSpc>
                <a:spcPct val="100000"/>
              </a:lnSpc>
              <a:defRPr sz="2400"/>
            </a:lvl1pPr>
            <a:lvl2pPr>
              <a:lnSpc>
                <a:spcPct val="100000"/>
              </a:lnSpc>
              <a:defRPr sz="2000"/>
            </a:lvl2pPr>
            <a:lvl3pPr>
              <a:lnSpc>
                <a:spcPct val="100000"/>
              </a:lnSpc>
              <a:defRPr sz="1800"/>
            </a:lvl3pPr>
            <a:lvl4pPr>
              <a:lnSpc>
                <a:spcPct val="100000"/>
              </a:lnSpc>
              <a:defRPr sz="1600"/>
            </a:lvl4pPr>
            <a:lvl5pPr>
              <a:lnSpc>
                <a:spcPct val="100000"/>
              </a:lnSpc>
              <a:defRPr sz="1600"/>
            </a:lvl5pPr>
          </a:lstStyle>
          <a:p>
            <a:pPr lvl="0"/>
            <a:r>
              <a:rPr lang="en-US" dirty="0"/>
              <a:t>Bulleted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a:extLst>
              <a:ext uri="{FF2B5EF4-FFF2-40B4-BE49-F238E27FC236}">
                <a16:creationId xmlns:a16="http://schemas.microsoft.com/office/drawing/2014/main" id="{FBF89922-C537-DD47-8C8F-19B8B33E65F8}"/>
              </a:ext>
            </a:extLst>
          </p:cNvPr>
          <p:cNvSpPr>
            <a:spLocks noGrp="1"/>
          </p:cNvSpPr>
          <p:nvPr>
            <p:ph sz="quarter" idx="13" hasCustomPrompt="1"/>
          </p:nvPr>
        </p:nvSpPr>
        <p:spPr>
          <a:xfrm>
            <a:off x="457201" y="1600200"/>
            <a:ext cx="5519056" cy="4406900"/>
          </a:xfrm>
        </p:spPr>
        <p:txBody>
          <a:bodyPr/>
          <a:lstStyle>
            <a:lvl1pPr>
              <a:defRPr sz="2400"/>
            </a:lvl1pPr>
            <a:lvl2pPr>
              <a:lnSpc>
                <a:spcPct val="100000"/>
              </a:lnSpc>
              <a:defRPr sz="2000"/>
            </a:lvl2pPr>
            <a:lvl3pPr>
              <a:lnSpc>
                <a:spcPct val="100000"/>
              </a:lnSpc>
              <a:defRPr sz="1800"/>
            </a:lvl3pPr>
            <a:lvl4pPr>
              <a:lnSpc>
                <a:spcPct val="100000"/>
              </a:lnSpc>
              <a:defRPr sz="1600"/>
            </a:lvl4pPr>
            <a:lvl5pPr>
              <a:lnSpc>
                <a:spcPct val="100000"/>
              </a:lnSpc>
              <a:defRPr sz="1600"/>
            </a:lvl5pPr>
          </a:lstStyle>
          <a:p>
            <a:pPr lvl="0"/>
            <a:r>
              <a:rPr lang="en-US" dirty="0"/>
              <a:t>Bulleted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a:extLst>
              <a:ext uri="{FF2B5EF4-FFF2-40B4-BE49-F238E27FC236}">
                <a16:creationId xmlns:a16="http://schemas.microsoft.com/office/drawing/2014/main" id="{E16BF6BF-3967-3325-89F6-EA3A966661E7}"/>
              </a:ext>
            </a:extLst>
          </p:cNvPr>
          <p:cNvSpPr>
            <a:spLocks noGrp="1"/>
          </p:cNvSpPr>
          <p:nvPr>
            <p:ph type="title" hasCustomPrompt="1"/>
          </p:nvPr>
        </p:nvSpPr>
        <p:spPr>
          <a:xfrm>
            <a:off x="457200" y="557784"/>
            <a:ext cx="9110662" cy="600164"/>
          </a:xfrm>
        </p:spPr>
        <p:txBody>
          <a:bodyPr anchor="ctr" anchorCtr="0"/>
          <a:lstStyle>
            <a:lvl1pPr>
              <a:lnSpc>
                <a:spcPts val="4000"/>
              </a:lnSpc>
              <a:defRPr/>
            </a:lvl1pPr>
          </a:lstStyle>
          <a:p>
            <a:r>
              <a:rPr lang="en-US" dirty="0"/>
              <a:t>Insert slide title</a:t>
            </a:r>
          </a:p>
        </p:txBody>
      </p:sp>
    </p:spTree>
    <p:extLst>
      <p:ext uri="{BB962C8B-B14F-4D97-AF65-F5344CB8AC3E}">
        <p14:creationId xmlns:p14="http://schemas.microsoft.com/office/powerpoint/2010/main" val="3635788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 left and content on right">
    <p:spTree>
      <p:nvGrpSpPr>
        <p:cNvPr id="1" name=""/>
        <p:cNvGrpSpPr/>
        <p:nvPr/>
      </p:nvGrpSpPr>
      <p:grpSpPr>
        <a:xfrm>
          <a:off x="0" y="0"/>
          <a:ext cx="0" cy="0"/>
          <a:chOff x="0" y="0"/>
          <a:chExt cx="0" cy="0"/>
        </a:xfrm>
      </p:grpSpPr>
      <p:sp>
        <p:nvSpPr>
          <p:cNvPr id="8" name="Text Placeholder 10">
            <a:extLst>
              <a:ext uri="{FF2B5EF4-FFF2-40B4-BE49-F238E27FC236}">
                <a16:creationId xmlns:a16="http://schemas.microsoft.com/office/drawing/2014/main" id="{7478FDF4-5FCC-8117-B254-30DA97A51597}"/>
              </a:ext>
            </a:extLst>
          </p:cNvPr>
          <p:cNvSpPr>
            <a:spLocks noGrp="1"/>
          </p:cNvSpPr>
          <p:nvPr>
            <p:ph type="body" sz="quarter" idx="16"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3" name="Picture Placeholder 2">
            <a:extLst>
              <a:ext uri="{FF2B5EF4-FFF2-40B4-BE49-F238E27FC236}">
                <a16:creationId xmlns:a16="http://schemas.microsoft.com/office/drawing/2014/main" id="{BC2ABAC8-115F-328F-736D-3401983E1E29}"/>
              </a:ext>
            </a:extLst>
          </p:cNvPr>
          <p:cNvSpPr>
            <a:spLocks noGrp="1"/>
          </p:cNvSpPr>
          <p:nvPr>
            <p:ph type="pic" sz="quarter" idx="17"/>
          </p:nvPr>
        </p:nvSpPr>
        <p:spPr>
          <a:xfrm>
            <a:off x="6425852" y="-1"/>
            <a:ext cx="5766147" cy="6426201"/>
          </a:xfrm>
        </p:spPr>
        <p:txBody>
          <a:bodyPr/>
          <a:lstStyle/>
          <a:p>
            <a:endParaRPr lang="en-US" dirty="0"/>
          </a:p>
        </p:txBody>
      </p:sp>
      <p:sp>
        <p:nvSpPr>
          <p:cNvPr id="6" name="Content Placeholder 12">
            <a:extLst>
              <a:ext uri="{FF2B5EF4-FFF2-40B4-BE49-F238E27FC236}">
                <a16:creationId xmlns:a16="http://schemas.microsoft.com/office/drawing/2014/main" id="{E2D8BB4A-46A4-1343-BA88-41D2E1C0EA50}"/>
              </a:ext>
            </a:extLst>
          </p:cNvPr>
          <p:cNvSpPr>
            <a:spLocks noGrp="1"/>
          </p:cNvSpPr>
          <p:nvPr>
            <p:ph sz="quarter" idx="15" hasCustomPrompt="1"/>
          </p:nvPr>
        </p:nvSpPr>
        <p:spPr>
          <a:xfrm>
            <a:off x="457200" y="1600200"/>
            <a:ext cx="5638800" cy="452194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Bulleted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a:extLst>
              <a:ext uri="{FF2B5EF4-FFF2-40B4-BE49-F238E27FC236}">
                <a16:creationId xmlns:a16="http://schemas.microsoft.com/office/drawing/2014/main" id="{E16BF6BF-3967-3325-89F6-EA3A966661E7}"/>
              </a:ext>
            </a:extLst>
          </p:cNvPr>
          <p:cNvSpPr>
            <a:spLocks noGrp="1"/>
          </p:cNvSpPr>
          <p:nvPr>
            <p:ph type="title" hasCustomPrompt="1"/>
          </p:nvPr>
        </p:nvSpPr>
        <p:spPr>
          <a:xfrm>
            <a:off x="457200" y="735855"/>
            <a:ext cx="5638800" cy="600164"/>
          </a:xfrm>
        </p:spPr>
        <p:txBody>
          <a:bodyPr anchor="b" anchorCtr="0"/>
          <a:lstStyle/>
          <a:p>
            <a:r>
              <a:rPr lang="en-US" dirty="0"/>
              <a:t>Insert slide title</a:t>
            </a:r>
          </a:p>
        </p:txBody>
      </p:sp>
    </p:spTree>
    <p:extLst>
      <p:ext uri="{BB962C8B-B14F-4D97-AF65-F5344CB8AC3E}">
        <p14:creationId xmlns:p14="http://schemas.microsoft.com/office/powerpoint/2010/main" val="3089966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A7DE33C8-65B6-0C3F-8F1C-1050C891EEA9}"/>
              </a:ext>
            </a:extLst>
          </p:cNvPr>
          <p:cNvSpPr>
            <a:spLocks noGrp="1"/>
          </p:cNvSpPr>
          <p:nvPr>
            <p:ph type="body" sz="quarter" idx="14"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7" name="Chart Placeholder 11">
            <a:extLst>
              <a:ext uri="{FF2B5EF4-FFF2-40B4-BE49-F238E27FC236}">
                <a16:creationId xmlns:a16="http://schemas.microsoft.com/office/drawing/2014/main" id="{8C3425D9-7762-3940-B7DA-B13EC3E058BA}"/>
              </a:ext>
            </a:extLst>
          </p:cNvPr>
          <p:cNvSpPr>
            <a:spLocks noGrp="1"/>
          </p:cNvSpPr>
          <p:nvPr>
            <p:ph type="chart" sz="quarter" idx="13" hasCustomPrompt="1"/>
          </p:nvPr>
        </p:nvSpPr>
        <p:spPr>
          <a:xfrm>
            <a:off x="1524000" y="1523999"/>
            <a:ext cx="9829800" cy="4631865"/>
          </a:xfrm>
        </p:spPr>
        <p:txBody>
          <a:bodyPr/>
          <a:lstStyle>
            <a:lvl1pPr marL="0" indent="0">
              <a:buNone/>
              <a:defRPr sz="1800"/>
            </a:lvl1pPr>
          </a:lstStyle>
          <a:p>
            <a:r>
              <a:rPr lang="en-US" dirty="0"/>
              <a:t>chart</a:t>
            </a:r>
          </a:p>
        </p:txBody>
      </p:sp>
      <p:sp>
        <p:nvSpPr>
          <p:cNvPr id="2" name="Title 1">
            <a:extLst>
              <a:ext uri="{FF2B5EF4-FFF2-40B4-BE49-F238E27FC236}">
                <a16:creationId xmlns:a16="http://schemas.microsoft.com/office/drawing/2014/main" id="{FC1AAF2C-4298-9A55-04D1-8443215680E7}"/>
              </a:ext>
            </a:extLst>
          </p:cNvPr>
          <p:cNvSpPr>
            <a:spLocks noGrp="1"/>
          </p:cNvSpPr>
          <p:nvPr>
            <p:ph type="title" hasCustomPrompt="1"/>
          </p:nvPr>
        </p:nvSpPr>
        <p:spPr>
          <a:xfrm>
            <a:off x="457200" y="557784"/>
            <a:ext cx="9110662" cy="600164"/>
          </a:xfrm>
        </p:spPr>
        <p:txBody>
          <a:bodyPr anchor="ctr" anchorCtr="0"/>
          <a:lstStyle/>
          <a:p>
            <a:r>
              <a:rPr lang="en-US" dirty="0"/>
              <a:t>Insert slide title</a:t>
            </a:r>
          </a:p>
        </p:txBody>
      </p:sp>
    </p:spTree>
    <p:extLst>
      <p:ext uri="{BB962C8B-B14F-4D97-AF65-F5344CB8AC3E}">
        <p14:creationId xmlns:p14="http://schemas.microsoft.com/office/powerpoint/2010/main" val="1902739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harts">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7A73CFC7-9533-DCA0-669F-9AD589781DFC}"/>
              </a:ext>
            </a:extLst>
          </p:cNvPr>
          <p:cNvSpPr>
            <a:spLocks noGrp="1"/>
          </p:cNvSpPr>
          <p:nvPr>
            <p:ph type="body" sz="quarter" idx="15"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13" name="Chart Placeholder 11">
            <a:extLst>
              <a:ext uri="{FF2B5EF4-FFF2-40B4-BE49-F238E27FC236}">
                <a16:creationId xmlns:a16="http://schemas.microsoft.com/office/drawing/2014/main" id="{8C45FAA6-1118-A24C-9C61-949F410E7C81}"/>
              </a:ext>
            </a:extLst>
          </p:cNvPr>
          <p:cNvSpPr>
            <a:spLocks noGrp="1"/>
          </p:cNvSpPr>
          <p:nvPr>
            <p:ph type="chart" sz="quarter" idx="14" hasCustomPrompt="1"/>
          </p:nvPr>
        </p:nvSpPr>
        <p:spPr>
          <a:xfrm>
            <a:off x="6438900" y="1530523"/>
            <a:ext cx="4914900" cy="4641677"/>
          </a:xfrm>
        </p:spPr>
        <p:txBody>
          <a:bodyPr/>
          <a:lstStyle>
            <a:lvl1pPr marL="0" indent="0">
              <a:buNone/>
              <a:defRPr sz="1800"/>
            </a:lvl1pPr>
          </a:lstStyle>
          <a:p>
            <a:r>
              <a:rPr lang="en-US" dirty="0"/>
              <a:t>chart</a:t>
            </a:r>
          </a:p>
        </p:txBody>
      </p:sp>
      <p:sp>
        <p:nvSpPr>
          <p:cNvPr id="12" name="Chart Placeholder 11">
            <a:extLst>
              <a:ext uri="{FF2B5EF4-FFF2-40B4-BE49-F238E27FC236}">
                <a16:creationId xmlns:a16="http://schemas.microsoft.com/office/drawing/2014/main" id="{C8FC7EDF-D625-4640-AF06-22ADBDC8C8CE}"/>
              </a:ext>
            </a:extLst>
          </p:cNvPr>
          <p:cNvSpPr>
            <a:spLocks noGrp="1"/>
          </p:cNvSpPr>
          <p:nvPr>
            <p:ph type="chart" sz="quarter" idx="13" hasCustomPrompt="1"/>
          </p:nvPr>
        </p:nvSpPr>
        <p:spPr>
          <a:xfrm>
            <a:off x="457200" y="1530523"/>
            <a:ext cx="5429250" cy="4641677"/>
          </a:xfrm>
        </p:spPr>
        <p:txBody>
          <a:bodyPr/>
          <a:lstStyle>
            <a:lvl1pPr marL="0" indent="0">
              <a:buNone/>
              <a:defRPr sz="1800"/>
            </a:lvl1pPr>
          </a:lstStyle>
          <a:p>
            <a:r>
              <a:rPr lang="en-US" dirty="0"/>
              <a:t>chart</a:t>
            </a:r>
          </a:p>
        </p:txBody>
      </p:sp>
      <p:sp>
        <p:nvSpPr>
          <p:cNvPr id="2" name="Title 1">
            <a:extLst>
              <a:ext uri="{FF2B5EF4-FFF2-40B4-BE49-F238E27FC236}">
                <a16:creationId xmlns:a16="http://schemas.microsoft.com/office/drawing/2014/main" id="{4405A2C7-3EC5-D5A3-12BA-8DCBE9553459}"/>
              </a:ext>
            </a:extLst>
          </p:cNvPr>
          <p:cNvSpPr>
            <a:spLocks noGrp="1"/>
          </p:cNvSpPr>
          <p:nvPr>
            <p:ph type="title" hasCustomPrompt="1"/>
          </p:nvPr>
        </p:nvSpPr>
        <p:spPr>
          <a:xfrm>
            <a:off x="457200" y="557784"/>
            <a:ext cx="9110662" cy="600164"/>
          </a:xfrm>
        </p:spPr>
        <p:txBody>
          <a:bodyPr anchor="ctr" anchorCtr="0"/>
          <a:lstStyle/>
          <a:p>
            <a:r>
              <a:rPr lang="en-US" dirty="0"/>
              <a:t>Insert slide title</a:t>
            </a:r>
          </a:p>
        </p:txBody>
      </p:sp>
    </p:spTree>
    <p:extLst>
      <p:ext uri="{BB962C8B-B14F-4D97-AF65-F5344CB8AC3E}">
        <p14:creationId xmlns:p14="http://schemas.microsoft.com/office/powerpoint/2010/main" val="1686395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10">
            <a:extLst>
              <a:ext uri="{FF2B5EF4-FFF2-40B4-BE49-F238E27FC236}">
                <a16:creationId xmlns:a16="http://schemas.microsoft.com/office/drawing/2014/main" id="{6B8AE5A9-6B53-CA3A-650D-3197139E4C74}"/>
              </a:ext>
            </a:extLst>
          </p:cNvPr>
          <p:cNvSpPr>
            <a:spLocks noGrp="1"/>
          </p:cNvSpPr>
          <p:nvPr>
            <p:ph type="body" sz="quarter" idx="14"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7" name="Table Placeholder 6">
            <a:extLst>
              <a:ext uri="{FF2B5EF4-FFF2-40B4-BE49-F238E27FC236}">
                <a16:creationId xmlns:a16="http://schemas.microsoft.com/office/drawing/2014/main" id="{200CC43E-DAB5-6045-A3FC-1B1B9D6DFFEB}"/>
              </a:ext>
            </a:extLst>
          </p:cNvPr>
          <p:cNvSpPr>
            <a:spLocks noGrp="1"/>
          </p:cNvSpPr>
          <p:nvPr>
            <p:ph type="tbl" sz="quarter" idx="13" hasCustomPrompt="1"/>
          </p:nvPr>
        </p:nvSpPr>
        <p:spPr>
          <a:xfrm>
            <a:off x="1524000" y="1524000"/>
            <a:ext cx="9829800" cy="341632"/>
          </a:xfrm>
        </p:spPr>
        <p:txBody>
          <a:bodyPr/>
          <a:lstStyle>
            <a:lvl1pPr marL="0" indent="0">
              <a:buNone/>
              <a:defRPr sz="1800">
                <a:solidFill>
                  <a:schemeClr val="tx1">
                    <a:lumMod val="50000"/>
                    <a:lumOff val="50000"/>
                  </a:schemeClr>
                </a:solidFill>
              </a:defRPr>
            </a:lvl1pPr>
          </a:lstStyle>
          <a:p>
            <a:r>
              <a:rPr lang="en-US" dirty="0"/>
              <a:t>Insert table	</a:t>
            </a:r>
          </a:p>
        </p:txBody>
      </p:sp>
      <p:sp>
        <p:nvSpPr>
          <p:cNvPr id="2" name="Title 1">
            <a:extLst>
              <a:ext uri="{FF2B5EF4-FFF2-40B4-BE49-F238E27FC236}">
                <a16:creationId xmlns:a16="http://schemas.microsoft.com/office/drawing/2014/main" id="{A2554A51-AF55-82C8-CC77-E9F1BFE79DFF}"/>
              </a:ext>
            </a:extLst>
          </p:cNvPr>
          <p:cNvSpPr>
            <a:spLocks noGrp="1"/>
          </p:cNvSpPr>
          <p:nvPr>
            <p:ph type="title" hasCustomPrompt="1"/>
          </p:nvPr>
        </p:nvSpPr>
        <p:spPr>
          <a:xfrm>
            <a:off x="457200" y="557784"/>
            <a:ext cx="9110662" cy="600164"/>
          </a:xfrm>
        </p:spPr>
        <p:txBody>
          <a:bodyPr anchor="ctr" anchorCtr="0"/>
          <a:lstStyle/>
          <a:p>
            <a:r>
              <a:rPr lang="en-US" dirty="0"/>
              <a:t>Insert slide title</a:t>
            </a:r>
          </a:p>
        </p:txBody>
      </p:sp>
    </p:spTree>
    <p:extLst>
      <p:ext uri="{BB962C8B-B14F-4D97-AF65-F5344CB8AC3E}">
        <p14:creationId xmlns:p14="http://schemas.microsoft.com/office/powerpoint/2010/main" val="2119245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b="2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926B1D-2681-6D40-953A-D41E624A2187}"/>
              </a:ext>
              <a:ext uri="{C183D7F6-B498-43B3-948B-1728B52AA6E4}">
                <adec:decorative xmlns:adec="http://schemas.microsoft.com/office/drawing/2017/decorative" val="1"/>
              </a:ext>
            </a:extLst>
          </p:cNvPr>
          <p:cNvSpPr/>
          <p:nvPr userDrawn="1"/>
        </p:nvSpPr>
        <p:spPr>
          <a:xfrm>
            <a:off x="469900" y="1364973"/>
            <a:ext cx="10210800" cy="4049238"/>
          </a:xfrm>
          <a:prstGeom prst="rect">
            <a:avLst/>
          </a:prstGeom>
          <a:solidFill>
            <a:srgbClr val="49567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0">
            <a:extLst>
              <a:ext uri="{FF2B5EF4-FFF2-40B4-BE49-F238E27FC236}">
                <a16:creationId xmlns:a16="http://schemas.microsoft.com/office/drawing/2014/main" id="{76CB5E85-F06B-DA8C-6AA6-FDE42346678C}"/>
              </a:ext>
            </a:extLst>
          </p:cNvPr>
          <p:cNvSpPr>
            <a:spLocks noGrp="1"/>
          </p:cNvSpPr>
          <p:nvPr>
            <p:ph type="body" sz="quarter" idx="13"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2" name="Title 1">
            <a:extLst>
              <a:ext uri="{FF2B5EF4-FFF2-40B4-BE49-F238E27FC236}">
                <a16:creationId xmlns:a16="http://schemas.microsoft.com/office/drawing/2014/main" id="{FB9EA691-84B6-B0D4-5618-FF0BF2D33EE7}"/>
              </a:ext>
            </a:extLst>
          </p:cNvPr>
          <p:cNvSpPr>
            <a:spLocks noGrp="1"/>
          </p:cNvSpPr>
          <p:nvPr>
            <p:ph type="title" hasCustomPrompt="1"/>
          </p:nvPr>
        </p:nvSpPr>
        <p:spPr>
          <a:xfrm>
            <a:off x="965200" y="3049088"/>
            <a:ext cx="9080500" cy="759823"/>
          </a:xfrm>
        </p:spPr>
        <p:txBody>
          <a:bodyPr anchor="ctr" anchorCtr="0"/>
          <a:lstStyle>
            <a:lvl1pPr>
              <a:lnSpc>
                <a:spcPts val="5500"/>
              </a:lnSpc>
              <a:defRPr sz="4800" b="0" i="0">
                <a:solidFill>
                  <a:schemeClr val="bg1"/>
                </a:solidFill>
                <a:latin typeface="Myriad Pro" panose="020B0503030403020204" pitchFamily="34" charset="0"/>
              </a:defRPr>
            </a:lvl1pPr>
          </a:lstStyle>
          <a:p>
            <a:r>
              <a:rPr lang="en-US" dirty="0"/>
              <a:t>Insert section header slide title</a:t>
            </a:r>
          </a:p>
        </p:txBody>
      </p:sp>
    </p:spTree>
    <p:extLst>
      <p:ext uri="{BB962C8B-B14F-4D97-AF65-F5344CB8AC3E}">
        <p14:creationId xmlns:p14="http://schemas.microsoft.com/office/powerpoint/2010/main" val="289242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ED01BE2C-F2D8-D2CA-DF08-AB6E1D4548F6}"/>
              </a:ext>
            </a:extLst>
          </p:cNvPr>
          <p:cNvSpPr>
            <a:spLocks noGrp="1"/>
          </p:cNvSpPr>
          <p:nvPr>
            <p:ph type="body" sz="quarter" idx="13"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4" name="Title 1">
            <a:extLst>
              <a:ext uri="{FF2B5EF4-FFF2-40B4-BE49-F238E27FC236}">
                <a16:creationId xmlns:a16="http://schemas.microsoft.com/office/drawing/2014/main" id="{8FFA6442-9A1E-149D-CD3D-B7F01ED3B315}"/>
              </a:ext>
            </a:extLst>
          </p:cNvPr>
          <p:cNvSpPr>
            <a:spLocks noGrp="1"/>
          </p:cNvSpPr>
          <p:nvPr>
            <p:ph type="title" hasCustomPrompt="1"/>
          </p:nvPr>
        </p:nvSpPr>
        <p:spPr>
          <a:xfrm>
            <a:off x="457200" y="557784"/>
            <a:ext cx="9110662" cy="600164"/>
          </a:xfrm>
        </p:spPr>
        <p:txBody>
          <a:bodyPr anchor="ctr" anchorCtr="0"/>
          <a:lstStyle/>
          <a:p>
            <a:r>
              <a:rPr lang="en-US" dirty="0"/>
              <a:t>Insert slide title</a:t>
            </a:r>
          </a:p>
        </p:txBody>
      </p:sp>
    </p:spTree>
    <p:extLst>
      <p:ext uri="{BB962C8B-B14F-4D97-AF65-F5344CB8AC3E}">
        <p14:creationId xmlns:p14="http://schemas.microsoft.com/office/powerpoint/2010/main" val="142036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4860-8176-2E99-5B0D-1715847B7C27}"/>
              </a:ext>
            </a:extLst>
          </p:cNvPr>
          <p:cNvSpPr>
            <a:spLocks noGrp="1"/>
          </p:cNvSpPr>
          <p:nvPr>
            <p:ph type="title" hasCustomPrompt="1"/>
          </p:nvPr>
        </p:nvSpPr>
        <p:spPr>
          <a:xfrm>
            <a:off x="0" y="-212366"/>
            <a:ext cx="10896600" cy="212366"/>
          </a:xfrm>
        </p:spPr>
        <p:txBody>
          <a:bodyPr/>
          <a:lstStyle>
            <a:lvl1pPr>
              <a:defRPr sz="1200" b="0" i="0">
                <a:latin typeface="Arial" panose="020B0604020202020204" pitchFamily="34" charset="0"/>
                <a:cs typeface="Arial" panose="020B0604020202020204" pitchFamily="34" charset="0"/>
              </a:defRPr>
            </a:lvl1pPr>
          </a:lstStyle>
          <a:p>
            <a:r>
              <a:rPr lang="en-US" dirty="0"/>
              <a:t>Blank Slide</a:t>
            </a:r>
          </a:p>
        </p:txBody>
      </p:sp>
      <p:sp>
        <p:nvSpPr>
          <p:cNvPr id="4" name="Text Placeholder 10">
            <a:extLst>
              <a:ext uri="{FF2B5EF4-FFF2-40B4-BE49-F238E27FC236}">
                <a16:creationId xmlns:a16="http://schemas.microsoft.com/office/drawing/2014/main" id="{7C96CF32-87E2-7974-1B45-3D8CC59B3A79}"/>
              </a:ext>
            </a:extLst>
          </p:cNvPr>
          <p:cNvSpPr>
            <a:spLocks noGrp="1"/>
          </p:cNvSpPr>
          <p:nvPr>
            <p:ph type="body" sz="quarter" idx="13"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Tree>
    <p:extLst>
      <p:ext uri="{BB962C8B-B14F-4D97-AF65-F5344CB8AC3E}">
        <p14:creationId xmlns:p14="http://schemas.microsoft.com/office/powerpoint/2010/main" val="649504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521D3E9-243E-7DFD-18EA-B93E86CABE7A}"/>
              </a:ext>
            </a:extLst>
          </p:cNvPr>
          <p:cNvPicPr>
            <a:picLocks noChangeAspect="1"/>
          </p:cNvPicPr>
          <p:nvPr userDrawn="1"/>
        </p:nvPicPr>
        <p:blipFill rotWithShape="1">
          <a:blip r:embed="rId2">
            <a:duotone>
              <a:prstClr val="black"/>
              <a:srgbClr val="F1F1F1">
                <a:tint val="45000"/>
                <a:satMod val="400000"/>
              </a:srgbClr>
            </a:duotone>
            <a:alphaModFix amt="5000"/>
          </a:blip>
          <a:srcRect t="7921" r="-36"/>
          <a:stretch/>
        </p:blipFill>
        <p:spPr>
          <a:xfrm>
            <a:off x="2638425" y="9699"/>
            <a:ext cx="6905625" cy="6356350"/>
          </a:xfrm>
          <a:prstGeom prst="rect">
            <a:avLst/>
          </a:prstGeom>
        </p:spPr>
      </p:pic>
      <p:sp>
        <p:nvSpPr>
          <p:cNvPr id="5" name="Rectangle 4">
            <a:extLst>
              <a:ext uri="{FF2B5EF4-FFF2-40B4-BE49-F238E27FC236}">
                <a16:creationId xmlns:a16="http://schemas.microsoft.com/office/drawing/2014/main" id="{805A38DE-B4F5-9E44-95BA-B5201705143C}"/>
              </a:ext>
              <a:ext uri="{C183D7F6-B498-43B3-948B-1728B52AA6E4}">
                <adec:decorative xmlns:adec="http://schemas.microsoft.com/office/drawing/2017/decorative" val="1"/>
              </a:ext>
            </a:extLst>
          </p:cNvPr>
          <p:cNvSpPr/>
          <p:nvPr userDrawn="1"/>
        </p:nvSpPr>
        <p:spPr>
          <a:xfrm>
            <a:off x="0" y="5081665"/>
            <a:ext cx="12192000" cy="17763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8F3AFB2-DB74-6B19-9845-9A0D2E631BB2}"/>
              </a:ext>
            </a:extLst>
          </p:cNvPr>
          <p:cNvSpPr>
            <a:spLocks noGrp="1"/>
          </p:cNvSpPr>
          <p:nvPr>
            <p:ph type="title" hasCustomPrompt="1"/>
          </p:nvPr>
        </p:nvSpPr>
        <p:spPr>
          <a:xfrm>
            <a:off x="0" y="-222305"/>
            <a:ext cx="10896600" cy="212366"/>
          </a:xfrm>
        </p:spPr>
        <p:txBody>
          <a:bodyPr/>
          <a:lstStyle>
            <a:lvl1pPr>
              <a:defRPr sz="1200" b="0" i="0">
                <a:latin typeface="Arial" panose="020B0604020202020204" pitchFamily="34" charset="0"/>
                <a:cs typeface="Arial" panose="020B0604020202020204" pitchFamily="34" charset="0"/>
              </a:defRPr>
            </a:lvl1pPr>
          </a:lstStyle>
          <a:p>
            <a:r>
              <a:rPr lang="en-US" dirty="0"/>
              <a:t>Closing Slide</a:t>
            </a:r>
          </a:p>
        </p:txBody>
      </p:sp>
      <p:pic>
        <p:nvPicPr>
          <p:cNvPr id="3" name="Graphic 2">
            <a:extLst>
              <a:ext uri="{FF2B5EF4-FFF2-40B4-BE49-F238E27FC236}">
                <a16:creationId xmlns:a16="http://schemas.microsoft.com/office/drawing/2014/main" id="{4F5AAC12-8461-7F5B-8EE7-F38454B7800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0444" y="5081665"/>
            <a:ext cx="12774168" cy="50859"/>
          </a:xfrm>
          <a:prstGeom prst="rect">
            <a:avLst/>
          </a:prstGeom>
        </p:spPr>
      </p:pic>
      <p:pic>
        <p:nvPicPr>
          <p:cNvPr id="7" name="Graphic 6">
            <a:extLst>
              <a:ext uri="{FF2B5EF4-FFF2-40B4-BE49-F238E27FC236}">
                <a16:creationId xmlns:a16="http://schemas.microsoft.com/office/drawing/2014/main" id="{411E7360-99D9-AA46-A4FA-F760EF13F9C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489677" y="5277427"/>
            <a:ext cx="3212645" cy="1425730"/>
          </a:xfrm>
          <a:prstGeom prst="rect">
            <a:avLst/>
          </a:prstGeom>
        </p:spPr>
      </p:pic>
      <p:sp>
        <p:nvSpPr>
          <p:cNvPr id="15" name="Text Placeholder 10">
            <a:extLst>
              <a:ext uri="{FF2B5EF4-FFF2-40B4-BE49-F238E27FC236}">
                <a16:creationId xmlns:a16="http://schemas.microsoft.com/office/drawing/2014/main" id="{3AA29C81-2B6D-4E59-53D7-1D54B143F3B2}"/>
              </a:ext>
            </a:extLst>
          </p:cNvPr>
          <p:cNvSpPr>
            <a:spLocks noGrp="1"/>
          </p:cNvSpPr>
          <p:nvPr>
            <p:ph type="body" sz="quarter" idx="13" hasCustomPrompt="1"/>
          </p:nvPr>
        </p:nvSpPr>
        <p:spPr>
          <a:xfrm>
            <a:off x="9567862" y="9698"/>
            <a:ext cx="2624138" cy="1355275"/>
          </a:xfrm>
        </p:spPr>
        <p:txBody>
          <a:bodyPr lIns="0" bIns="0" anchor="ctr" anchorCtr="0">
            <a:noAutofit/>
          </a:bodyPr>
          <a:lstStyle>
            <a:lvl1pPr marL="0" indent="0" algn="ctr">
              <a:lnSpc>
                <a:spcPct val="70000"/>
              </a:lnSpc>
              <a:spcBef>
                <a:spcPts val="0"/>
              </a:spcBef>
              <a:buNone/>
              <a:defRPr sz="3400" i="1">
                <a:solidFill>
                  <a:schemeClr val="bg1">
                    <a:lumMod val="65000"/>
                  </a:schemeClr>
                </a:solidFill>
              </a:defRPr>
            </a:lvl1pPr>
          </a:lstStyle>
          <a:p>
            <a:pPr lvl="0"/>
            <a:r>
              <a:rPr lang="en-US" dirty="0"/>
              <a:t>Keep area clear for </a:t>
            </a:r>
            <a:br>
              <a:rPr lang="en-US" dirty="0"/>
            </a:br>
            <a:r>
              <a:rPr lang="en-US" dirty="0"/>
              <a:t>video insets</a:t>
            </a:r>
          </a:p>
        </p:txBody>
      </p:sp>
      <p:sp>
        <p:nvSpPr>
          <p:cNvPr id="13" name="Text Placeholder 9">
            <a:extLst>
              <a:ext uri="{FF2B5EF4-FFF2-40B4-BE49-F238E27FC236}">
                <a16:creationId xmlns:a16="http://schemas.microsoft.com/office/drawing/2014/main" id="{91335DDB-E6AE-1A35-D63D-C42ADBF1FF5A}"/>
              </a:ext>
            </a:extLst>
          </p:cNvPr>
          <p:cNvSpPr>
            <a:spLocks noGrp="1"/>
          </p:cNvSpPr>
          <p:nvPr>
            <p:ph type="body" sz="quarter" idx="15" hasCustomPrompt="1"/>
          </p:nvPr>
        </p:nvSpPr>
        <p:spPr>
          <a:xfrm>
            <a:off x="1473348" y="3441736"/>
            <a:ext cx="9266583" cy="535531"/>
          </a:xfrm>
        </p:spPr>
        <p:txBody>
          <a:bodyPr anchor="b" anchorCtr="0"/>
          <a:lstStyle>
            <a:lvl1pPr marL="0" indent="0" algn="ctr">
              <a:buNone/>
              <a:defRPr sz="3200" b="0" i="0">
                <a:solidFill>
                  <a:srgbClr val="495671"/>
                </a:solidFill>
                <a:latin typeface="Myriad Pro Light" panose="020B0403030403020204" pitchFamily="34" charset="0"/>
              </a:defRPr>
            </a:lvl1pPr>
          </a:lstStyle>
          <a:p>
            <a:pPr lvl="0"/>
            <a:r>
              <a:rPr lang="en-US" dirty="0"/>
              <a:t>Click to add contact info</a:t>
            </a:r>
          </a:p>
        </p:txBody>
      </p:sp>
      <p:sp>
        <p:nvSpPr>
          <p:cNvPr id="10" name="Text Placeholder 9">
            <a:extLst>
              <a:ext uri="{FF2B5EF4-FFF2-40B4-BE49-F238E27FC236}">
                <a16:creationId xmlns:a16="http://schemas.microsoft.com/office/drawing/2014/main" id="{8AD9F305-D251-64BA-FF09-D87C7ECBCAFA}"/>
              </a:ext>
            </a:extLst>
          </p:cNvPr>
          <p:cNvSpPr>
            <a:spLocks noGrp="1"/>
          </p:cNvSpPr>
          <p:nvPr>
            <p:ph type="body" sz="quarter" idx="14" hasCustomPrompt="1"/>
          </p:nvPr>
        </p:nvSpPr>
        <p:spPr>
          <a:xfrm>
            <a:off x="3393076" y="2270136"/>
            <a:ext cx="5427127" cy="925253"/>
          </a:xfrm>
        </p:spPr>
        <p:txBody>
          <a:bodyPr wrap="square" anchor="b" anchorCtr="0"/>
          <a:lstStyle>
            <a:lvl1pPr marL="0" indent="0" algn="ctr">
              <a:lnSpc>
                <a:spcPts val="6480"/>
              </a:lnSpc>
              <a:buNone/>
              <a:defRPr sz="5400" b="0" i="0">
                <a:solidFill>
                  <a:srgbClr val="495671"/>
                </a:solidFill>
                <a:latin typeface="Myriad Pro" panose="020B0503030403020204" pitchFamily="34" charset="0"/>
              </a:defRPr>
            </a:lvl1pPr>
          </a:lstStyle>
          <a:p>
            <a:pPr lvl="0"/>
            <a:r>
              <a:rPr lang="en-US" dirty="0"/>
              <a:t>Click to add text</a:t>
            </a:r>
          </a:p>
        </p:txBody>
      </p:sp>
    </p:spTree>
    <p:extLst>
      <p:ext uri="{BB962C8B-B14F-4D97-AF65-F5344CB8AC3E}">
        <p14:creationId xmlns:p14="http://schemas.microsoft.com/office/powerpoint/2010/main" val="79783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0EB5E6-54D5-9945-8BFD-BD46E279442E}"/>
              </a:ext>
              <a:ext uri="{C183D7F6-B498-43B3-948B-1728B52AA6E4}">
                <adec:decorative xmlns:adec="http://schemas.microsoft.com/office/drawing/2017/decorative" val="1"/>
              </a:ext>
            </a:extLst>
          </p:cNvPr>
          <p:cNvSpPr/>
          <p:nvPr userDrawn="1"/>
        </p:nvSpPr>
        <p:spPr>
          <a:xfrm rot="5400000">
            <a:off x="5880651" y="546653"/>
            <a:ext cx="430699" cy="12192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A0BFCD9-B748-2C23-8A0F-14D1A39CCAA9}"/>
              </a:ext>
            </a:extLst>
          </p:cNvPr>
          <p:cNvGrpSpPr/>
          <p:nvPr userDrawn="1"/>
        </p:nvGrpSpPr>
        <p:grpSpPr>
          <a:xfrm>
            <a:off x="10524168" y="6492218"/>
            <a:ext cx="1565254" cy="298632"/>
            <a:chOff x="695733" y="4632232"/>
            <a:chExt cx="1007180" cy="192158"/>
          </a:xfrm>
        </p:grpSpPr>
        <p:sp>
          <p:nvSpPr>
            <p:cNvPr id="18" name="Rectangle 17">
              <a:extLst>
                <a:ext uri="{FF2B5EF4-FFF2-40B4-BE49-F238E27FC236}">
                  <a16:creationId xmlns:a16="http://schemas.microsoft.com/office/drawing/2014/main" id="{BF74BD14-2507-76BB-73C5-4A77F6B4AA2F}"/>
                </a:ext>
              </a:extLst>
            </p:cNvPr>
            <p:cNvSpPr/>
            <p:nvPr userDrawn="1"/>
          </p:nvSpPr>
          <p:spPr>
            <a:xfrm flipH="1">
              <a:off x="695733" y="4632232"/>
              <a:ext cx="192158" cy="192158"/>
            </a:xfrm>
            <a:prstGeom prst="rect">
              <a:avLst/>
            </a:prstGeom>
            <a:solidFill>
              <a:srgbClr val="FFCB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52D5E02-8BDE-CDEB-72E2-3B7BAEB9A2D5}"/>
                </a:ext>
              </a:extLst>
            </p:cNvPr>
            <p:cNvSpPr/>
            <p:nvPr userDrawn="1"/>
          </p:nvSpPr>
          <p:spPr>
            <a:xfrm flipH="1">
              <a:off x="967407" y="4632232"/>
              <a:ext cx="192158" cy="192158"/>
            </a:xfrm>
            <a:prstGeom prst="rect">
              <a:avLst/>
            </a:prstGeom>
            <a:solidFill>
              <a:srgbClr val="749F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BC317643-73FA-A78E-3A28-33BE5F73D211}"/>
                </a:ext>
              </a:extLst>
            </p:cNvPr>
            <p:cNvSpPr/>
            <p:nvPr userDrawn="1"/>
          </p:nvSpPr>
          <p:spPr>
            <a:xfrm flipH="1">
              <a:off x="1239081" y="4632232"/>
              <a:ext cx="192158" cy="192158"/>
            </a:xfrm>
            <a:prstGeom prst="rect">
              <a:avLst/>
            </a:prstGeom>
            <a:solidFill>
              <a:srgbClr val="F268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2CBBA5C-2672-3F80-83B9-BA558AD99B36}"/>
                </a:ext>
              </a:extLst>
            </p:cNvPr>
            <p:cNvSpPr/>
            <p:nvPr userDrawn="1"/>
          </p:nvSpPr>
          <p:spPr>
            <a:xfrm flipH="1">
              <a:off x="1510755" y="4632232"/>
              <a:ext cx="192158" cy="192158"/>
            </a:xfrm>
            <a:prstGeom prst="rect">
              <a:avLst/>
            </a:prstGeom>
            <a:solidFill>
              <a:srgbClr val="8E88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6698AB68-EB02-CF52-68E9-1FBE198D7BBF}"/>
              </a:ext>
            </a:extLst>
          </p:cNvPr>
          <p:cNvSpPr txBox="1"/>
          <p:nvPr userDrawn="1"/>
        </p:nvSpPr>
        <p:spPr>
          <a:xfrm>
            <a:off x="457200" y="6508305"/>
            <a:ext cx="4452730" cy="261610"/>
          </a:xfrm>
          <a:prstGeom prst="rect">
            <a:avLst/>
          </a:prstGeom>
          <a:noFill/>
        </p:spPr>
        <p:txBody>
          <a:bodyPr wrap="square" rtlCol="0">
            <a:spAutoFit/>
          </a:bodyPr>
          <a:lstStyle/>
          <a:p>
            <a:r>
              <a:rPr lang="en-US" sz="1100" dirty="0">
                <a:solidFill>
                  <a:schemeClr val="bg1">
                    <a:lumMod val="75000"/>
                  </a:schemeClr>
                </a:solidFill>
                <a:latin typeface="Myriad Pro" panose="020B0503030403020204" pitchFamily="34" charset="0"/>
              </a:rPr>
              <a:t>Pima Association of Governments | </a:t>
            </a:r>
            <a:fld id="{4C52378C-1D8E-8F41-AA17-41AD3F3DF318}" type="slidenum">
              <a:rPr lang="en-US" sz="1100" smtClean="0">
                <a:solidFill>
                  <a:schemeClr val="bg1">
                    <a:lumMod val="75000"/>
                  </a:schemeClr>
                </a:solidFill>
                <a:latin typeface="Myriad Pro" panose="020B0503030403020204" pitchFamily="34" charset="0"/>
              </a:rPr>
              <a:pPr/>
              <a:t>‹#›</a:t>
            </a:fld>
            <a:endParaRPr lang="en-US" sz="1100" dirty="0">
              <a:solidFill>
                <a:schemeClr val="bg1">
                  <a:lumMod val="75000"/>
                </a:schemeClr>
              </a:solidFill>
              <a:latin typeface="Myriad Pro" panose="020B0503030403020204" pitchFamily="34" charset="0"/>
            </a:endParaRPr>
          </a:p>
        </p:txBody>
      </p:sp>
      <p:sp>
        <p:nvSpPr>
          <p:cNvPr id="3" name="Text Placeholder 2"/>
          <p:cNvSpPr>
            <a:spLocks noGrp="1"/>
          </p:cNvSpPr>
          <p:nvPr>
            <p:ph type="body" idx="1"/>
          </p:nvPr>
        </p:nvSpPr>
        <p:spPr>
          <a:xfrm>
            <a:off x="457200" y="1577008"/>
            <a:ext cx="10896600" cy="1933863"/>
          </a:xfrm>
          <a:prstGeom prst="rect">
            <a:avLst/>
          </a:prstGeom>
        </p:spPr>
        <p:txBody>
          <a:bodyPr vert="horz" wrap="square" lIns="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p:cNvSpPr>
            <a:spLocks noGrp="1"/>
          </p:cNvSpPr>
          <p:nvPr>
            <p:ph type="title"/>
          </p:nvPr>
        </p:nvSpPr>
        <p:spPr>
          <a:xfrm>
            <a:off x="457200" y="557784"/>
            <a:ext cx="9614452" cy="600164"/>
          </a:xfrm>
          <a:prstGeom prst="rect">
            <a:avLst/>
          </a:prstGeom>
        </p:spPr>
        <p:txBody>
          <a:bodyPr vert="horz" wrap="square" lIns="0" tIns="45720" rIns="91440" bIns="0" rtlCol="0" anchor="b" anchorCtr="0">
            <a:spAutoFit/>
          </a:bodyPr>
          <a:lstStyle/>
          <a:p>
            <a:r>
              <a:rPr lang="en-US" dirty="0"/>
              <a:t>Click to edit Master title style</a:t>
            </a:r>
          </a:p>
        </p:txBody>
      </p:sp>
    </p:spTree>
    <p:extLst>
      <p:ext uri="{BB962C8B-B14F-4D97-AF65-F5344CB8AC3E}">
        <p14:creationId xmlns:p14="http://schemas.microsoft.com/office/powerpoint/2010/main" val="2525479140"/>
      </p:ext>
    </p:extLst>
  </p:cSld>
  <p:clrMap bg1="lt1" tx1="dk1" bg2="lt2" tx2="dk2" accent1="accent1" accent2="accent2" accent3="accent3" accent4="accent4" accent5="accent5" accent6="accent6" hlink="hlink" folHlink="folHlink"/>
  <p:sldLayoutIdLst>
    <p:sldLayoutId id="2147483661" r:id="rId1"/>
    <p:sldLayoutId id="2147483678" r:id="rId2"/>
    <p:sldLayoutId id="2147483662" r:id="rId3"/>
    <p:sldLayoutId id="2147483675" r:id="rId4"/>
    <p:sldLayoutId id="2147483679" r:id="rId5"/>
    <p:sldLayoutId id="2147483676" r:id="rId6"/>
    <p:sldLayoutId id="2147483672" r:id="rId7"/>
    <p:sldLayoutId id="2147483673" r:id="rId8"/>
    <p:sldLayoutId id="2147483663" r:id="rId9"/>
    <p:sldLayoutId id="2147483666" r:id="rId10"/>
    <p:sldLayoutId id="2147483667" r:id="rId11"/>
    <p:sldLayoutId id="2147483677" r:id="rId12"/>
  </p:sldLayoutIdLst>
  <p:txStyles>
    <p:titleStyle>
      <a:lvl1pPr algn="l" defTabSz="914400" rtl="0" eaLnBrk="1" latinLnBrk="0" hangingPunct="1">
        <a:lnSpc>
          <a:spcPts val="4000"/>
        </a:lnSpc>
        <a:spcBef>
          <a:spcPct val="0"/>
        </a:spcBef>
        <a:buNone/>
        <a:defRPr sz="4400" b="0" i="0" kern="1200">
          <a:solidFill>
            <a:srgbClr val="495671"/>
          </a:solidFill>
          <a:latin typeface="Myriad Pro" panose="020B0503030403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600" kern="1200">
          <a:solidFill>
            <a:schemeClr val="tx1">
              <a:lumMod val="90000"/>
              <a:lumOff val="10000"/>
            </a:schemeClr>
          </a:solidFill>
          <a:latin typeface="Myriad Pro" panose="020B0503030403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100" kern="1200">
          <a:solidFill>
            <a:schemeClr val="tx1">
              <a:lumMod val="90000"/>
              <a:lumOff val="10000"/>
            </a:schemeClr>
          </a:solidFill>
          <a:latin typeface="Myriad Pro" panose="020B0503030403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lumMod val="90000"/>
              <a:lumOff val="10000"/>
            </a:schemeClr>
          </a:solidFill>
          <a:latin typeface="Myriad Pro" panose="020B0503030403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90000"/>
              <a:lumOff val="10000"/>
            </a:schemeClr>
          </a:solidFill>
          <a:latin typeface="Myriad Pro" panose="020B0503030403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lumMod val="90000"/>
              <a:lumOff val="10000"/>
            </a:schemeClr>
          </a:solidFill>
          <a:latin typeface="Myriad Pro" panose="020B0503030403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 userDrawn="1">
          <p15:clr>
            <a:srgbClr val="F26B43"/>
          </p15:clr>
        </p15:guide>
        <p15:guide id="2" pos="72" userDrawn="1">
          <p15:clr>
            <a:srgbClr val="F26B43"/>
          </p15:clr>
        </p15:guide>
        <p15:guide id="3" pos="7608" userDrawn="1">
          <p15:clr>
            <a:srgbClr val="F26B43"/>
          </p15:clr>
        </p15:guide>
        <p15:guide id="4" orient="horz" pos="4248" userDrawn="1">
          <p15:clr>
            <a:srgbClr val="F26B43"/>
          </p15:clr>
        </p15:guide>
        <p15:guide id="5" pos="288" userDrawn="1">
          <p15:clr>
            <a:srgbClr val="F26B43"/>
          </p15:clr>
        </p15:guide>
        <p15:guide id="6" orient="horz" pos="768" userDrawn="1">
          <p15:clr>
            <a:srgbClr val="F26B43"/>
          </p15:clr>
        </p15:guide>
        <p15:guide id="7" orient="horz" pos="960" userDrawn="1">
          <p15:clr>
            <a:srgbClr val="F26B43"/>
          </p15:clr>
        </p15:guide>
        <p15:guide id="8" orient="horz" pos="1152" userDrawn="1">
          <p15:clr>
            <a:srgbClr val="F26B43"/>
          </p15:clr>
        </p15:guide>
        <p15:guide id="9" orient="horz" pos="3888" userDrawn="1">
          <p15:clr>
            <a:srgbClr val="F26B43"/>
          </p15:clr>
        </p15:guide>
        <p15:guide id="10" pos="9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23C1B4-44F0-71E5-E826-1D9A66A0B24E}"/>
              </a:ext>
            </a:extLst>
          </p:cNvPr>
          <p:cNvSpPr>
            <a:spLocks noGrp="1"/>
          </p:cNvSpPr>
          <p:nvPr>
            <p:ph type="body" sz="quarter" idx="14"/>
          </p:nvPr>
        </p:nvSpPr>
        <p:spPr/>
        <p:txBody>
          <a:bodyPr/>
          <a:lstStyle/>
          <a:p>
            <a:endParaRPr lang="en-US"/>
          </a:p>
        </p:txBody>
      </p:sp>
      <p:sp>
        <p:nvSpPr>
          <p:cNvPr id="3" name="Text Placeholder 2">
            <a:extLst>
              <a:ext uri="{FF2B5EF4-FFF2-40B4-BE49-F238E27FC236}">
                <a16:creationId xmlns:a16="http://schemas.microsoft.com/office/drawing/2014/main" id="{66785AEA-C829-E036-ED41-45A4BA3023CA}"/>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5443678F-D622-0CE6-A1F7-10963F35B679}"/>
              </a:ext>
            </a:extLst>
          </p:cNvPr>
          <p:cNvSpPr>
            <a:spLocks noGrp="1"/>
          </p:cNvSpPr>
          <p:nvPr>
            <p:ph type="body" sz="quarter" idx="12"/>
          </p:nvPr>
        </p:nvSpPr>
        <p:spPr>
          <a:xfrm>
            <a:off x="457199" y="5648830"/>
            <a:ext cx="7530353" cy="323165"/>
          </a:xfrm>
        </p:spPr>
        <p:txBody>
          <a:bodyPr/>
          <a:lstStyle/>
          <a:p>
            <a:r>
              <a:rPr lang="en-US" altLang="zh-CN" dirty="0"/>
              <a:t>Group 7: Xiao Li, Wenkang </a:t>
            </a:r>
            <a:r>
              <a:rPr lang="en-US" altLang="zh-CN" dirty="0" err="1"/>
              <a:t>Lv</a:t>
            </a:r>
            <a:endParaRPr lang="en-US" dirty="0"/>
          </a:p>
        </p:txBody>
      </p:sp>
      <p:sp>
        <p:nvSpPr>
          <p:cNvPr id="5" name="Text Placeholder 4">
            <a:extLst>
              <a:ext uri="{FF2B5EF4-FFF2-40B4-BE49-F238E27FC236}">
                <a16:creationId xmlns:a16="http://schemas.microsoft.com/office/drawing/2014/main" id="{A312DE87-F4F4-D8ED-4D36-5E2727CB0A54}"/>
              </a:ext>
            </a:extLst>
          </p:cNvPr>
          <p:cNvSpPr>
            <a:spLocks noGrp="1"/>
          </p:cNvSpPr>
          <p:nvPr>
            <p:ph type="body" sz="quarter" idx="11"/>
          </p:nvPr>
        </p:nvSpPr>
        <p:spPr>
          <a:xfrm>
            <a:off x="457200" y="3622472"/>
            <a:ext cx="6159500" cy="446276"/>
          </a:xfrm>
        </p:spPr>
        <p:txBody>
          <a:bodyPr/>
          <a:lstStyle/>
          <a:p>
            <a:r>
              <a:rPr lang="en-US" dirty="0"/>
              <a:t>INFO 523</a:t>
            </a:r>
          </a:p>
        </p:txBody>
      </p:sp>
      <p:sp>
        <p:nvSpPr>
          <p:cNvPr id="6" name="Title 5">
            <a:extLst>
              <a:ext uri="{FF2B5EF4-FFF2-40B4-BE49-F238E27FC236}">
                <a16:creationId xmlns:a16="http://schemas.microsoft.com/office/drawing/2014/main" id="{0F0E1B41-2C7A-C279-3EDB-E160884266EC}"/>
              </a:ext>
            </a:extLst>
          </p:cNvPr>
          <p:cNvSpPr>
            <a:spLocks noGrp="1"/>
          </p:cNvSpPr>
          <p:nvPr>
            <p:ph type="title"/>
          </p:nvPr>
        </p:nvSpPr>
        <p:spPr>
          <a:xfrm>
            <a:off x="457199" y="1495375"/>
            <a:ext cx="9544051" cy="1533753"/>
          </a:xfrm>
        </p:spPr>
        <p:txBody>
          <a:bodyPr/>
          <a:lstStyle/>
          <a:p>
            <a:r>
              <a:rPr lang="en-US" dirty="0"/>
              <a:t>Data Mining of Travel Reduction Program Survey</a:t>
            </a:r>
          </a:p>
        </p:txBody>
      </p:sp>
    </p:spTree>
    <p:extLst>
      <p:ext uri="{BB962C8B-B14F-4D97-AF65-F5344CB8AC3E}">
        <p14:creationId xmlns:p14="http://schemas.microsoft.com/office/powerpoint/2010/main" val="2938347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AA5D3D-94C9-3DE7-B9BF-31578737C53F}"/>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F224A1F8-EC36-C448-9A9F-6AD2567C8D34}"/>
              </a:ext>
            </a:extLst>
          </p:cNvPr>
          <p:cNvSpPr>
            <a:spLocks noGrp="1"/>
          </p:cNvSpPr>
          <p:nvPr>
            <p:ph sz="quarter" idx="13"/>
          </p:nvPr>
        </p:nvSpPr>
        <p:spPr>
          <a:xfrm>
            <a:off x="471744" y="1603512"/>
            <a:ext cx="11270489" cy="3347070"/>
          </a:xfrm>
        </p:spPr>
        <p:txBody>
          <a:bodyPr/>
          <a:lstStyle/>
          <a:p>
            <a:r>
              <a:rPr lang="en-US" dirty="0"/>
              <a:t>2024 Pima Association of Governments (PAG)'s Travel Reduction Program (TRP) data, collected through the annual Employee Travel Survey</a:t>
            </a:r>
          </a:p>
          <a:p>
            <a:pPr lvl="1"/>
            <a:r>
              <a:rPr lang="en-US" dirty="0"/>
              <a:t>Reducing traffic congestion in the greater Tucson region continues to be a performance goal of Pima Association of Governments to support safe travel and enhance air quality.</a:t>
            </a:r>
          </a:p>
          <a:p>
            <a:pPr lvl="1"/>
            <a:r>
              <a:rPr lang="en-US" dirty="0"/>
              <a:t>Employers with 100 or more full-time equivalent employees are required by local ordinances to participate in the Travel Reduction Program. Other employers may volunteer to participate.</a:t>
            </a:r>
          </a:p>
          <a:p>
            <a:pPr lvl="1"/>
            <a:r>
              <a:rPr lang="en-US" dirty="0"/>
              <a:t>Companies required to participate in the program need to assign a transportation coordinator who will complete a travel reduction Activity Inventory Report, distribute an Annual Employee Survey and distribute travel reduction information and materials to employees.</a:t>
            </a:r>
          </a:p>
        </p:txBody>
      </p:sp>
      <p:sp>
        <p:nvSpPr>
          <p:cNvPr id="4" name="Title 3">
            <a:extLst>
              <a:ext uri="{FF2B5EF4-FFF2-40B4-BE49-F238E27FC236}">
                <a16:creationId xmlns:a16="http://schemas.microsoft.com/office/drawing/2014/main" id="{FAB505EC-39DD-C983-D04E-1C5D42C948BC}"/>
              </a:ext>
            </a:extLst>
          </p:cNvPr>
          <p:cNvSpPr>
            <a:spLocks noGrp="1"/>
          </p:cNvSpPr>
          <p:nvPr>
            <p:ph type="title"/>
          </p:nvPr>
        </p:nvSpPr>
        <p:spPr>
          <a:xfrm>
            <a:off x="457200" y="572018"/>
            <a:ext cx="9110662" cy="571695"/>
          </a:xfrm>
        </p:spPr>
        <p:txBody>
          <a:bodyPr/>
          <a:lstStyle/>
          <a:p>
            <a:r>
              <a:rPr lang="en-US" dirty="0"/>
              <a:t>Data Source</a:t>
            </a:r>
          </a:p>
        </p:txBody>
      </p:sp>
    </p:spTree>
    <p:extLst>
      <p:ext uri="{BB962C8B-B14F-4D97-AF65-F5344CB8AC3E}">
        <p14:creationId xmlns:p14="http://schemas.microsoft.com/office/powerpoint/2010/main" val="2667757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317A99-AEED-DED9-A012-64F59E549C6B}"/>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EB7D2942-8AFA-4271-8E29-22A6F60715E3}"/>
              </a:ext>
            </a:extLst>
          </p:cNvPr>
          <p:cNvSpPr>
            <a:spLocks noGrp="1"/>
          </p:cNvSpPr>
          <p:nvPr>
            <p:ph sz="quarter" idx="13"/>
          </p:nvPr>
        </p:nvSpPr>
        <p:spPr>
          <a:xfrm>
            <a:off x="471744" y="1603512"/>
            <a:ext cx="11270489" cy="5216813"/>
          </a:xfrm>
        </p:spPr>
        <p:txBody>
          <a:bodyPr/>
          <a:lstStyle/>
          <a:p>
            <a:r>
              <a:rPr lang="en-US" dirty="0"/>
              <a:t>2024 Survey Data Effective Samples:</a:t>
            </a:r>
          </a:p>
          <a:p>
            <a:pPr lvl="1"/>
            <a:r>
              <a:rPr lang="en-US" dirty="0"/>
              <a:t>138 Employers</a:t>
            </a:r>
          </a:p>
          <a:p>
            <a:pPr lvl="1"/>
            <a:r>
              <a:rPr lang="en-US" dirty="0"/>
              <a:t>40,836 Employees</a:t>
            </a:r>
          </a:p>
          <a:p>
            <a:pPr lvl="1"/>
            <a:r>
              <a:rPr lang="en-US" dirty="0"/>
              <a:t>296 Samples per Employer</a:t>
            </a:r>
          </a:p>
          <a:p>
            <a:r>
              <a:rPr lang="en-US" dirty="0"/>
              <a:t>Data Attribute:</a:t>
            </a:r>
          </a:p>
          <a:p>
            <a:pPr lvl="1"/>
            <a:r>
              <a:rPr lang="en-US" dirty="0"/>
              <a:t>Company Information: Name, NAICS Code, Location, Work Activity.</a:t>
            </a:r>
          </a:p>
          <a:p>
            <a:pPr lvl="1"/>
            <a:r>
              <a:rPr lang="en-US" dirty="0"/>
              <a:t>Commute Mode: Time of Days Commute to Work by Mode. (Drive Alone, Carpool, Ride hail, Bus, Cat Tran, Bike, Walk, Streetcar, or Work from Home) </a:t>
            </a:r>
          </a:p>
          <a:p>
            <a:pPr lvl="1"/>
            <a:r>
              <a:rPr lang="en-US" altLang="zh-CN" dirty="0"/>
              <a:t>Alternative Commute </a:t>
            </a:r>
            <a:r>
              <a:rPr lang="en-US" dirty="0"/>
              <a:t>Vehicle Types: Motorcycle,  Electric Car, Hybrid Car, Plugin Hybrid Car</a:t>
            </a:r>
          </a:p>
          <a:p>
            <a:pPr lvl="1"/>
            <a:r>
              <a:rPr lang="en-US" dirty="0"/>
              <a:t>Commute Schedule: Leave/Arrive Home, Leave/Arrive Work.</a:t>
            </a:r>
          </a:p>
          <a:p>
            <a:pPr lvl="1"/>
            <a:r>
              <a:rPr lang="en-US" dirty="0"/>
              <a:t>Household </a:t>
            </a:r>
            <a:r>
              <a:rPr lang="en-US" altLang="zh-CN" dirty="0"/>
              <a:t>Information: Number of Vehicles, Drivers, Fulltime/Parttime Workers.</a:t>
            </a:r>
          </a:p>
          <a:p>
            <a:pPr lvl="1"/>
            <a:r>
              <a:rPr lang="en-US" dirty="0"/>
              <a:t>Commute Locations: Home Cross Street, Pickup Locations.</a:t>
            </a:r>
          </a:p>
          <a:p>
            <a:pPr lvl="1"/>
            <a:endParaRPr lang="en-US" dirty="0"/>
          </a:p>
        </p:txBody>
      </p:sp>
      <p:sp>
        <p:nvSpPr>
          <p:cNvPr id="4" name="Title 3">
            <a:extLst>
              <a:ext uri="{FF2B5EF4-FFF2-40B4-BE49-F238E27FC236}">
                <a16:creationId xmlns:a16="http://schemas.microsoft.com/office/drawing/2014/main" id="{779D60B1-952D-7BBA-6180-BD5A745531D2}"/>
              </a:ext>
            </a:extLst>
          </p:cNvPr>
          <p:cNvSpPr>
            <a:spLocks noGrp="1"/>
          </p:cNvSpPr>
          <p:nvPr>
            <p:ph type="title"/>
          </p:nvPr>
        </p:nvSpPr>
        <p:spPr>
          <a:xfrm>
            <a:off x="457200" y="572018"/>
            <a:ext cx="9110662" cy="571695"/>
          </a:xfrm>
        </p:spPr>
        <p:txBody>
          <a:bodyPr/>
          <a:lstStyle/>
          <a:p>
            <a:r>
              <a:rPr lang="en-US" dirty="0"/>
              <a:t>Data Source</a:t>
            </a:r>
          </a:p>
        </p:txBody>
      </p:sp>
    </p:spTree>
    <p:extLst>
      <p:ext uri="{BB962C8B-B14F-4D97-AF65-F5344CB8AC3E}">
        <p14:creationId xmlns:p14="http://schemas.microsoft.com/office/powerpoint/2010/main" val="169889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288E75-1BE9-CACF-2A35-37DCAF32D5CC}"/>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0136D911-077D-C307-755A-A0F30FC5B9E5}"/>
              </a:ext>
            </a:extLst>
          </p:cNvPr>
          <p:cNvSpPr>
            <a:spLocks noGrp="1"/>
          </p:cNvSpPr>
          <p:nvPr>
            <p:ph sz="quarter" idx="13"/>
          </p:nvPr>
        </p:nvSpPr>
        <p:spPr>
          <a:xfrm>
            <a:off x="471744" y="1603512"/>
            <a:ext cx="11270489" cy="5447645"/>
          </a:xfrm>
        </p:spPr>
        <p:txBody>
          <a:bodyPr/>
          <a:lstStyle/>
          <a:p>
            <a:r>
              <a:rPr lang="en-US" dirty="0"/>
              <a:t>HERE Routing API Estimated Commute Travel Time and Travel Distance.</a:t>
            </a:r>
          </a:p>
          <a:p>
            <a:pPr lvl="1"/>
            <a:r>
              <a:rPr lang="en-US" dirty="0"/>
              <a:t>Survey Samples Missing Home Locations or Commute Schedules were Dropped.</a:t>
            </a:r>
          </a:p>
          <a:p>
            <a:r>
              <a:rPr lang="en-US" dirty="0"/>
              <a:t>Joined with American Community Survey from </a:t>
            </a:r>
            <a:r>
              <a:rPr lang="en-US" altLang="zh-CN" dirty="0"/>
              <a:t>Census Bureau for Census Block Group Level Median Income.</a:t>
            </a:r>
          </a:p>
          <a:p>
            <a:pPr lvl="1"/>
            <a:r>
              <a:rPr lang="en-US" dirty="0"/>
              <a:t>Home Locations without Census </a:t>
            </a:r>
            <a:r>
              <a:rPr lang="en-US" altLang="zh-CN" dirty="0"/>
              <a:t>Block Group Median Income Data will be Imputed with Census Tract Level Median Income.</a:t>
            </a:r>
          </a:p>
          <a:p>
            <a:pPr lvl="1"/>
            <a:r>
              <a:rPr lang="en-US" dirty="0"/>
              <a:t>If Census Tract Level Median Income is also Missing, it will be Filled with County Level Median Income.</a:t>
            </a:r>
          </a:p>
          <a:p>
            <a:r>
              <a:rPr lang="en-US" altLang="zh-CN" dirty="0"/>
              <a:t>Other Preprocessing for Analysis</a:t>
            </a:r>
          </a:p>
          <a:p>
            <a:pPr lvl="1"/>
            <a:r>
              <a:rPr lang="en-US" altLang="zh-CN" dirty="0"/>
              <a:t>Impute Missing Values for Classification.</a:t>
            </a:r>
          </a:p>
          <a:p>
            <a:pPr lvl="1"/>
            <a:r>
              <a:rPr lang="en-US" altLang="zh-CN" dirty="0"/>
              <a:t>Aggregation and Normalization for Clustering.</a:t>
            </a:r>
          </a:p>
          <a:p>
            <a:pPr lvl="1"/>
            <a:r>
              <a:rPr lang="en-US" altLang="zh-CN" dirty="0"/>
              <a:t>Transaction Transformations and Discretization for Association.</a:t>
            </a:r>
          </a:p>
          <a:p>
            <a:endParaRPr lang="en-US" dirty="0"/>
          </a:p>
        </p:txBody>
      </p:sp>
      <p:sp>
        <p:nvSpPr>
          <p:cNvPr id="4" name="Title 3">
            <a:extLst>
              <a:ext uri="{FF2B5EF4-FFF2-40B4-BE49-F238E27FC236}">
                <a16:creationId xmlns:a16="http://schemas.microsoft.com/office/drawing/2014/main" id="{13FC75A5-5AC6-4CC7-AAF2-656F44A0B5CD}"/>
              </a:ext>
            </a:extLst>
          </p:cNvPr>
          <p:cNvSpPr>
            <a:spLocks noGrp="1"/>
          </p:cNvSpPr>
          <p:nvPr>
            <p:ph type="title"/>
          </p:nvPr>
        </p:nvSpPr>
        <p:spPr>
          <a:xfrm>
            <a:off x="457200" y="574102"/>
            <a:ext cx="9110662" cy="567528"/>
          </a:xfrm>
        </p:spPr>
        <p:txBody>
          <a:bodyPr/>
          <a:lstStyle/>
          <a:p>
            <a:r>
              <a:rPr lang="en-US" dirty="0"/>
              <a:t>Data Preprocessing/Integration</a:t>
            </a:r>
          </a:p>
        </p:txBody>
      </p:sp>
    </p:spTree>
    <p:extLst>
      <p:ext uri="{BB962C8B-B14F-4D97-AF65-F5344CB8AC3E}">
        <p14:creationId xmlns:p14="http://schemas.microsoft.com/office/powerpoint/2010/main" val="3018800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0740C-0763-B36B-4CF9-B22480395F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ACAD40B-2ACD-907F-FF27-9263260A044E}"/>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EF37AE17-3C11-F44D-39EE-14D5020A2206}"/>
              </a:ext>
            </a:extLst>
          </p:cNvPr>
          <p:cNvSpPr>
            <a:spLocks noGrp="1"/>
          </p:cNvSpPr>
          <p:nvPr>
            <p:ph type="title"/>
          </p:nvPr>
        </p:nvSpPr>
        <p:spPr>
          <a:xfrm>
            <a:off x="457200" y="574102"/>
            <a:ext cx="9110662" cy="567528"/>
          </a:xfrm>
        </p:spPr>
        <p:txBody>
          <a:bodyPr/>
          <a:lstStyle/>
          <a:p>
            <a:r>
              <a:rPr lang="en-US" dirty="0"/>
              <a:t>Data Exploration: Mode Choice</a:t>
            </a:r>
          </a:p>
        </p:txBody>
      </p:sp>
      <p:graphicFrame>
        <p:nvGraphicFramePr>
          <p:cNvPr id="5" name="Table 15" descr="Placeholder table example">
            <a:extLst>
              <a:ext uri="{FF2B5EF4-FFF2-40B4-BE49-F238E27FC236}">
                <a16:creationId xmlns:a16="http://schemas.microsoft.com/office/drawing/2014/main" id="{A981C8DA-90C0-3F41-2271-4EC9D0F241F4}"/>
              </a:ext>
            </a:extLst>
          </p:cNvPr>
          <p:cNvGraphicFramePr>
            <a:graphicFrameLocks noGrp="1"/>
          </p:cNvGraphicFramePr>
          <p:nvPr>
            <p:ph sz="quarter" idx="13"/>
            <p:extLst>
              <p:ext uri="{D42A27DB-BD31-4B8C-83A1-F6EECF244321}">
                <p14:modId xmlns:p14="http://schemas.microsoft.com/office/powerpoint/2010/main" val="3303997044"/>
              </p:ext>
            </p:extLst>
          </p:nvPr>
        </p:nvGraphicFramePr>
        <p:xfrm>
          <a:off x="471488" y="1603375"/>
          <a:ext cx="11110913" cy="3657600"/>
        </p:xfrm>
        <a:graphic>
          <a:graphicData uri="http://schemas.openxmlformats.org/drawingml/2006/table">
            <a:tbl>
              <a:tblPr firstRow="1" bandRow="1">
                <a:tableStyleId>{793D81CF-94F2-401A-BA57-92F5A7B2D0C5}</a:tableStyleId>
              </a:tblPr>
              <a:tblGrid>
                <a:gridCol w="4307290">
                  <a:extLst>
                    <a:ext uri="{9D8B030D-6E8A-4147-A177-3AD203B41FA5}">
                      <a16:colId xmlns:a16="http://schemas.microsoft.com/office/drawing/2014/main" val="2086234061"/>
                    </a:ext>
                  </a:extLst>
                </a:gridCol>
                <a:gridCol w="1520811">
                  <a:extLst>
                    <a:ext uri="{9D8B030D-6E8A-4147-A177-3AD203B41FA5}">
                      <a16:colId xmlns:a16="http://schemas.microsoft.com/office/drawing/2014/main" val="2371814804"/>
                    </a:ext>
                  </a:extLst>
                </a:gridCol>
                <a:gridCol w="1320703">
                  <a:extLst>
                    <a:ext uri="{9D8B030D-6E8A-4147-A177-3AD203B41FA5}">
                      <a16:colId xmlns:a16="http://schemas.microsoft.com/office/drawing/2014/main" val="676371851"/>
                    </a:ext>
                  </a:extLst>
                </a:gridCol>
                <a:gridCol w="1320703">
                  <a:extLst>
                    <a:ext uri="{9D8B030D-6E8A-4147-A177-3AD203B41FA5}">
                      <a16:colId xmlns:a16="http://schemas.microsoft.com/office/drawing/2014/main" val="2205256955"/>
                    </a:ext>
                  </a:extLst>
                </a:gridCol>
                <a:gridCol w="1320703">
                  <a:extLst>
                    <a:ext uri="{9D8B030D-6E8A-4147-A177-3AD203B41FA5}">
                      <a16:colId xmlns:a16="http://schemas.microsoft.com/office/drawing/2014/main" val="2366541347"/>
                    </a:ext>
                  </a:extLst>
                </a:gridCol>
                <a:gridCol w="1320703">
                  <a:extLst>
                    <a:ext uri="{9D8B030D-6E8A-4147-A177-3AD203B41FA5}">
                      <a16:colId xmlns:a16="http://schemas.microsoft.com/office/drawing/2014/main" val="3164343432"/>
                    </a:ext>
                  </a:extLst>
                </a:gridCol>
              </a:tblGrid>
              <a:tr h="357823">
                <a:tc>
                  <a:txBody>
                    <a:bodyPr/>
                    <a:lstStyle/>
                    <a:p>
                      <a:r>
                        <a:rPr lang="en-US" dirty="0"/>
                        <a:t>Time of Days Commute by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Mean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Median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St. Dev</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Minimum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Maximum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extLst>
                  <a:ext uri="{0D108BD9-81ED-4DB2-BD59-A6C34878D82A}">
                    <a16:rowId xmlns:a16="http://schemas.microsoft.com/office/drawing/2014/main" val="677413868"/>
                  </a:ext>
                </a:extLst>
              </a:tr>
              <a:tr h="357823">
                <a:tc>
                  <a:txBody>
                    <a:bodyPr/>
                    <a:lstStyle/>
                    <a:p>
                      <a:r>
                        <a:rPr lang="en-US" dirty="0">
                          <a:solidFill>
                            <a:schemeClr val="bg1"/>
                          </a:solidFill>
                        </a:rPr>
                        <a:t>Drive Alone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dirty="0">
                          <a:solidFill>
                            <a:srgbClr val="000000"/>
                          </a:solidFill>
                          <a:effectLst/>
                          <a:latin typeface="+mj-lt"/>
                        </a:rPr>
                        <a:t>3.95</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5</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1.77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02658"/>
                  </a:ext>
                </a:extLst>
              </a:tr>
              <a:tr h="357823">
                <a:tc>
                  <a:txBody>
                    <a:bodyPr/>
                    <a:lstStyle/>
                    <a:p>
                      <a:r>
                        <a:rPr lang="en-US" dirty="0">
                          <a:solidFill>
                            <a:schemeClr val="bg1"/>
                          </a:solidFill>
                        </a:rPr>
                        <a:t>Carpool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0.27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1.02</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15509"/>
                  </a:ext>
                </a:extLst>
              </a:tr>
              <a:tr h="357823">
                <a:tc>
                  <a:txBody>
                    <a:bodyPr/>
                    <a:lstStyle/>
                    <a:p>
                      <a:r>
                        <a:rPr lang="en-US" dirty="0">
                          <a:solidFill>
                            <a:schemeClr val="bg1"/>
                          </a:solidFill>
                        </a:rPr>
                        <a:t>Ride Hail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0.06</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0.5</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801535"/>
                  </a:ext>
                </a:extLst>
              </a:tr>
              <a:tr h="357823">
                <a:tc>
                  <a:txBody>
                    <a:bodyPr/>
                    <a:lstStyle/>
                    <a:p>
                      <a:r>
                        <a:rPr lang="en-US" dirty="0">
                          <a:solidFill>
                            <a:schemeClr val="bg1"/>
                          </a:solidFill>
                        </a:rPr>
                        <a:t>Bike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0.07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0.51</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2609536"/>
                  </a:ext>
                </a:extLst>
              </a:tr>
              <a:tr h="357823">
                <a:tc>
                  <a:txBody>
                    <a:bodyPr/>
                    <a:lstStyle/>
                    <a:p>
                      <a:r>
                        <a:rPr lang="en-US" dirty="0">
                          <a:solidFill>
                            <a:schemeClr val="bg1"/>
                          </a:solidFill>
                        </a:rPr>
                        <a:t>Walk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0.07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0.54</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3462831"/>
                  </a:ext>
                </a:extLst>
              </a:tr>
              <a:tr h="357823">
                <a:tc>
                  <a:txBody>
                    <a:bodyPr/>
                    <a:lstStyle/>
                    <a:p>
                      <a:r>
                        <a:rPr lang="en-US" dirty="0">
                          <a:solidFill>
                            <a:schemeClr val="bg1"/>
                          </a:solidFill>
                        </a:rPr>
                        <a:t>Bus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0.09</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0.6</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874865"/>
                  </a:ext>
                </a:extLst>
              </a:tr>
              <a:tr h="357823">
                <a:tc>
                  <a:txBody>
                    <a:bodyPr/>
                    <a:lstStyle/>
                    <a:p>
                      <a:r>
                        <a:rPr lang="en-US" dirty="0">
                          <a:solidFill>
                            <a:schemeClr val="bg1"/>
                          </a:solidFill>
                        </a:rPr>
                        <a:t>Cat Tran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0.09</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5</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227817"/>
                  </a:ext>
                </a:extLst>
              </a:tr>
              <a:tr h="357823">
                <a:tc>
                  <a:txBody>
                    <a:bodyPr/>
                    <a:lstStyle/>
                    <a:p>
                      <a:r>
                        <a:rPr lang="en-US" dirty="0">
                          <a:solidFill>
                            <a:schemeClr val="bg1"/>
                          </a:solidFill>
                        </a:rPr>
                        <a:t>Streetcar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0.02</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0.31</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9106360"/>
                  </a:ext>
                </a:extLst>
              </a:tr>
              <a:tr h="357823">
                <a:tc>
                  <a:txBody>
                    <a:bodyPr/>
                    <a:lstStyle/>
                    <a:p>
                      <a:r>
                        <a:rPr lang="en-US" dirty="0">
                          <a:solidFill>
                            <a:schemeClr val="bg1"/>
                          </a:solidFill>
                        </a:rPr>
                        <a:t>At Home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pPr algn="ctr" fontAlgn="b">
                        <a:buNone/>
                      </a:pPr>
                      <a:r>
                        <a:rPr lang="en-US" sz="1800" b="0" i="0" u="none" strike="noStrike">
                          <a:solidFill>
                            <a:srgbClr val="000000"/>
                          </a:solidFill>
                          <a:effectLst/>
                          <a:latin typeface="+mj-lt"/>
                        </a:rPr>
                        <a:t>0.32</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a:solidFill>
                            <a:srgbClr val="000000"/>
                          </a:solidFill>
                          <a:effectLst/>
                          <a:latin typeface="+mj-lt"/>
                        </a:rPr>
                        <a:t>0.91</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0</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US" sz="1800" b="0" i="0" u="none" strike="noStrike" dirty="0">
                          <a:solidFill>
                            <a:srgbClr val="000000"/>
                          </a:solidFill>
                          <a:effectLst/>
                          <a:latin typeface="+mj-lt"/>
                        </a:rPr>
                        <a:t>7</a:t>
                      </a:r>
                    </a:p>
                  </a:txBody>
                  <a:tcPr marL="7620" marR="7620" marT="7620"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117399"/>
                  </a:ext>
                </a:extLst>
              </a:tr>
            </a:tbl>
          </a:graphicData>
        </a:graphic>
      </p:graphicFrame>
    </p:spTree>
    <p:extLst>
      <p:ext uri="{BB962C8B-B14F-4D97-AF65-F5344CB8AC3E}">
        <p14:creationId xmlns:p14="http://schemas.microsoft.com/office/powerpoint/2010/main" val="3898174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8A9B1-652F-2F2A-2D7D-DA59B90C72C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044EA00-D365-6390-D3E8-D2E30A9BB687}"/>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DE26C7BC-63D9-5E6E-BDF0-BEE726E6FCBC}"/>
              </a:ext>
            </a:extLst>
          </p:cNvPr>
          <p:cNvSpPr>
            <a:spLocks noGrp="1"/>
          </p:cNvSpPr>
          <p:nvPr>
            <p:ph type="title"/>
          </p:nvPr>
        </p:nvSpPr>
        <p:spPr>
          <a:xfrm>
            <a:off x="457200" y="572018"/>
            <a:ext cx="9110662" cy="571695"/>
          </a:xfrm>
        </p:spPr>
        <p:txBody>
          <a:bodyPr/>
          <a:lstStyle/>
          <a:p>
            <a:r>
              <a:rPr lang="en-US" dirty="0"/>
              <a:t>Data Exploration: Household Travel</a:t>
            </a:r>
          </a:p>
        </p:txBody>
      </p:sp>
      <p:graphicFrame>
        <p:nvGraphicFramePr>
          <p:cNvPr id="5" name="Table 15" descr="Placeholder table example">
            <a:extLst>
              <a:ext uri="{FF2B5EF4-FFF2-40B4-BE49-F238E27FC236}">
                <a16:creationId xmlns:a16="http://schemas.microsoft.com/office/drawing/2014/main" id="{8FC483C1-8E6D-5FAF-0A08-EDBF8F6247A3}"/>
              </a:ext>
            </a:extLst>
          </p:cNvPr>
          <p:cNvGraphicFramePr>
            <a:graphicFrameLocks noGrp="1"/>
          </p:cNvGraphicFramePr>
          <p:nvPr>
            <p:ph type="tbl" sz="quarter" idx="13"/>
            <p:extLst>
              <p:ext uri="{D42A27DB-BD31-4B8C-83A1-F6EECF244321}">
                <p14:modId xmlns:p14="http://schemas.microsoft.com/office/powerpoint/2010/main" val="1720846014"/>
              </p:ext>
            </p:extLst>
          </p:nvPr>
        </p:nvGraphicFramePr>
        <p:xfrm>
          <a:off x="460755" y="1946958"/>
          <a:ext cx="11436955" cy="4079240"/>
        </p:xfrm>
        <a:graphic>
          <a:graphicData uri="http://schemas.openxmlformats.org/drawingml/2006/table">
            <a:tbl>
              <a:tblPr firstRow="1" bandRow="1">
                <a:tableStyleId>{793D81CF-94F2-401A-BA57-92F5A7B2D0C5}</a:tableStyleId>
              </a:tblPr>
              <a:tblGrid>
                <a:gridCol w="3807403">
                  <a:extLst>
                    <a:ext uri="{9D8B030D-6E8A-4147-A177-3AD203B41FA5}">
                      <a16:colId xmlns:a16="http://schemas.microsoft.com/office/drawing/2014/main" val="2086234061"/>
                    </a:ext>
                  </a:extLst>
                </a:gridCol>
                <a:gridCol w="1780621">
                  <a:extLst>
                    <a:ext uri="{9D8B030D-6E8A-4147-A177-3AD203B41FA5}">
                      <a16:colId xmlns:a16="http://schemas.microsoft.com/office/drawing/2014/main" val="3320533348"/>
                    </a:ext>
                  </a:extLst>
                </a:gridCol>
                <a:gridCol w="2169765">
                  <a:extLst>
                    <a:ext uri="{9D8B030D-6E8A-4147-A177-3AD203B41FA5}">
                      <a16:colId xmlns:a16="http://schemas.microsoft.com/office/drawing/2014/main" val="3733586351"/>
                    </a:ext>
                  </a:extLst>
                </a:gridCol>
                <a:gridCol w="1344312">
                  <a:extLst>
                    <a:ext uri="{9D8B030D-6E8A-4147-A177-3AD203B41FA5}">
                      <a16:colId xmlns:a16="http://schemas.microsoft.com/office/drawing/2014/main" val="2371814804"/>
                    </a:ext>
                  </a:extLst>
                </a:gridCol>
                <a:gridCol w="1167427">
                  <a:extLst>
                    <a:ext uri="{9D8B030D-6E8A-4147-A177-3AD203B41FA5}">
                      <a16:colId xmlns:a16="http://schemas.microsoft.com/office/drawing/2014/main" val="676371851"/>
                    </a:ext>
                  </a:extLst>
                </a:gridCol>
                <a:gridCol w="1167427">
                  <a:extLst>
                    <a:ext uri="{9D8B030D-6E8A-4147-A177-3AD203B41FA5}">
                      <a16:colId xmlns:a16="http://schemas.microsoft.com/office/drawing/2014/main" val="2205256955"/>
                    </a:ext>
                  </a:extLst>
                </a:gridCol>
              </a:tblGrid>
              <a:tr h="370840">
                <a:tc>
                  <a:txBody>
                    <a:bodyPr/>
                    <a:lstStyle/>
                    <a:p>
                      <a:r>
                        <a:rPr lang="en-US" dirty="0"/>
                        <a:t>Variables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Data Source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Data Type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Mean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Median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tc>
                  <a:txBody>
                    <a:bodyPr/>
                    <a:lstStyle/>
                    <a:p>
                      <a:r>
                        <a:rPr lang="en-US" dirty="0"/>
                        <a:t>St. Dev</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95671"/>
                    </a:solidFill>
                  </a:tcPr>
                </a:tc>
                <a:extLst>
                  <a:ext uri="{0D108BD9-81ED-4DB2-BD59-A6C34878D82A}">
                    <a16:rowId xmlns:a16="http://schemas.microsoft.com/office/drawing/2014/main" val="677413868"/>
                  </a:ext>
                </a:extLst>
              </a:tr>
              <a:tr h="370840">
                <a:tc>
                  <a:txBody>
                    <a:bodyPr/>
                    <a:lstStyle/>
                    <a:p>
                      <a:r>
                        <a:rPr lang="en-US" dirty="0">
                          <a:solidFill>
                            <a:schemeClr val="bg1"/>
                          </a:solidFill>
                        </a:rPr>
                        <a:t>Household Vehicles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Discrete Integer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2.12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1.31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15509"/>
                  </a:ext>
                </a:extLst>
              </a:tr>
              <a:tr h="370840">
                <a:tc>
                  <a:txBody>
                    <a:bodyPr/>
                    <a:lstStyle/>
                    <a:p>
                      <a:r>
                        <a:rPr lang="en-US" dirty="0">
                          <a:solidFill>
                            <a:schemeClr val="bg1"/>
                          </a:solidFill>
                        </a:rPr>
                        <a:t>Household  Drivers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Discrete Integer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1.92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1.05</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801535"/>
                  </a:ext>
                </a:extLst>
              </a:tr>
              <a:tr h="370840">
                <a:tc>
                  <a:txBody>
                    <a:bodyPr/>
                    <a:lstStyle/>
                    <a:p>
                      <a:r>
                        <a:rPr lang="en-US" dirty="0">
                          <a:solidFill>
                            <a:schemeClr val="bg1"/>
                          </a:solidFill>
                        </a:rPr>
                        <a:t>Household Fulltime Workers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Discrete Integer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1.58</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0.89</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59058"/>
                  </a:ext>
                </a:extLst>
              </a:tr>
              <a:tr h="370840">
                <a:tc>
                  <a:txBody>
                    <a:bodyPr/>
                    <a:lstStyle/>
                    <a:p>
                      <a:r>
                        <a:rPr lang="en-US" dirty="0">
                          <a:solidFill>
                            <a:schemeClr val="bg1"/>
                          </a:solidFill>
                        </a:rPr>
                        <a:t>Household </a:t>
                      </a:r>
                      <a:r>
                        <a:rPr lang="en-US" altLang="zh-CN" dirty="0">
                          <a:solidFill>
                            <a:schemeClr val="bg1"/>
                          </a:solidFill>
                        </a:rPr>
                        <a:t>Parttime Workers</a:t>
                      </a:r>
                      <a:endParaRPr lang="en-US" dirty="0">
                        <a:solidFill>
                          <a:schemeClr val="bg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Discrete Integer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0.31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0.62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255229"/>
                  </a:ext>
                </a:extLst>
              </a:tr>
              <a:tr h="370840">
                <a:tc>
                  <a:txBody>
                    <a:bodyPr/>
                    <a:lstStyle/>
                    <a:p>
                      <a:r>
                        <a:rPr lang="en-US" dirty="0">
                          <a:solidFill>
                            <a:schemeClr val="bg1"/>
                          </a:solidFill>
                        </a:rPr>
                        <a:t>Pickups and Drop-offs Under 18</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Discrete Integer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0.31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0.58</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26095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Pickups and Drop-offs 18+</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Discrete Integer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0.24</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0.32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8422606"/>
                  </a:ext>
                </a:extLst>
              </a:tr>
              <a:tr h="370840">
                <a:tc>
                  <a:txBody>
                    <a:bodyPr/>
                    <a:lstStyle/>
                    <a:p>
                      <a:r>
                        <a:rPr lang="en-US" dirty="0">
                          <a:solidFill>
                            <a:schemeClr val="bg1"/>
                          </a:solidFill>
                        </a:rPr>
                        <a:t>Home to Work Travel Time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HERE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Continuous Floating</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17.37</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15.28</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12.39</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3462831"/>
                  </a:ext>
                </a:extLst>
              </a:tr>
              <a:tr h="370840">
                <a:tc>
                  <a:txBody>
                    <a:bodyPr/>
                    <a:lstStyle/>
                    <a:p>
                      <a:r>
                        <a:rPr lang="en-US" dirty="0">
                          <a:solidFill>
                            <a:schemeClr val="bg1"/>
                          </a:solidFill>
                        </a:rPr>
                        <a:t>Home to Work Travel Distance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HERE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Continuous Floating</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12.42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9.97</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11.58</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874865"/>
                  </a:ext>
                </a:extLst>
              </a:tr>
              <a:tr h="370840">
                <a:tc>
                  <a:txBody>
                    <a:bodyPr/>
                    <a:lstStyle/>
                    <a:p>
                      <a:r>
                        <a:rPr lang="en-US" dirty="0">
                          <a:solidFill>
                            <a:schemeClr val="bg1"/>
                          </a:solidFill>
                        </a:rPr>
                        <a:t>Company NAICS Code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TRP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Nominal Categorical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227817"/>
                  </a:ext>
                </a:extLst>
              </a:tr>
              <a:tr h="370840">
                <a:tc>
                  <a:txBody>
                    <a:bodyPr/>
                    <a:lstStyle/>
                    <a:p>
                      <a:r>
                        <a:rPr lang="en-US" dirty="0">
                          <a:solidFill>
                            <a:schemeClr val="bg1"/>
                          </a:solidFill>
                        </a:rPr>
                        <a:t>ACS Median Income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alpha val="76895"/>
                      </a:schemeClr>
                    </a:solidFill>
                  </a:tcPr>
                </a:tc>
                <a:tc>
                  <a:txBody>
                    <a:bodyPr/>
                    <a:lstStyle/>
                    <a:p>
                      <a:r>
                        <a:rPr lang="en-US" dirty="0"/>
                        <a:t>ACS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Continuous Floating</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 78305.76</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74417</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30479.86</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9106360"/>
                  </a:ext>
                </a:extLst>
              </a:tr>
            </a:tbl>
          </a:graphicData>
        </a:graphic>
      </p:graphicFrame>
    </p:spTree>
    <p:extLst>
      <p:ext uri="{BB962C8B-B14F-4D97-AF65-F5344CB8AC3E}">
        <p14:creationId xmlns:p14="http://schemas.microsoft.com/office/powerpoint/2010/main" val="335012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AE6E1C-8877-124C-40B4-14A639AB65EE}"/>
              </a:ext>
            </a:extLst>
          </p:cNvPr>
          <p:cNvSpPr>
            <a:spLocks noGrp="1"/>
          </p:cNvSpPr>
          <p:nvPr>
            <p:ph type="body" sz="quarter" idx="15"/>
          </p:nvPr>
        </p:nvSpPr>
        <p:spPr/>
        <p:txBody>
          <a:bodyPr/>
          <a:lstStyle/>
          <a:p>
            <a:endParaRPr lang="en-US"/>
          </a:p>
        </p:txBody>
      </p:sp>
      <p:pic>
        <p:nvPicPr>
          <p:cNvPr id="6" name="Chart Placeholder 5">
            <a:extLst>
              <a:ext uri="{FF2B5EF4-FFF2-40B4-BE49-F238E27FC236}">
                <a16:creationId xmlns:a16="http://schemas.microsoft.com/office/drawing/2014/main" id="{B9F108B6-26CC-2BF2-B4E6-2C477F2DEEFC}"/>
              </a:ext>
            </a:extLst>
          </p:cNvPr>
          <p:cNvPicPr>
            <a:picLocks noGrp="1" noChangeAspect="1"/>
          </p:cNvPicPr>
          <p:nvPr>
            <p:ph type="chart" sz="quarter" idx="13"/>
          </p:nvPr>
        </p:nvPicPr>
        <p:blipFill>
          <a:blip r:embed="rId2"/>
          <a:stretch>
            <a:fillRect/>
          </a:stretch>
        </p:blipFill>
        <p:spPr>
          <a:xfrm>
            <a:off x="576262" y="1665287"/>
            <a:ext cx="5191125" cy="4371975"/>
          </a:xfrm>
          <a:prstGeom prst="rect">
            <a:avLst/>
          </a:prstGeom>
        </p:spPr>
      </p:pic>
      <p:sp>
        <p:nvSpPr>
          <p:cNvPr id="5" name="Title 4">
            <a:extLst>
              <a:ext uri="{FF2B5EF4-FFF2-40B4-BE49-F238E27FC236}">
                <a16:creationId xmlns:a16="http://schemas.microsoft.com/office/drawing/2014/main" id="{785BDA2F-1E1C-394E-92E9-55D775FC164C}"/>
              </a:ext>
            </a:extLst>
          </p:cNvPr>
          <p:cNvSpPr>
            <a:spLocks noGrp="1"/>
          </p:cNvSpPr>
          <p:nvPr>
            <p:ph type="title"/>
          </p:nvPr>
        </p:nvSpPr>
        <p:spPr>
          <a:xfrm>
            <a:off x="457200" y="572018"/>
            <a:ext cx="9110662" cy="571695"/>
          </a:xfrm>
        </p:spPr>
        <p:txBody>
          <a:bodyPr/>
          <a:lstStyle/>
          <a:p>
            <a:r>
              <a:rPr lang="en-US" dirty="0"/>
              <a:t>NAICS Code Exploration</a:t>
            </a:r>
          </a:p>
        </p:txBody>
      </p:sp>
      <p:pic>
        <p:nvPicPr>
          <p:cNvPr id="10" name="Chart Placeholder 9">
            <a:extLst>
              <a:ext uri="{FF2B5EF4-FFF2-40B4-BE49-F238E27FC236}">
                <a16:creationId xmlns:a16="http://schemas.microsoft.com/office/drawing/2014/main" id="{EBBF7338-7D11-878C-BB89-62198E9E7EE7}"/>
              </a:ext>
            </a:extLst>
          </p:cNvPr>
          <p:cNvPicPr>
            <a:picLocks noGrp="1" noChangeAspect="1"/>
          </p:cNvPicPr>
          <p:nvPr>
            <p:ph type="chart" sz="quarter" idx="14"/>
          </p:nvPr>
        </p:nvPicPr>
        <p:blipFill>
          <a:blip r:embed="rId3"/>
          <a:stretch>
            <a:fillRect/>
          </a:stretch>
        </p:blipFill>
        <p:spPr>
          <a:xfrm>
            <a:off x="6438900" y="1781606"/>
            <a:ext cx="4914900" cy="4139337"/>
          </a:xfrm>
          <a:prstGeom prst="rect">
            <a:avLst/>
          </a:prstGeom>
        </p:spPr>
      </p:pic>
      <p:sp>
        <p:nvSpPr>
          <p:cNvPr id="11" name="TextBox 10">
            <a:extLst>
              <a:ext uri="{FF2B5EF4-FFF2-40B4-BE49-F238E27FC236}">
                <a16:creationId xmlns:a16="http://schemas.microsoft.com/office/drawing/2014/main" id="{29741187-CDE5-A642-42CF-A164C1796476}"/>
              </a:ext>
            </a:extLst>
          </p:cNvPr>
          <p:cNvSpPr txBox="1"/>
          <p:nvPr/>
        </p:nvSpPr>
        <p:spPr>
          <a:xfrm>
            <a:off x="7010401" y="6014379"/>
            <a:ext cx="4508938" cy="369332"/>
          </a:xfrm>
          <a:prstGeom prst="rect">
            <a:avLst/>
          </a:prstGeom>
          <a:noFill/>
        </p:spPr>
        <p:txBody>
          <a:bodyPr wrap="square" rtlCol="0">
            <a:spAutoFit/>
          </a:bodyPr>
          <a:lstStyle/>
          <a:p>
            <a:r>
              <a:rPr lang="en-US" dirty="0"/>
              <a:t>Telecommute % for All Sectors: 14.03%</a:t>
            </a:r>
          </a:p>
        </p:txBody>
      </p:sp>
    </p:spTree>
    <p:extLst>
      <p:ext uri="{BB962C8B-B14F-4D97-AF65-F5344CB8AC3E}">
        <p14:creationId xmlns:p14="http://schemas.microsoft.com/office/powerpoint/2010/main" val="1089859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0FBC52-685E-B7DC-F1FA-F7563CF92318}"/>
              </a:ext>
            </a:extLst>
          </p:cNvPr>
          <p:cNvSpPr>
            <a:spLocks noGrp="1"/>
          </p:cNvSpPr>
          <p:nvPr>
            <p:ph type="body" sz="quarter" idx="15"/>
          </p:nvPr>
        </p:nvSpPr>
        <p:spPr/>
        <p:txBody>
          <a:bodyPr/>
          <a:lstStyle/>
          <a:p>
            <a:endParaRPr lang="en-US"/>
          </a:p>
        </p:txBody>
      </p:sp>
      <p:pic>
        <p:nvPicPr>
          <p:cNvPr id="7" name="Chart Placeholder 6">
            <a:extLst>
              <a:ext uri="{FF2B5EF4-FFF2-40B4-BE49-F238E27FC236}">
                <a16:creationId xmlns:a16="http://schemas.microsoft.com/office/drawing/2014/main" id="{6F803D72-8C2A-454A-E731-F9E1F0400D86}"/>
              </a:ext>
            </a:extLst>
          </p:cNvPr>
          <p:cNvPicPr>
            <a:picLocks noGrp="1" noChangeAspect="1"/>
          </p:cNvPicPr>
          <p:nvPr>
            <p:ph type="chart" sz="quarter" idx="14"/>
          </p:nvPr>
        </p:nvPicPr>
        <p:blipFill>
          <a:blip r:embed="rId2"/>
          <a:stretch>
            <a:fillRect/>
          </a:stretch>
        </p:blipFill>
        <p:spPr>
          <a:xfrm>
            <a:off x="6438900" y="1781606"/>
            <a:ext cx="4914900" cy="4139337"/>
          </a:xfrm>
          <a:prstGeom prst="rect">
            <a:avLst/>
          </a:prstGeom>
        </p:spPr>
      </p:pic>
      <p:pic>
        <p:nvPicPr>
          <p:cNvPr id="6" name="Chart Placeholder 5">
            <a:extLst>
              <a:ext uri="{FF2B5EF4-FFF2-40B4-BE49-F238E27FC236}">
                <a16:creationId xmlns:a16="http://schemas.microsoft.com/office/drawing/2014/main" id="{045CA11F-C3DD-B854-FCEF-D2AC5BBFD982}"/>
              </a:ext>
            </a:extLst>
          </p:cNvPr>
          <p:cNvPicPr>
            <a:picLocks noGrp="1" noChangeAspect="1"/>
          </p:cNvPicPr>
          <p:nvPr>
            <p:ph type="chart" sz="quarter" idx="13"/>
          </p:nvPr>
        </p:nvPicPr>
        <p:blipFill>
          <a:blip r:embed="rId3"/>
          <a:stretch>
            <a:fillRect/>
          </a:stretch>
        </p:blipFill>
        <p:spPr>
          <a:xfrm>
            <a:off x="576262" y="1665287"/>
            <a:ext cx="5191125" cy="4371975"/>
          </a:xfrm>
          <a:prstGeom prst="rect">
            <a:avLst/>
          </a:prstGeom>
        </p:spPr>
      </p:pic>
      <p:sp>
        <p:nvSpPr>
          <p:cNvPr id="5" name="Title 4">
            <a:extLst>
              <a:ext uri="{FF2B5EF4-FFF2-40B4-BE49-F238E27FC236}">
                <a16:creationId xmlns:a16="http://schemas.microsoft.com/office/drawing/2014/main" id="{3849DBF3-101F-DBC4-CDB0-A9CFA25AB5AF}"/>
              </a:ext>
            </a:extLst>
          </p:cNvPr>
          <p:cNvSpPr>
            <a:spLocks noGrp="1"/>
          </p:cNvSpPr>
          <p:nvPr>
            <p:ph type="title"/>
          </p:nvPr>
        </p:nvSpPr>
        <p:spPr>
          <a:xfrm>
            <a:off x="457200" y="572018"/>
            <a:ext cx="9110662" cy="571695"/>
          </a:xfrm>
        </p:spPr>
        <p:txBody>
          <a:bodyPr/>
          <a:lstStyle/>
          <a:p>
            <a:r>
              <a:rPr lang="en-US" dirty="0"/>
              <a:t>Other Variables Exploration</a:t>
            </a:r>
          </a:p>
        </p:txBody>
      </p:sp>
    </p:spTree>
    <p:extLst>
      <p:ext uri="{BB962C8B-B14F-4D97-AF65-F5344CB8AC3E}">
        <p14:creationId xmlns:p14="http://schemas.microsoft.com/office/powerpoint/2010/main" val="1661853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4A78E2-3648-B768-A4F3-BF715C8489E2}"/>
              </a:ext>
            </a:extLst>
          </p:cNvPr>
          <p:cNvSpPr>
            <a:spLocks noGrp="1"/>
          </p:cNvSpPr>
          <p:nvPr>
            <p:ph type="body" sz="quarter" idx="16"/>
          </p:nvPr>
        </p:nvSpPr>
        <p:spPr/>
        <p:txBody>
          <a:bodyPr/>
          <a:lstStyle/>
          <a:p>
            <a:endParaRPr lang="en-US"/>
          </a:p>
        </p:txBody>
      </p:sp>
      <p:graphicFrame>
        <p:nvGraphicFramePr>
          <p:cNvPr id="7" name="Content Placeholder 6">
            <a:extLst>
              <a:ext uri="{FF2B5EF4-FFF2-40B4-BE49-F238E27FC236}">
                <a16:creationId xmlns:a16="http://schemas.microsoft.com/office/drawing/2014/main" id="{10AA217A-3A11-67EA-5871-FBC30E95432B}"/>
              </a:ext>
            </a:extLst>
          </p:cNvPr>
          <p:cNvGraphicFramePr>
            <a:graphicFrameLocks noGrp="1"/>
          </p:cNvGraphicFramePr>
          <p:nvPr>
            <p:ph sz="quarter" idx="15"/>
            <p:extLst>
              <p:ext uri="{D42A27DB-BD31-4B8C-83A1-F6EECF244321}">
                <p14:modId xmlns:p14="http://schemas.microsoft.com/office/powerpoint/2010/main" val="3258821243"/>
              </p:ext>
            </p:extLst>
          </p:nvPr>
        </p:nvGraphicFramePr>
        <p:xfrm>
          <a:off x="6201103" y="1600199"/>
          <a:ext cx="5652759" cy="4600906"/>
        </p:xfrm>
        <a:graphic>
          <a:graphicData uri="http://schemas.openxmlformats.org/drawingml/2006/table">
            <a:tbl>
              <a:tblPr firstRow="1" bandRow="1">
                <a:tableStyleId>{5C22544A-7EE6-4342-B048-85BDC9FD1C3A}</a:tableStyleId>
              </a:tblPr>
              <a:tblGrid>
                <a:gridCol w="1884253">
                  <a:extLst>
                    <a:ext uri="{9D8B030D-6E8A-4147-A177-3AD203B41FA5}">
                      <a16:colId xmlns:a16="http://schemas.microsoft.com/office/drawing/2014/main" val="1975314069"/>
                    </a:ext>
                  </a:extLst>
                </a:gridCol>
                <a:gridCol w="1884253">
                  <a:extLst>
                    <a:ext uri="{9D8B030D-6E8A-4147-A177-3AD203B41FA5}">
                      <a16:colId xmlns:a16="http://schemas.microsoft.com/office/drawing/2014/main" val="588644624"/>
                    </a:ext>
                  </a:extLst>
                </a:gridCol>
                <a:gridCol w="1884253">
                  <a:extLst>
                    <a:ext uri="{9D8B030D-6E8A-4147-A177-3AD203B41FA5}">
                      <a16:colId xmlns:a16="http://schemas.microsoft.com/office/drawing/2014/main" val="4279239136"/>
                    </a:ext>
                  </a:extLst>
                </a:gridCol>
              </a:tblGrid>
              <a:tr h="444856">
                <a:tc>
                  <a:txBody>
                    <a:bodyPr/>
                    <a:lstStyle/>
                    <a:p>
                      <a:pPr algn="ctr" fontAlgn="b">
                        <a:buNone/>
                      </a:pPr>
                      <a:r>
                        <a:rPr lang="en-US" sz="1600" b="0" i="0" u="none" strike="noStrike" dirty="0">
                          <a:solidFill>
                            <a:schemeClr val="bg1"/>
                          </a:solidFill>
                          <a:effectLst/>
                          <a:latin typeface="+mj-lt"/>
                        </a:rPr>
                        <a:t>Average Values</a:t>
                      </a:r>
                    </a:p>
                  </a:txBody>
                  <a:tcPr marL="7620" marR="7620" marT="7620" marB="0" anchor="b"/>
                </a:tc>
                <a:tc>
                  <a:txBody>
                    <a:bodyPr/>
                    <a:lstStyle/>
                    <a:p>
                      <a:pPr algn="ctr" fontAlgn="b">
                        <a:buNone/>
                      </a:pPr>
                      <a:r>
                        <a:rPr lang="en-US" sz="1600" b="0" i="0" u="none" strike="noStrike" dirty="0">
                          <a:solidFill>
                            <a:schemeClr val="bg1"/>
                          </a:solidFill>
                          <a:effectLst/>
                          <a:latin typeface="+mj-lt"/>
                        </a:rPr>
                        <a:t>Non-Telecommute (0)</a:t>
                      </a:r>
                    </a:p>
                  </a:txBody>
                  <a:tcPr marL="7620" marR="7620" marT="7620" marB="0" anchor="b"/>
                </a:tc>
                <a:tc>
                  <a:txBody>
                    <a:bodyPr/>
                    <a:lstStyle/>
                    <a:p>
                      <a:pPr algn="ctr" fontAlgn="b">
                        <a:buNone/>
                      </a:pPr>
                      <a:r>
                        <a:rPr lang="en-US" sz="1600" b="0" i="0" u="none" strike="noStrike" dirty="0">
                          <a:solidFill>
                            <a:schemeClr val="bg1"/>
                          </a:solidFill>
                          <a:effectLst/>
                          <a:latin typeface="+mj-lt"/>
                        </a:rPr>
                        <a:t>Telecommute (1)</a:t>
                      </a:r>
                    </a:p>
                  </a:txBody>
                  <a:tcPr marL="7620" marR="7620" marT="7620" marB="0" anchor="b"/>
                </a:tc>
                <a:extLst>
                  <a:ext uri="{0D108BD9-81ED-4DB2-BD59-A6C34878D82A}">
                    <a16:rowId xmlns:a16="http://schemas.microsoft.com/office/drawing/2014/main" val="9660163"/>
                  </a:ext>
                </a:extLst>
              </a:tr>
              <a:tr h="444856">
                <a:tc>
                  <a:txBody>
                    <a:bodyPr/>
                    <a:lstStyle/>
                    <a:p>
                      <a:pPr algn="ctr" fontAlgn="b">
                        <a:buNone/>
                      </a:pPr>
                      <a:r>
                        <a:rPr lang="en-US" sz="1200" b="0" i="0" u="none" strike="noStrike" dirty="0">
                          <a:solidFill>
                            <a:srgbClr val="000000"/>
                          </a:solidFill>
                          <a:effectLst/>
                          <a:latin typeface="+mj-lt"/>
                        </a:rPr>
                        <a:t>Household Vehicles</a:t>
                      </a:r>
                    </a:p>
                  </a:txBody>
                  <a:tcPr marL="7620" marR="7620" marT="7620" marB="0" anchor="b"/>
                </a:tc>
                <a:tc>
                  <a:txBody>
                    <a:bodyPr/>
                    <a:lstStyle/>
                    <a:p>
                      <a:pPr algn="ctr" fontAlgn="b">
                        <a:buNone/>
                      </a:pPr>
                      <a:r>
                        <a:rPr lang="en-US" sz="1800" b="0" i="0" u="none" strike="noStrike" dirty="0">
                          <a:solidFill>
                            <a:srgbClr val="000000"/>
                          </a:solidFill>
                          <a:effectLst/>
                          <a:latin typeface="+mj-lt"/>
                        </a:rPr>
                        <a:t>2.11</a:t>
                      </a:r>
                    </a:p>
                  </a:txBody>
                  <a:tcPr marL="7620" marR="7620" marT="7620" marB="0" anchor="b"/>
                </a:tc>
                <a:tc>
                  <a:txBody>
                    <a:bodyPr/>
                    <a:lstStyle/>
                    <a:p>
                      <a:pPr algn="ctr" fontAlgn="b">
                        <a:buNone/>
                      </a:pPr>
                      <a:r>
                        <a:rPr lang="en-US" sz="1800" b="0" i="0" u="none" strike="noStrike" dirty="0">
                          <a:solidFill>
                            <a:srgbClr val="000000"/>
                          </a:solidFill>
                          <a:effectLst/>
                          <a:latin typeface="+mj-lt"/>
                        </a:rPr>
                        <a:t>2.17</a:t>
                      </a:r>
                    </a:p>
                  </a:txBody>
                  <a:tcPr marL="7620" marR="7620" marT="7620" marB="0" anchor="b"/>
                </a:tc>
                <a:extLst>
                  <a:ext uri="{0D108BD9-81ED-4DB2-BD59-A6C34878D82A}">
                    <a16:rowId xmlns:a16="http://schemas.microsoft.com/office/drawing/2014/main" val="1981548057"/>
                  </a:ext>
                </a:extLst>
              </a:tr>
              <a:tr h="444856">
                <a:tc>
                  <a:txBody>
                    <a:bodyPr/>
                    <a:lstStyle/>
                    <a:p>
                      <a:pPr algn="ctr" fontAlgn="b">
                        <a:buNone/>
                      </a:pPr>
                      <a:r>
                        <a:rPr lang="en-US" sz="1200" b="0" i="0" u="none" strike="noStrike" dirty="0">
                          <a:solidFill>
                            <a:srgbClr val="000000"/>
                          </a:solidFill>
                          <a:effectLst/>
                          <a:latin typeface="+mj-lt"/>
                        </a:rPr>
                        <a:t>Household Drivers</a:t>
                      </a:r>
                    </a:p>
                  </a:txBody>
                  <a:tcPr marL="7620" marR="7620" marT="7620" marB="0" anchor="b"/>
                </a:tc>
                <a:tc>
                  <a:txBody>
                    <a:bodyPr/>
                    <a:lstStyle/>
                    <a:p>
                      <a:pPr algn="ctr" fontAlgn="b">
                        <a:buNone/>
                      </a:pPr>
                      <a:r>
                        <a:rPr lang="en-US" sz="1800" b="0" i="0" u="none" strike="noStrike" dirty="0">
                          <a:solidFill>
                            <a:srgbClr val="000000"/>
                          </a:solidFill>
                          <a:effectLst/>
                          <a:latin typeface="+mj-lt"/>
                        </a:rPr>
                        <a:t>1.92</a:t>
                      </a:r>
                    </a:p>
                  </a:txBody>
                  <a:tcPr marL="7620" marR="7620" marT="7620" marB="0" anchor="b"/>
                </a:tc>
                <a:tc>
                  <a:txBody>
                    <a:bodyPr/>
                    <a:lstStyle/>
                    <a:p>
                      <a:pPr algn="ctr" fontAlgn="b">
                        <a:buNone/>
                      </a:pPr>
                      <a:r>
                        <a:rPr lang="en-US" sz="1800" b="0" i="0" u="none" strike="noStrike">
                          <a:solidFill>
                            <a:srgbClr val="000000"/>
                          </a:solidFill>
                          <a:effectLst/>
                          <a:latin typeface="+mj-lt"/>
                        </a:rPr>
                        <a:t>1.94</a:t>
                      </a:r>
                    </a:p>
                  </a:txBody>
                  <a:tcPr marL="7620" marR="7620" marT="7620" marB="0" anchor="b"/>
                </a:tc>
                <a:extLst>
                  <a:ext uri="{0D108BD9-81ED-4DB2-BD59-A6C34878D82A}">
                    <a16:rowId xmlns:a16="http://schemas.microsoft.com/office/drawing/2014/main" val="2096030167"/>
                  </a:ext>
                </a:extLst>
              </a:tr>
              <a:tr h="444856">
                <a:tc>
                  <a:txBody>
                    <a:bodyPr/>
                    <a:lstStyle/>
                    <a:p>
                      <a:pPr algn="ctr" fontAlgn="b">
                        <a:buNone/>
                      </a:pPr>
                      <a:r>
                        <a:rPr lang="en-US" sz="1200" b="0" i="0" u="none" strike="noStrike" dirty="0">
                          <a:solidFill>
                            <a:srgbClr val="000000"/>
                          </a:solidFill>
                          <a:effectLst/>
                          <a:latin typeface="+mj-lt"/>
                        </a:rPr>
                        <a:t>Household Fulltime Workers</a:t>
                      </a:r>
                    </a:p>
                  </a:txBody>
                  <a:tcPr marL="7620" marR="7620" marT="7620" marB="0" anchor="b"/>
                </a:tc>
                <a:tc>
                  <a:txBody>
                    <a:bodyPr/>
                    <a:lstStyle/>
                    <a:p>
                      <a:pPr algn="ctr" fontAlgn="b">
                        <a:buNone/>
                      </a:pPr>
                      <a:r>
                        <a:rPr lang="en-US" sz="1800" b="0" i="0" u="none" strike="noStrike" dirty="0">
                          <a:solidFill>
                            <a:srgbClr val="000000"/>
                          </a:solidFill>
                          <a:effectLst/>
                          <a:latin typeface="+mj-lt"/>
                        </a:rPr>
                        <a:t>1.58</a:t>
                      </a:r>
                    </a:p>
                  </a:txBody>
                  <a:tcPr marL="7620" marR="7620" marT="7620" marB="0" anchor="b"/>
                </a:tc>
                <a:tc>
                  <a:txBody>
                    <a:bodyPr/>
                    <a:lstStyle/>
                    <a:p>
                      <a:pPr algn="ctr" fontAlgn="b">
                        <a:buNone/>
                      </a:pPr>
                      <a:r>
                        <a:rPr lang="en-US" sz="1800" b="0" i="0" u="none" strike="noStrike" dirty="0">
                          <a:solidFill>
                            <a:srgbClr val="000000"/>
                          </a:solidFill>
                          <a:effectLst/>
                          <a:latin typeface="+mj-lt"/>
                        </a:rPr>
                        <a:t>1.59</a:t>
                      </a:r>
                    </a:p>
                  </a:txBody>
                  <a:tcPr marL="7620" marR="7620" marT="7620" marB="0" anchor="b"/>
                </a:tc>
                <a:extLst>
                  <a:ext uri="{0D108BD9-81ED-4DB2-BD59-A6C34878D82A}">
                    <a16:rowId xmlns:a16="http://schemas.microsoft.com/office/drawing/2014/main" val="3865271343"/>
                  </a:ext>
                </a:extLst>
              </a:tr>
              <a:tr h="444856">
                <a:tc>
                  <a:txBody>
                    <a:bodyPr/>
                    <a:lstStyle/>
                    <a:p>
                      <a:pPr algn="ctr" fontAlgn="b">
                        <a:buNone/>
                      </a:pPr>
                      <a:r>
                        <a:rPr lang="en-US" sz="1200" b="0" i="0" u="none" strike="noStrike" dirty="0">
                          <a:solidFill>
                            <a:srgbClr val="000000"/>
                          </a:solidFill>
                          <a:effectLst/>
                          <a:latin typeface="+mj-lt"/>
                        </a:rPr>
                        <a:t>Household Parttime Workers</a:t>
                      </a:r>
                    </a:p>
                  </a:txBody>
                  <a:tcPr marL="7620" marR="7620" marT="7620" marB="0" anchor="b"/>
                </a:tc>
                <a:tc>
                  <a:txBody>
                    <a:bodyPr/>
                    <a:lstStyle/>
                    <a:p>
                      <a:pPr algn="ctr" fontAlgn="b">
                        <a:buNone/>
                      </a:pPr>
                      <a:r>
                        <a:rPr lang="en-US" sz="1800" b="0" i="0" u="none" strike="noStrike" dirty="0">
                          <a:solidFill>
                            <a:srgbClr val="000000"/>
                          </a:solidFill>
                          <a:effectLst/>
                          <a:latin typeface="+mj-lt"/>
                        </a:rPr>
                        <a:t>0.32</a:t>
                      </a:r>
                    </a:p>
                  </a:txBody>
                  <a:tcPr marL="7620" marR="7620" marT="7620" marB="0" anchor="b"/>
                </a:tc>
                <a:tc>
                  <a:txBody>
                    <a:bodyPr/>
                    <a:lstStyle/>
                    <a:p>
                      <a:pPr algn="ctr" fontAlgn="b">
                        <a:buNone/>
                      </a:pPr>
                      <a:r>
                        <a:rPr lang="en-US" sz="1800" b="0" i="0" u="none" strike="noStrike" dirty="0">
                          <a:solidFill>
                            <a:srgbClr val="000000"/>
                          </a:solidFill>
                          <a:effectLst/>
                          <a:latin typeface="+mj-lt"/>
                        </a:rPr>
                        <a:t>0.26</a:t>
                      </a:r>
                    </a:p>
                  </a:txBody>
                  <a:tcPr marL="7620" marR="7620" marT="7620" marB="0" anchor="b"/>
                </a:tc>
                <a:extLst>
                  <a:ext uri="{0D108BD9-81ED-4DB2-BD59-A6C34878D82A}">
                    <a16:rowId xmlns:a16="http://schemas.microsoft.com/office/drawing/2014/main" val="2676905544"/>
                  </a:ext>
                </a:extLst>
              </a:tr>
              <a:tr h="521029">
                <a:tc>
                  <a:txBody>
                    <a:bodyPr/>
                    <a:lstStyle/>
                    <a:p>
                      <a:pPr algn="ctr" fontAlgn="b">
                        <a:buNone/>
                      </a:pPr>
                      <a:r>
                        <a:rPr lang="en-US" sz="1200" b="0" i="0" u="none" strike="noStrike" dirty="0">
                          <a:solidFill>
                            <a:srgbClr val="000000"/>
                          </a:solidFill>
                          <a:effectLst/>
                          <a:latin typeface="+mj-lt"/>
                        </a:rPr>
                        <a:t>Pickup Or Dropoff Under 18</a:t>
                      </a:r>
                    </a:p>
                  </a:txBody>
                  <a:tcPr marL="7620" marR="7620" marT="7620" marB="0" anchor="b"/>
                </a:tc>
                <a:tc>
                  <a:txBody>
                    <a:bodyPr/>
                    <a:lstStyle/>
                    <a:p>
                      <a:pPr algn="ctr" fontAlgn="b">
                        <a:buNone/>
                      </a:pPr>
                      <a:r>
                        <a:rPr lang="en-US" sz="1800" b="0" i="0" u="none" strike="noStrike" dirty="0">
                          <a:solidFill>
                            <a:srgbClr val="000000"/>
                          </a:solidFill>
                          <a:effectLst/>
                          <a:latin typeface="+mj-lt"/>
                        </a:rPr>
                        <a:t>0.23</a:t>
                      </a:r>
                    </a:p>
                  </a:txBody>
                  <a:tcPr marL="7620" marR="7620" marT="7620" marB="0" anchor="b"/>
                </a:tc>
                <a:tc>
                  <a:txBody>
                    <a:bodyPr/>
                    <a:lstStyle/>
                    <a:p>
                      <a:pPr algn="ctr" fontAlgn="b">
                        <a:buNone/>
                      </a:pPr>
                      <a:r>
                        <a:rPr lang="en-US" sz="1800" b="0" i="0" u="none" strike="noStrike" dirty="0">
                          <a:solidFill>
                            <a:srgbClr val="000000"/>
                          </a:solidFill>
                          <a:effectLst/>
                          <a:latin typeface="+mj-lt"/>
                        </a:rPr>
                        <a:t>0.31</a:t>
                      </a:r>
                    </a:p>
                  </a:txBody>
                  <a:tcPr marL="7620" marR="7620" marT="7620" marB="0" anchor="b"/>
                </a:tc>
                <a:extLst>
                  <a:ext uri="{0D108BD9-81ED-4DB2-BD59-A6C34878D82A}">
                    <a16:rowId xmlns:a16="http://schemas.microsoft.com/office/drawing/2014/main" val="4129302491"/>
                  </a:ext>
                </a:extLst>
              </a:tr>
              <a:tr h="444856">
                <a:tc>
                  <a:txBody>
                    <a:bodyPr/>
                    <a:lstStyle/>
                    <a:p>
                      <a:pPr algn="ctr" fontAlgn="b">
                        <a:buNone/>
                      </a:pPr>
                      <a:r>
                        <a:rPr lang="en-US" sz="1200" b="0" i="0" u="none" strike="noStrike" dirty="0">
                          <a:solidFill>
                            <a:srgbClr val="000000"/>
                          </a:solidFill>
                          <a:effectLst/>
                          <a:latin typeface="+mj-lt"/>
                        </a:rPr>
                        <a:t>Pickup Or Dropoff 18 Plus</a:t>
                      </a:r>
                    </a:p>
                  </a:txBody>
                  <a:tcPr marL="7620" marR="7620" marT="7620" marB="0" anchor="b"/>
                </a:tc>
                <a:tc>
                  <a:txBody>
                    <a:bodyPr/>
                    <a:lstStyle/>
                    <a:p>
                      <a:pPr algn="ctr" fontAlgn="b">
                        <a:buNone/>
                      </a:pPr>
                      <a:r>
                        <a:rPr lang="en-US" sz="1800" b="0" i="0" u="none" strike="noStrike" dirty="0">
                          <a:solidFill>
                            <a:srgbClr val="000000"/>
                          </a:solidFill>
                          <a:effectLst/>
                          <a:latin typeface="+mj-lt"/>
                        </a:rPr>
                        <a:t>0.08</a:t>
                      </a:r>
                    </a:p>
                  </a:txBody>
                  <a:tcPr marL="7620" marR="7620" marT="7620" marB="0" anchor="b"/>
                </a:tc>
                <a:tc>
                  <a:txBody>
                    <a:bodyPr/>
                    <a:lstStyle/>
                    <a:p>
                      <a:pPr algn="ctr" fontAlgn="b">
                        <a:buNone/>
                      </a:pPr>
                      <a:r>
                        <a:rPr lang="en-US" sz="1800" b="0" i="0" u="none" strike="noStrike" dirty="0">
                          <a:solidFill>
                            <a:srgbClr val="000000"/>
                          </a:solidFill>
                          <a:effectLst/>
                          <a:latin typeface="+mj-lt"/>
                        </a:rPr>
                        <a:t>0.05</a:t>
                      </a:r>
                    </a:p>
                  </a:txBody>
                  <a:tcPr marL="7620" marR="7620" marT="7620" marB="0" anchor="b"/>
                </a:tc>
                <a:extLst>
                  <a:ext uri="{0D108BD9-81ED-4DB2-BD59-A6C34878D82A}">
                    <a16:rowId xmlns:a16="http://schemas.microsoft.com/office/drawing/2014/main" val="2213331193"/>
                  </a:ext>
                </a:extLst>
              </a:tr>
              <a:tr h="521029">
                <a:tc>
                  <a:txBody>
                    <a:bodyPr/>
                    <a:lstStyle/>
                    <a:p>
                      <a:pPr algn="ctr" fontAlgn="b">
                        <a:buNone/>
                      </a:pPr>
                      <a:r>
                        <a:rPr lang="en-US" sz="1200" b="0" i="0" u="none" strike="noStrike" dirty="0">
                          <a:solidFill>
                            <a:srgbClr val="000000"/>
                          </a:solidFill>
                          <a:effectLst/>
                          <a:latin typeface="+mj-lt"/>
                        </a:rPr>
                        <a:t>Home to Work Travel Time</a:t>
                      </a:r>
                    </a:p>
                  </a:txBody>
                  <a:tcPr marL="7620" marR="7620" marT="7620" marB="0" anchor="b"/>
                </a:tc>
                <a:tc>
                  <a:txBody>
                    <a:bodyPr/>
                    <a:lstStyle/>
                    <a:p>
                      <a:pPr algn="ctr" fontAlgn="b">
                        <a:buNone/>
                      </a:pPr>
                      <a:r>
                        <a:rPr lang="en-US" sz="1800" b="0" i="0" u="none" strike="noStrike" dirty="0">
                          <a:solidFill>
                            <a:srgbClr val="000000"/>
                          </a:solidFill>
                          <a:effectLst/>
                          <a:latin typeface="+mj-lt"/>
                        </a:rPr>
                        <a:t>17.09</a:t>
                      </a:r>
                    </a:p>
                  </a:txBody>
                  <a:tcPr marL="7620" marR="7620" marT="7620" marB="0" anchor="b"/>
                </a:tc>
                <a:tc>
                  <a:txBody>
                    <a:bodyPr/>
                    <a:lstStyle/>
                    <a:p>
                      <a:pPr algn="ctr" fontAlgn="b">
                        <a:buNone/>
                      </a:pPr>
                      <a:r>
                        <a:rPr lang="en-US" sz="1800" b="0" i="0" u="none" strike="noStrike" dirty="0">
                          <a:solidFill>
                            <a:srgbClr val="000000"/>
                          </a:solidFill>
                          <a:effectLst/>
                          <a:latin typeface="+mj-lt"/>
                        </a:rPr>
                        <a:t>19.13</a:t>
                      </a:r>
                    </a:p>
                  </a:txBody>
                  <a:tcPr marL="7620" marR="7620" marT="7620" marB="0" anchor="b"/>
                </a:tc>
                <a:extLst>
                  <a:ext uri="{0D108BD9-81ED-4DB2-BD59-A6C34878D82A}">
                    <a16:rowId xmlns:a16="http://schemas.microsoft.com/office/drawing/2014/main" val="1033061488"/>
                  </a:ext>
                </a:extLst>
              </a:tr>
              <a:tr h="444856">
                <a:tc>
                  <a:txBody>
                    <a:bodyPr/>
                    <a:lstStyle/>
                    <a:p>
                      <a:pPr algn="ctr" fontAlgn="b">
                        <a:buNone/>
                      </a:pPr>
                      <a:r>
                        <a:rPr lang="en-US" sz="1200" b="0" i="0" u="none" strike="noStrike" dirty="0">
                          <a:solidFill>
                            <a:srgbClr val="000000"/>
                          </a:solidFill>
                          <a:effectLst/>
                          <a:latin typeface="+mj-lt"/>
                        </a:rPr>
                        <a:t>Home to Work Distance</a:t>
                      </a:r>
                    </a:p>
                  </a:txBody>
                  <a:tcPr marL="7620" marR="7620" marT="7620" marB="0" anchor="b"/>
                </a:tc>
                <a:tc>
                  <a:txBody>
                    <a:bodyPr/>
                    <a:lstStyle/>
                    <a:p>
                      <a:pPr algn="ctr" fontAlgn="b">
                        <a:buNone/>
                      </a:pPr>
                      <a:r>
                        <a:rPr lang="en-US" sz="1800" b="0" i="0" u="none" strike="noStrike" dirty="0">
                          <a:solidFill>
                            <a:srgbClr val="000000"/>
                          </a:solidFill>
                          <a:effectLst/>
                          <a:latin typeface="+mj-lt"/>
                        </a:rPr>
                        <a:t>12.27</a:t>
                      </a:r>
                    </a:p>
                  </a:txBody>
                  <a:tcPr marL="7620" marR="7620" marT="7620" marB="0" anchor="b"/>
                </a:tc>
                <a:tc>
                  <a:txBody>
                    <a:bodyPr/>
                    <a:lstStyle/>
                    <a:p>
                      <a:pPr algn="ctr" fontAlgn="b">
                        <a:buNone/>
                      </a:pPr>
                      <a:r>
                        <a:rPr lang="en-US" sz="1800" b="0" i="0" u="none" strike="noStrike" dirty="0">
                          <a:solidFill>
                            <a:srgbClr val="000000"/>
                          </a:solidFill>
                          <a:effectLst/>
                          <a:latin typeface="+mj-lt"/>
                        </a:rPr>
                        <a:t>13.33</a:t>
                      </a:r>
                    </a:p>
                  </a:txBody>
                  <a:tcPr marL="7620" marR="7620" marT="7620" marB="0" anchor="b"/>
                </a:tc>
                <a:extLst>
                  <a:ext uri="{0D108BD9-81ED-4DB2-BD59-A6C34878D82A}">
                    <a16:rowId xmlns:a16="http://schemas.microsoft.com/office/drawing/2014/main" val="1277987692"/>
                  </a:ext>
                </a:extLst>
              </a:tr>
              <a:tr h="444856">
                <a:tc>
                  <a:txBody>
                    <a:bodyPr/>
                    <a:lstStyle/>
                    <a:p>
                      <a:pPr algn="ctr" fontAlgn="b">
                        <a:buNone/>
                      </a:pPr>
                      <a:r>
                        <a:rPr lang="en-US" sz="1200" b="0" i="0" u="none" strike="noStrike" dirty="0">
                          <a:solidFill>
                            <a:srgbClr val="000000"/>
                          </a:solidFill>
                          <a:effectLst/>
                          <a:latin typeface="+mj-lt"/>
                        </a:rPr>
                        <a:t>ACS Income</a:t>
                      </a:r>
                    </a:p>
                  </a:txBody>
                  <a:tcPr marL="7620" marR="7620" marT="7620" marB="0" anchor="b"/>
                </a:tc>
                <a:tc>
                  <a:txBody>
                    <a:bodyPr/>
                    <a:lstStyle/>
                    <a:p>
                      <a:pPr algn="ctr" fontAlgn="b">
                        <a:buNone/>
                      </a:pPr>
                      <a:r>
                        <a:rPr lang="en-US" sz="1800" b="0" i="0" u="none" strike="noStrike" dirty="0">
                          <a:solidFill>
                            <a:srgbClr val="000000"/>
                          </a:solidFill>
                          <a:effectLst/>
                          <a:latin typeface="+mj-lt"/>
                        </a:rPr>
                        <a:t>77172.68</a:t>
                      </a:r>
                    </a:p>
                  </a:txBody>
                  <a:tcPr marL="7620" marR="7620" marT="7620" marB="0" anchor="b"/>
                </a:tc>
                <a:tc>
                  <a:txBody>
                    <a:bodyPr/>
                    <a:lstStyle/>
                    <a:p>
                      <a:pPr algn="ctr" fontAlgn="b">
                        <a:buNone/>
                      </a:pPr>
                      <a:r>
                        <a:rPr lang="en-US" sz="1800" b="0" i="0" u="none" strike="noStrike" dirty="0">
                          <a:solidFill>
                            <a:srgbClr val="000000"/>
                          </a:solidFill>
                          <a:effectLst/>
                          <a:latin typeface="+mj-lt"/>
                        </a:rPr>
                        <a:t>85249.15</a:t>
                      </a:r>
                    </a:p>
                  </a:txBody>
                  <a:tcPr marL="7620" marR="7620" marT="7620" marB="0" anchor="b"/>
                </a:tc>
                <a:extLst>
                  <a:ext uri="{0D108BD9-81ED-4DB2-BD59-A6C34878D82A}">
                    <a16:rowId xmlns:a16="http://schemas.microsoft.com/office/drawing/2014/main" val="1182414427"/>
                  </a:ext>
                </a:extLst>
              </a:tr>
            </a:tbl>
          </a:graphicData>
        </a:graphic>
      </p:graphicFrame>
      <p:pic>
        <p:nvPicPr>
          <p:cNvPr id="6" name="Content Placeholder 5">
            <a:extLst>
              <a:ext uri="{FF2B5EF4-FFF2-40B4-BE49-F238E27FC236}">
                <a16:creationId xmlns:a16="http://schemas.microsoft.com/office/drawing/2014/main" id="{E245E8DD-F097-23B7-35BE-4B6232AAA63A}"/>
              </a:ext>
            </a:extLst>
          </p:cNvPr>
          <p:cNvPicPr>
            <a:picLocks noGrp="1" noChangeAspect="1"/>
          </p:cNvPicPr>
          <p:nvPr>
            <p:ph sz="quarter" idx="13"/>
          </p:nvPr>
        </p:nvPicPr>
        <p:blipFill>
          <a:blip r:embed="rId3"/>
          <a:stretch>
            <a:fillRect/>
          </a:stretch>
        </p:blipFill>
        <p:spPr>
          <a:xfrm>
            <a:off x="621506" y="1617662"/>
            <a:ext cx="5191125" cy="4371975"/>
          </a:xfrm>
          <a:prstGeom prst="rect">
            <a:avLst/>
          </a:prstGeom>
        </p:spPr>
      </p:pic>
      <p:sp>
        <p:nvSpPr>
          <p:cNvPr id="5" name="Title 4">
            <a:extLst>
              <a:ext uri="{FF2B5EF4-FFF2-40B4-BE49-F238E27FC236}">
                <a16:creationId xmlns:a16="http://schemas.microsoft.com/office/drawing/2014/main" id="{0D500922-720D-1E6B-AB3D-ADC1B2D083DA}"/>
              </a:ext>
            </a:extLst>
          </p:cNvPr>
          <p:cNvSpPr>
            <a:spLocks noGrp="1"/>
          </p:cNvSpPr>
          <p:nvPr>
            <p:ph type="title"/>
          </p:nvPr>
        </p:nvSpPr>
        <p:spPr>
          <a:xfrm>
            <a:off x="457200" y="572018"/>
            <a:ext cx="9110662" cy="571695"/>
          </a:xfrm>
        </p:spPr>
        <p:txBody>
          <a:bodyPr/>
          <a:lstStyle/>
          <a:p>
            <a:r>
              <a:rPr lang="en-US" dirty="0"/>
              <a:t>Other Variables Exploration</a:t>
            </a:r>
          </a:p>
        </p:txBody>
      </p:sp>
    </p:spTree>
    <p:extLst>
      <p:ext uri="{BB962C8B-B14F-4D97-AF65-F5344CB8AC3E}">
        <p14:creationId xmlns:p14="http://schemas.microsoft.com/office/powerpoint/2010/main" val="3491063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543B1A-FFDF-8DA6-80C2-2F6DDC6B1EFB}"/>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EFB563A9-B2FD-3C6A-9B1A-59CB3E7A765C}"/>
              </a:ext>
            </a:extLst>
          </p:cNvPr>
          <p:cNvSpPr>
            <a:spLocks noGrp="1"/>
          </p:cNvSpPr>
          <p:nvPr>
            <p:ph type="title"/>
          </p:nvPr>
        </p:nvSpPr>
        <p:spPr>
          <a:xfrm>
            <a:off x="457200" y="572018"/>
            <a:ext cx="9110662" cy="571695"/>
          </a:xfrm>
        </p:spPr>
        <p:txBody>
          <a:bodyPr/>
          <a:lstStyle/>
          <a:p>
            <a:r>
              <a:rPr lang="en-US" dirty="0"/>
              <a:t>Correlation Matrix</a:t>
            </a:r>
          </a:p>
        </p:txBody>
      </p:sp>
      <p:pic>
        <p:nvPicPr>
          <p:cNvPr id="13" name="Chart Placeholder 12">
            <a:extLst>
              <a:ext uri="{FF2B5EF4-FFF2-40B4-BE49-F238E27FC236}">
                <a16:creationId xmlns:a16="http://schemas.microsoft.com/office/drawing/2014/main" id="{B7C69CCB-A3D5-F4C9-1D60-BD5FE430219E}"/>
              </a:ext>
            </a:extLst>
          </p:cNvPr>
          <p:cNvPicPr>
            <a:picLocks noGrp="1" noChangeAspect="1"/>
          </p:cNvPicPr>
          <p:nvPr>
            <p:ph type="chart" sz="quarter" idx="13"/>
          </p:nvPr>
        </p:nvPicPr>
        <p:blipFill>
          <a:blip r:embed="rId3"/>
          <a:stretch>
            <a:fillRect/>
          </a:stretch>
        </p:blipFill>
        <p:spPr>
          <a:xfrm>
            <a:off x="2984939" y="1524000"/>
            <a:ext cx="6542178" cy="4906634"/>
          </a:xfrm>
          <a:prstGeom prst="rect">
            <a:avLst/>
          </a:prstGeom>
        </p:spPr>
      </p:pic>
    </p:spTree>
    <p:extLst>
      <p:ext uri="{BB962C8B-B14F-4D97-AF65-F5344CB8AC3E}">
        <p14:creationId xmlns:p14="http://schemas.microsoft.com/office/powerpoint/2010/main" val="313437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8377-7335-3A33-3F37-1AEFFAFC0A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D45BF6-1109-F72E-8100-3900E25682C4}"/>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3678D734-0001-14EB-E634-EF83A0B6B693}"/>
              </a:ext>
            </a:extLst>
          </p:cNvPr>
          <p:cNvSpPr>
            <a:spLocks noGrp="1"/>
          </p:cNvSpPr>
          <p:nvPr>
            <p:ph sz="quarter" idx="13"/>
          </p:nvPr>
        </p:nvSpPr>
        <p:spPr>
          <a:xfrm>
            <a:off x="471744" y="1477388"/>
            <a:ext cx="11270489" cy="5034712"/>
          </a:xfrm>
        </p:spPr>
        <p:txBody>
          <a:bodyPr/>
          <a:lstStyle/>
          <a:p>
            <a:r>
              <a:rPr lang="en-US" dirty="0"/>
              <a:t>Purpose: Predict if a Worker Telecommutes (Telecommute Days &gt; 0)</a:t>
            </a:r>
          </a:p>
          <a:p>
            <a:r>
              <a:rPr lang="en-US" dirty="0"/>
              <a:t>Data Preprocessing for Classification</a:t>
            </a:r>
          </a:p>
          <a:p>
            <a:pPr lvl="1"/>
            <a:r>
              <a:rPr lang="en-US" dirty="0"/>
              <a:t>Split the Data into 70% Training Data and 30% Testing Data.</a:t>
            </a:r>
          </a:p>
          <a:p>
            <a:pPr lvl="1"/>
            <a:r>
              <a:rPr lang="en-US" dirty="0"/>
              <a:t>Impute Missing Values.</a:t>
            </a:r>
          </a:p>
          <a:p>
            <a:pPr lvl="1"/>
            <a:r>
              <a:rPr lang="en-US" dirty="0"/>
              <a:t>Create Classification Variable: Telecommute Days &gt; 0.</a:t>
            </a:r>
          </a:p>
          <a:p>
            <a:r>
              <a:rPr lang="en-US" altLang="zh-CN" dirty="0"/>
              <a:t>Classification Models:</a:t>
            </a:r>
          </a:p>
          <a:p>
            <a:pPr lvl="1"/>
            <a:r>
              <a:rPr lang="en-US" dirty="0"/>
              <a:t>Probit Regression</a:t>
            </a:r>
          </a:p>
          <a:p>
            <a:pPr lvl="1"/>
            <a:r>
              <a:rPr lang="en-US" dirty="0"/>
              <a:t>Naïve Bayes</a:t>
            </a:r>
          </a:p>
          <a:p>
            <a:pPr lvl="1"/>
            <a:r>
              <a:rPr lang="en-US" dirty="0"/>
              <a:t>Support Vector Machine</a:t>
            </a:r>
          </a:p>
          <a:p>
            <a:pPr lvl="1"/>
            <a:r>
              <a:rPr lang="en-US" dirty="0"/>
              <a:t>Decision Tree</a:t>
            </a:r>
          </a:p>
          <a:p>
            <a:pPr lvl="1"/>
            <a:r>
              <a:rPr lang="en-US" dirty="0"/>
              <a:t>Random Forest</a:t>
            </a:r>
          </a:p>
          <a:p>
            <a:pPr lvl="1"/>
            <a:r>
              <a:rPr lang="en-US" dirty="0" err="1"/>
              <a:t>XGBoost</a:t>
            </a:r>
            <a:endParaRPr lang="en-US" dirty="0"/>
          </a:p>
        </p:txBody>
      </p:sp>
      <p:sp>
        <p:nvSpPr>
          <p:cNvPr id="4" name="Title 3">
            <a:extLst>
              <a:ext uri="{FF2B5EF4-FFF2-40B4-BE49-F238E27FC236}">
                <a16:creationId xmlns:a16="http://schemas.microsoft.com/office/drawing/2014/main" id="{34572767-0A30-6489-C1AE-305057AE4395}"/>
              </a:ext>
            </a:extLst>
          </p:cNvPr>
          <p:cNvSpPr>
            <a:spLocks noGrp="1"/>
          </p:cNvSpPr>
          <p:nvPr>
            <p:ph type="title"/>
          </p:nvPr>
        </p:nvSpPr>
        <p:spPr>
          <a:xfrm>
            <a:off x="457200" y="574102"/>
            <a:ext cx="9110662" cy="567528"/>
          </a:xfrm>
        </p:spPr>
        <p:txBody>
          <a:bodyPr/>
          <a:lstStyle/>
          <a:p>
            <a:r>
              <a:rPr lang="en-US" dirty="0"/>
              <a:t>Data Mining: Classification</a:t>
            </a:r>
          </a:p>
        </p:txBody>
      </p:sp>
    </p:spTree>
    <p:extLst>
      <p:ext uri="{BB962C8B-B14F-4D97-AF65-F5344CB8AC3E}">
        <p14:creationId xmlns:p14="http://schemas.microsoft.com/office/powerpoint/2010/main" val="2055812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17DC1-DBFE-811D-027B-B68F42F845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37078B-B06D-819E-11AB-D272D799132A}"/>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C6F6F6E0-E6C8-C078-6D7A-F133D00807E1}"/>
              </a:ext>
            </a:extLst>
          </p:cNvPr>
          <p:cNvSpPr>
            <a:spLocks noGrp="1"/>
          </p:cNvSpPr>
          <p:nvPr>
            <p:ph type="title"/>
          </p:nvPr>
        </p:nvSpPr>
        <p:spPr>
          <a:xfrm>
            <a:off x="457200" y="572018"/>
            <a:ext cx="9110662" cy="571695"/>
          </a:xfrm>
        </p:spPr>
        <p:txBody>
          <a:bodyPr/>
          <a:lstStyle/>
          <a:p>
            <a:r>
              <a:rPr lang="en-US" dirty="0"/>
              <a:t>Classifications Confusion Matrices</a:t>
            </a:r>
          </a:p>
        </p:txBody>
      </p:sp>
      <p:graphicFrame>
        <p:nvGraphicFramePr>
          <p:cNvPr id="7" name="Table Placeholder 6">
            <a:extLst>
              <a:ext uri="{FF2B5EF4-FFF2-40B4-BE49-F238E27FC236}">
                <a16:creationId xmlns:a16="http://schemas.microsoft.com/office/drawing/2014/main" id="{AEED32CE-330C-BAD4-80ED-2FA1E34385FF}"/>
              </a:ext>
            </a:extLst>
          </p:cNvPr>
          <p:cNvGraphicFramePr>
            <a:graphicFrameLocks noGrp="1"/>
          </p:cNvGraphicFramePr>
          <p:nvPr>
            <p:ph type="tbl" sz="quarter" idx="13"/>
            <p:extLst>
              <p:ext uri="{D42A27DB-BD31-4B8C-83A1-F6EECF244321}">
                <p14:modId xmlns:p14="http://schemas.microsoft.com/office/powerpoint/2010/main" val="3864049330"/>
              </p:ext>
            </p:extLst>
          </p:nvPr>
        </p:nvGraphicFramePr>
        <p:xfrm>
          <a:off x="5749041" y="4730606"/>
          <a:ext cx="4498428" cy="1112520"/>
        </p:xfrm>
        <a:graphic>
          <a:graphicData uri="http://schemas.openxmlformats.org/drawingml/2006/table">
            <a:tbl>
              <a:tblPr firstRow="1" bandRow="1">
                <a:tableStyleId>{5C22544A-7EE6-4342-B048-85BDC9FD1C3A}</a:tableStyleId>
              </a:tblPr>
              <a:tblGrid>
                <a:gridCol w="2007476">
                  <a:extLst>
                    <a:ext uri="{9D8B030D-6E8A-4147-A177-3AD203B41FA5}">
                      <a16:colId xmlns:a16="http://schemas.microsoft.com/office/drawing/2014/main" val="1455885858"/>
                    </a:ext>
                  </a:extLst>
                </a:gridCol>
                <a:gridCol w="1266496">
                  <a:extLst>
                    <a:ext uri="{9D8B030D-6E8A-4147-A177-3AD203B41FA5}">
                      <a16:colId xmlns:a16="http://schemas.microsoft.com/office/drawing/2014/main" val="2159612727"/>
                    </a:ext>
                  </a:extLst>
                </a:gridCol>
                <a:gridCol w="1224456">
                  <a:extLst>
                    <a:ext uri="{9D8B030D-6E8A-4147-A177-3AD203B41FA5}">
                      <a16:colId xmlns:a16="http://schemas.microsoft.com/office/drawing/2014/main" val="1227531083"/>
                    </a:ext>
                  </a:extLst>
                </a:gridCol>
              </a:tblGrid>
              <a:tr h="370840">
                <a:tc>
                  <a:txBody>
                    <a:bodyPr/>
                    <a:lstStyle/>
                    <a:p>
                      <a:r>
                        <a:rPr lang="en-US" dirty="0"/>
                        <a:t>Prediction\Label</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985021233"/>
                  </a:ext>
                </a:extLst>
              </a:tr>
              <a:tr h="370840">
                <a:tc>
                  <a:txBody>
                    <a:bodyPr/>
                    <a:lstStyle/>
                    <a:p>
                      <a:r>
                        <a:rPr lang="en-US" dirty="0"/>
                        <a:t>0</a:t>
                      </a:r>
                    </a:p>
                  </a:txBody>
                  <a:tcPr/>
                </a:tc>
                <a:tc>
                  <a:txBody>
                    <a:bodyPr/>
                    <a:lstStyle/>
                    <a:p>
                      <a:r>
                        <a:rPr lang="en-US" dirty="0"/>
                        <a:t>9480</a:t>
                      </a:r>
                    </a:p>
                  </a:txBody>
                  <a:tcPr/>
                </a:tc>
                <a:tc>
                  <a:txBody>
                    <a:bodyPr/>
                    <a:lstStyle/>
                    <a:p>
                      <a:r>
                        <a:rPr lang="en-US" dirty="0"/>
                        <a:t>1055</a:t>
                      </a:r>
                    </a:p>
                  </a:txBody>
                  <a:tcPr/>
                </a:tc>
                <a:extLst>
                  <a:ext uri="{0D108BD9-81ED-4DB2-BD59-A6C34878D82A}">
                    <a16:rowId xmlns:a16="http://schemas.microsoft.com/office/drawing/2014/main" val="128431785"/>
                  </a:ext>
                </a:extLst>
              </a:tr>
              <a:tr h="370840">
                <a:tc>
                  <a:txBody>
                    <a:bodyPr/>
                    <a:lstStyle/>
                    <a:p>
                      <a:r>
                        <a:rPr lang="en-US" dirty="0"/>
                        <a:t>1</a:t>
                      </a:r>
                    </a:p>
                  </a:txBody>
                  <a:tcPr/>
                </a:tc>
                <a:tc>
                  <a:txBody>
                    <a:bodyPr/>
                    <a:lstStyle/>
                    <a:p>
                      <a:r>
                        <a:rPr lang="en-US" dirty="0"/>
                        <a:t>1052</a:t>
                      </a:r>
                    </a:p>
                  </a:txBody>
                  <a:tcPr/>
                </a:tc>
                <a:tc>
                  <a:txBody>
                    <a:bodyPr/>
                    <a:lstStyle/>
                    <a:p>
                      <a:r>
                        <a:rPr lang="en-US" dirty="0"/>
                        <a:t>663</a:t>
                      </a:r>
                    </a:p>
                  </a:txBody>
                  <a:tcPr/>
                </a:tc>
                <a:extLst>
                  <a:ext uri="{0D108BD9-81ED-4DB2-BD59-A6C34878D82A}">
                    <a16:rowId xmlns:a16="http://schemas.microsoft.com/office/drawing/2014/main" val="4003357521"/>
                  </a:ext>
                </a:extLst>
              </a:tr>
            </a:tbl>
          </a:graphicData>
        </a:graphic>
      </p:graphicFrame>
      <p:graphicFrame>
        <p:nvGraphicFramePr>
          <p:cNvPr id="8" name="Table Placeholder 6">
            <a:extLst>
              <a:ext uri="{FF2B5EF4-FFF2-40B4-BE49-F238E27FC236}">
                <a16:creationId xmlns:a16="http://schemas.microsoft.com/office/drawing/2014/main" id="{5FE20C2B-5B40-8AAB-0DF4-8C95CCC5FD67}"/>
              </a:ext>
            </a:extLst>
          </p:cNvPr>
          <p:cNvGraphicFramePr>
            <a:graphicFrameLocks/>
          </p:cNvGraphicFramePr>
          <p:nvPr>
            <p:extLst>
              <p:ext uri="{D42A27DB-BD31-4B8C-83A1-F6EECF244321}">
                <p14:modId xmlns:p14="http://schemas.microsoft.com/office/powerpoint/2010/main" val="3362792335"/>
              </p:ext>
            </p:extLst>
          </p:nvPr>
        </p:nvGraphicFramePr>
        <p:xfrm>
          <a:off x="514103" y="1450240"/>
          <a:ext cx="4498428" cy="1112520"/>
        </p:xfrm>
        <a:graphic>
          <a:graphicData uri="http://schemas.openxmlformats.org/drawingml/2006/table">
            <a:tbl>
              <a:tblPr firstRow="1" bandRow="1">
                <a:tableStyleId>{5C22544A-7EE6-4342-B048-85BDC9FD1C3A}</a:tableStyleId>
              </a:tblPr>
              <a:tblGrid>
                <a:gridCol w="2007476">
                  <a:extLst>
                    <a:ext uri="{9D8B030D-6E8A-4147-A177-3AD203B41FA5}">
                      <a16:colId xmlns:a16="http://schemas.microsoft.com/office/drawing/2014/main" val="1455885858"/>
                    </a:ext>
                  </a:extLst>
                </a:gridCol>
                <a:gridCol w="1266496">
                  <a:extLst>
                    <a:ext uri="{9D8B030D-6E8A-4147-A177-3AD203B41FA5}">
                      <a16:colId xmlns:a16="http://schemas.microsoft.com/office/drawing/2014/main" val="2159612727"/>
                    </a:ext>
                  </a:extLst>
                </a:gridCol>
                <a:gridCol w="1224456">
                  <a:extLst>
                    <a:ext uri="{9D8B030D-6E8A-4147-A177-3AD203B41FA5}">
                      <a16:colId xmlns:a16="http://schemas.microsoft.com/office/drawing/2014/main" val="1227531083"/>
                    </a:ext>
                  </a:extLst>
                </a:gridCol>
              </a:tblGrid>
              <a:tr h="370840">
                <a:tc>
                  <a:txBody>
                    <a:bodyPr/>
                    <a:lstStyle/>
                    <a:p>
                      <a:r>
                        <a:rPr lang="en-US" dirty="0"/>
                        <a:t>Prediction\Label</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985021233"/>
                  </a:ext>
                </a:extLst>
              </a:tr>
              <a:tr h="370840">
                <a:tc>
                  <a:txBody>
                    <a:bodyPr/>
                    <a:lstStyle/>
                    <a:p>
                      <a:r>
                        <a:rPr lang="en-US" dirty="0"/>
                        <a:t>0</a:t>
                      </a:r>
                    </a:p>
                  </a:txBody>
                  <a:tcPr/>
                </a:tc>
                <a:tc>
                  <a:txBody>
                    <a:bodyPr/>
                    <a:lstStyle/>
                    <a:p>
                      <a:r>
                        <a:rPr lang="en-US" dirty="0"/>
                        <a:t>9458</a:t>
                      </a:r>
                    </a:p>
                  </a:txBody>
                  <a:tcPr/>
                </a:tc>
                <a:tc>
                  <a:txBody>
                    <a:bodyPr/>
                    <a:lstStyle/>
                    <a:p>
                      <a:r>
                        <a:rPr lang="en-US" dirty="0"/>
                        <a:t>1073</a:t>
                      </a:r>
                    </a:p>
                  </a:txBody>
                  <a:tcPr/>
                </a:tc>
                <a:extLst>
                  <a:ext uri="{0D108BD9-81ED-4DB2-BD59-A6C34878D82A}">
                    <a16:rowId xmlns:a16="http://schemas.microsoft.com/office/drawing/2014/main" val="128431785"/>
                  </a:ext>
                </a:extLst>
              </a:tr>
              <a:tr h="370840">
                <a:tc>
                  <a:txBody>
                    <a:bodyPr/>
                    <a:lstStyle/>
                    <a:p>
                      <a:r>
                        <a:rPr lang="en-US" dirty="0"/>
                        <a:t>1</a:t>
                      </a:r>
                    </a:p>
                  </a:txBody>
                  <a:tcPr/>
                </a:tc>
                <a:tc>
                  <a:txBody>
                    <a:bodyPr/>
                    <a:lstStyle/>
                    <a:p>
                      <a:r>
                        <a:rPr lang="en-US" dirty="0"/>
                        <a:t>1074</a:t>
                      </a:r>
                    </a:p>
                  </a:txBody>
                  <a:tcPr/>
                </a:tc>
                <a:tc>
                  <a:txBody>
                    <a:bodyPr/>
                    <a:lstStyle/>
                    <a:p>
                      <a:r>
                        <a:rPr lang="en-US" dirty="0"/>
                        <a:t>645</a:t>
                      </a:r>
                    </a:p>
                  </a:txBody>
                  <a:tcPr/>
                </a:tc>
                <a:extLst>
                  <a:ext uri="{0D108BD9-81ED-4DB2-BD59-A6C34878D82A}">
                    <a16:rowId xmlns:a16="http://schemas.microsoft.com/office/drawing/2014/main" val="4003357521"/>
                  </a:ext>
                </a:extLst>
              </a:tr>
            </a:tbl>
          </a:graphicData>
        </a:graphic>
      </p:graphicFrame>
      <p:sp>
        <p:nvSpPr>
          <p:cNvPr id="9" name="TextBox 8">
            <a:extLst>
              <a:ext uri="{FF2B5EF4-FFF2-40B4-BE49-F238E27FC236}">
                <a16:creationId xmlns:a16="http://schemas.microsoft.com/office/drawing/2014/main" id="{C3E078F9-BFE9-AF84-8A5C-BB6864B55E87}"/>
              </a:ext>
            </a:extLst>
          </p:cNvPr>
          <p:cNvSpPr txBox="1"/>
          <p:nvPr/>
        </p:nvSpPr>
        <p:spPr>
          <a:xfrm>
            <a:off x="1991218" y="1143713"/>
            <a:ext cx="1430392" cy="369332"/>
          </a:xfrm>
          <a:prstGeom prst="rect">
            <a:avLst/>
          </a:prstGeom>
          <a:noFill/>
        </p:spPr>
        <p:txBody>
          <a:bodyPr wrap="none" rtlCol="0">
            <a:spAutoFit/>
          </a:bodyPr>
          <a:lstStyle/>
          <a:p>
            <a:r>
              <a:rPr lang="en-US" dirty="0"/>
              <a:t>Probit Model</a:t>
            </a:r>
          </a:p>
        </p:txBody>
      </p:sp>
      <p:graphicFrame>
        <p:nvGraphicFramePr>
          <p:cNvPr id="10" name="Table Placeholder 6">
            <a:extLst>
              <a:ext uri="{FF2B5EF4-FFF2-40B4-BE49-F238E27FC236}">
                <a16:creationId xmlns:a16="http://schemas.microsoft.com/office/drawing/2014/main" id="{18591531-8AD7-7662-BEF0-9DE7B8CA60A7}"/>
              </a:ext>
            </a:extLst>
          </p:cNvPr>
          <p:cNvGraphicFramePr>
            <a:graphicFrameLocks/>
          </p:cNvGraphicFramePr>
          <p:nvPr>
            <p:extLst>
              <p:ext uri="{D42A27DB-BD31-4B8C-83A1-F6EECF244321}">
                <p14:modId xmlns:p14="http://schemas.microsoft.com/office/powerpoint/2010/main" val="2619390729"/>
              </p:ext>
            </p:extLst>
          </p:nvPr>
        </p:nvGraphicFramePr>
        <p:xfrm>
          <a:off x="5351789" y="1450240"/>
          <a:ext cx="4498428" cy="1112520"/>
        </p:xfrm>
        <a:graphic>
          <a:graphicData uri="http://schemas.openxmlformats.org/drawingml/2006/table">
            <a:tbl>
              <a:tblPr firstRow="1" bandRow="1">
                <a:tableStyleId>{5C22544A-7EE6-4342-B048-85BDC9FD1C3A}</a:tableStyleId>
              </a:tblPr>
              <a:tblGrid>
                <a:gridCol w="2007476">
                  <a:extLst>
                    <a:ext uri="{9D8B030D-6E8A-4147-A177-3AD203B41FA5}">
                      <a16:colId xmlns:a16="http://schemas.microsoft.com/office/drawing/2014/main" val="1455885858"/>
                    </a:ext>
                  </a:extLst>
                </a:gridCol>
                <a:gridCol w="1266496">
                  <a:extLst>
                    <a:ext uri="{9D8B030D-6E8A-4147-A177-3AD203B41FA5}">
                      <a16:colId xmlns:a16="http://schemas.microsoft.com/office/drawing/2014/main" val="2159612727"/>
                    </a:ext>
                  </a:extLst>
                </a:gridCol>
                <a:gridCol w="1224456">
                  <a:extLst>
                    <a:ext uri="{9D8B030D-6E8A-4147-A177-3AD203B41FA5}">
                      <a16:colId xmlns:a16="http://schemas.microsoft.com/office/drawing/2014/main" val="1227531083"/>
                    </a:ext>
                  </a:extLst>
                </a:gridCol>
              </a:tblGrid>
              <a:tr h="370840">
                <a:tc>
                  <a:txBody>
                    <a:bodyPr/>
                    <a:lstStyle/>
                    <a:p>
                      <a:r>
                        <a:rPr lang="en-US" dirty="0"/>
                        <a:t>Prediction\Label</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985021233"/>
                  </a:ext>
                </a:extLst>
              </a:tr>
              <a:tr h="370840">
                <a:tc>
                  <a:txBody>
                    <a:bodyPr/>
                    <a:lstStyle/>
                    <a:p>
                      <a:r>
                        <a:rPr lang="en-US" dirty="0"/>
                        <a:t>0</a:t>
                      </a:r>
                    </a:p>
                  </a:txBody>
                  <a:tcPr/>
                </a:tc>
                <a:tc>
                  <a:txBody>
                    <a:bodyPr/>
                    <a:lstStyle/>
                    <a:p>
                      <a:r>
                        <a:rPr lang="en-US" dirty="0"/>
                        <a:t>9410</a:t>
                      </a:r>
                    </a:p>
                  </a:txBody>
                  <a:tcPr/>
                </a:tc>
                <a:tc>
                  <a:txBody>
                    <a:bodyPr/>
                    <a:lstStyle/>
                    <a:p>
                      <a:r>
                        <a:rPr lang="en-US" dirty="0"/>
                        <a:t>1121</a:t>
                      </a:r>
                    </a:p>
                  </a:txBody>
                  <a:tcPr/>
                </a:tc>
                <a:extLst>
                  <a:ext uri="{0D108BD9-81ED-4DB2-BD59-A6C34878D82A}">
                    <a16:rowId xmlns:a16="http://schemas.microsoft.com/office/drawing/2014/main" val="128431785"/>
                  </a:ext>
                </a:extLst>
              </a:tr>
              <a:tr h="370840">
                <a:tc>
                  <a:txBody>
                    <a:bodyPr/>
                    <a:lstStyle/>
                    <a:p>
                      <a:r>
                        <a:rPr lang="en-US" dirty="0"/>
                        <a:t>1</a:t>
                      </a:r>
                    </a:p>
                  </a:txBody>
                  <a:tcPr/>
                </a:tc>
                <a:tc>
                  <a:txBody>
                    <a:bodyPr/>
                    <a:lstStyle/>
                    <a:p>
                      <a:r>
                        <a:rPr lang="en-US" dirty="0"/>
                        <a:t>1122</a:t>
                      </a:r>
                    </a:p>
                  </a:txBody>
                  <a:tcPr/>
                </a:tc>
                <a:tc>
                  <a:txBody>
                    <a:bodyPr/>
                    <a:lstStyle/>
                    <a:p>
                      <a:r>
                        <a:rPr lang="en-US" dirty="0"/>
                        <a:t>597</a:t>
                      </a:r>
                    </a:p>
                  </a:txBody>
                  <a:tcPr/>
                </a:tc>
                <a:extLst>
                  <a:ext uri="{0D108BD9-81ED-4DB2-BD59-A6C34878D82A}">
                    <a16:rowId xmlns:a16="http://schemas.microsoft.com/office/drawing/2014/main" val="4003357521"/>
                  </a:ext>
                </a:extLst>
              </a:tr>
            </a:tbl>
          </a:graphicData>
        </a:graphic>
      </p:graphicFrame>
      <p:sp>
        <p:nvSpPr>
          <p:cNvPr id="11" name="TextBox 10">
            <a:extLst>
              <a:ext uri="{FF2B5EF4-FFF2-40B4-BE49-F238E27FC236}">
                <a16:creationId xmlns:a16="http://schemas.microsoft.com/office/drawing/2014/main" id="{0BF5413B-D399-9E15-DF8F-56320208DFC4}"/>
              </a:ext>
            </a:extLst>
          </p:cNvPr>
          <p:cNvSpPr txBox="1"/>
          <p:nvPr/>
        </p:nvSpPr>
        <p:spPr>
          <a:xfrm>
            <a:off x="7127348" y="1134904"/>
            <a:ext cx="1322734" cy="369332"/>
          </a:xfrm>
          <a:prstGeom prst="rect">
            <a:avLst/>
          </a:prstGeom>
          <a:noFill/>
        </p:spPr>
        <p:txBody>
          <a:bodyPr wrap="none" rtlCol="0">
            <a:spAutoFit/>
          </a:bodyPr>
          <a:lstStyle/>
          <a:p>
            <a:r>
              <a:rPr lang="en-US" dirty="0"/>
              <a:t>Naïve Bayes</a:t>
            </a:r>
          </a:p>
        </p:txBody>
      </p:sp>
      <p:graphicFrame>
        <p:nvGraphicFramePr>
          <p:cNvPr id="12" name="Table Placeholder 6">
            <a:extLst>
              <a:ext uri="{FF2B5EF4-FFF2-40B4-BE49-F238E27FC236}">
                <a16:creationId xmlns:a16="http://schemas.microsoft.com/office/drawing/2014/main" id="{C73D9041-7882-4F3D-2ABD-B3E2616524DC}"/>
              </a:ext>
            </a:extLst>
          </p:cNvPr>
          <p:cNvGraphicFramePr>
            <a:graphicFrameLocks/>
          </p:cNvGraphicFramePr>
          <p:nvPr>
            <p:extLst>
              <p:ext uri="{D42A27DB-BD31-4B8C-83A1-F6EECF244321}">
                <p14:modId xmlns:p14="http://schemas.microsoft.com/office/powerpoint/2010/main" val="3211603349"/>
              </p:ext>
            </p:extLst>
          </p:nvPr>
        </p:nvGraphicFramePr>
        <p:xfrm>
          <a:off x="514103" y="3056621"/>
          <a:ext cx="4498428" cy="1112520"/>
        </p:xfrm>
        <a:graphic>
          <a:graphicData uri="http://schemas.openxmlformats.org/drawingml/2006/table">
            <a:tbl>
              <a:tblPr firstRow="1" bandRow="1">
                <a:tableStyleId>{5C22544A-7EE6-4342-B048-85BDC9FD1C3A}</a:tableStyleId>
              </a:tblPr>
              <a:tblGrid>
                <a:gridCol w="2007476">
                  <a:extLst>
                    <a:ext uri="{9D8B030D-6E8A-4147-A177-3AD203B41FA5}">
                      <a16:colId xmlns:a16="http://schemas.microsoft.com/office/drawing/2014/main" val="1455885858"/>
                    </a:ext>
                  </a:extLst>
                </a:gridCol>
                <a:gridCol w="1266496">
                  <a:extLst>
                    <a:ext uri="{9D8B030D-6E8A-4147-A177-3AD203B41FA5}">
                      <a16:colId xmlns:a16="http://schemas.microsoft.com/office/drawing/2014/main" val="2159612727"/>
                    </a:ext>
                  </a:extLst>
                </a:gridCol>
                <a:gridCol w="1224456">
                  <a:extLst>
                    <a:ext uri="{9D8B030D-6E8A-4147-A177-3AD203B41FA5}">
                      <a16:colId xmlns:a16="http://schemas.microsoft.com/office/drawing/2014/main" val="1227531083"/>
                    </a:ext>
                  </a:extLst>
                </a:gridCol>
              </a:tblGrid>
              <a:tr h="370840">
                <a:tc>
                  <a:txBody>
                    <a:bodyPr/>
                    <a:lstStyle/>
                    <a:p>
                      <a:r>
                        <a:rPr lang="en-US" dirty="0"/>
                        <a:t>Prediction\Label</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985021233"/>
                  </a:ext>
                </a:extLst>
              </a:tr>
              <a:tr h="370840">
                <a:tc>
                  <a:txBody>
                    <a:bodyPr/>
                    <a:lstStyle/>
                    <a:p>
                      <a:r>
                        <a:rPr lang="en-US" dirty="0"/>
                        <a:t>0</a:t>
                      </a:r>
                    </a:p>
                  </a:txBody>
                  <a:tcPr/>
                </a:tc>
                <a:tc>
                  <a:txBody>
                    <a:bodyPr/>
                    <a:lstStyle/>
                    <a:p>
                      <a:r>
                        <a:rPr lang="en-US" dirty="0"/>
                        <a:t>9336</a:t>
                      </a:r>
                    </a:p>
                  </a:txBody>
                  <a:tcPr/>
                </a:tc>
                <a:tc>
                  <a:txBody>
                    <a:bodyPr/>
                    <a:lstStyle/>
                    <a:p>
                      <a:r>
                        <a:rPr lang="en-US" dirty="0"/>
                        <a:t>1195</a:t>
                      </a:r>
                    </a:p>
                  </a:txBody>
                  <a:tcPr/>
                </a:tc>
                <a:extLst>
                  <a:ext uri="{0D108BD9-81ED-4DB2-BD59-A6C34878D82A}">
                    <a16:rowId xmlns:a16="http://schemas.microsoft.com/office/drawing/2014/main" val="128431785"/>
                  </a:ext>
                </a:extLst>
              </a:tr>
              <a:tr h="370840">
                <a:tc>
                  <a:txBody>
                    <a:bodyPr/>
                    <a:lstStyle/>
                    <a:p>
                      <a:r>
                        <a:rPr lang="en-US" dirty="0"/>
                        <a:t>1</a:t>
                      </a:r>
                    </a:p>
                  </a:txBody>
                  <a:tcPr/>
                </a:tc>
                <a:tc>
                  <a:txBody>
                    <a:bodyPr/>
                    <a:lstStyle/>
                    <a:p>
                      <a:r>
                        <a:rPr lang="en-US" dirty="0"/>
                        <a:t>1196</a:t>
                      </a:r>
                    </a:p>
                  </a:txBody>
                  <a:tcPr/>
                </a:tc>
                <a:tc>
                  <a:txBody>
                    <a:bodyPr/>
                    <a:lstStyle/>
                    <a:p>
                      <a:r>
                        <a:rPr lang="en-US" dirty="0"/>
                        <a:t>523</a:t>
                      </a:r>
                    </a:p>
                  </a:txBody>
                  <a:tcPr/>
                </a:tc>
                <a:extLst>
                  <a:ext uri="{0D108BD9-81ED-4DB2-BD59-A6C34878D82A}">
                    <a16:rowId xmlns:a16="http://schemas.microsoft.com/office/drawing/2014/main" val="4003357521"/>
                  </a:ext>
                </a:extLst>
              </a:tr>
            </a:tbl>
          </a:graphicData>
        </a:graphic>
      </p:graphicFrame>
      <p:sp>
        <p:nvSpPr>
          <p:cNvPr id="13" name="TextBox 12">
            <a:extLst>
              <a:ext uri="{FF2B5EF4-FFF2-40B4-BE49-F238E27FC236}">
                <a16:creationId xmlns:a16="http://schemas.microsoft.com/office/drawing/2014/main" id="{7C0B5A09-F923-C3D7-A1D9-874949994BC6}"/>
              </a:ext>
            </a:extLst>
          </p:cNvPr>
          <p:cNvSpPr txBox="1"/>
          <p:nvPr/>
        </p:nvSpPr>
        <p:spPr>
          <a:xfrm>
            <a:off x="1611580" y="2709430"/>
            <a:ext cx="2512804" cy="369332"/>
          </a:xfrm>
          <a:prstGeom prst="rect">
            <a:avLst/>
          </a:prstGeom>
          <a:noFill/>
        </p:spPr>
        <p:txBody>
          <a:bodyPr wrap="none" rtlCol="0">
            <a:spAutoFit/>
          </a:bodyPr>
          <a:lstStyle/>
          <a:p>
            <a:r>
              <a:rPr lang="en-US" dirty="0"/>
              <a:t>Support Vector Machine</a:t>
            </a:r>
          </a:p>
        </p:txBody>
      </p:sp>
      <p:graphicFrame>
        <p:nvGraphicFramePr>
          <p:cNvPr id="15" name="Table Placeholder 6">
            <a:extLst>
              <a:ext uri="{FF2B5EF4-FFF2-40B4-BE49-F238E27FC236}">
                <a16:creationId xmlns:a16="http://schemas.microsoft.com/office/drawing/2014/main" id="{0FFC8A0D-AEAE-39D4-60FA-486DA6FD6359}"/>
              </a:ext>
            </a:extLst>
          </p:cNvPr>
          <p:cNvGraphicFramePr>
            <a:graphicFrameLocks/>
          </p:cNvGraphicFramePr>
          <p:nvPr>
            <p:extLst>
              <p:ext uri="{D42A27DB-BD31-4B8C-83A1-F6EECF244321}">
                <p14:modId xmlns:p14="http://schemas.microsoft.com/office/powerpoint/2010/main" val="566803154"/>
              </p:ext>
            </p:extLst>
          </p:nvPr>
        </p:nvGraphicFramePr>
        <p:xfrm>
          <a:off x="5749041" y="3056621"/>
          <a:ext cx="4498428" cy="1112520"/>
        </p:xfrm>
        <a:graphic>
          <a:graphicData uri="http://schemas.openxmlformats.org/drawingml/2006/table">
            <a:tbl>
              <a:tblPr firstRow="1" bandRow="1">
                <a:tableStyleId>{5C22544A-7EE6-4342-B048-85BDC9FD1C3A}</a:tableStyleId>
              </a:tblPr>
              <a:tblGrid>
                <a:gridCol w="2007476">
                  <a:extLst>
                    <a:ext uri="{9D8B030D-6E8A-4147-A177-3AD203B41FA5}">
                      <a16:colId xmlns:a16="http://schemas.microsoft.com/office/drawing/2014/main" val="1455885858"/>
                    </a:ext>
                  </a:extLst>
                </a:gridCol>
                <a:gridCol w="1266496">
                  <a:extLst>
                    <a:ext uri="{9D8B030D-6E8A-4147-A177-3AD203B41FA5}">
                      <a16:colId xmlns:a16="http://schemas.microsoft.com/office/drawing/2014/main" val="2159612727"/>
                    </a:ext>
                  </a:extLst>
                </a:gridCol>
                <a:gridCol w="1224456">
                  <a:extLst>
                    <a:ext uri="{9D8B030D-6E8A-4147-A177-3AD203B41FA5}">
                      <a16:colId xmlns:a16="http://schemas.microsoft.com/office/drawing/2014/main" val="1227531083"/>
                    </a:ext>
                  </a:extLst>
                </a:gridCol>
              </a:tblGrid>
              <a:tr h="370840">
                <a:tc>
                  <a:txBody>
                    <a:bodyPr/>
                    <a:lstStyle/>
                    <a:p>
                      <a:r>
                        <a:rPr lang="en-US" dirty="0"/>
                        <a:t>Prediction\Label</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985021233"/>
                  </a:ext>
                </a:extLst>
              </a:tr>
              <a:tr h="370840">
                <a:tc>
                  <a:txBody>
                    <a:bodyPr/>
                    <a:lstStyle/>
                    <a:p>
                      <a:r>
                        <a:rPr lang="en-US" dirty="0"/>
                        <a:t>0</a:t>
                      </a:r>
                    </a:p>
                  </a:txBody>
                  <a:tcPr/>
                </a:tc>
                <a:tc>
                  <a:txBody>
                    <a:bodyPr/>
                    <a:lstStyle/>
                    <a:p>
                      <a:r>
                        <a:rPr lang="en-US" dirty="0"/>
                        <a:t>10192</a:t>
                      </a:r>
                    </a:p>
                  </a:txBody>
                  <a:tcPr/>
                </a:tc>
                <a:tc>
                  <a:txBody>
                    <a:bodyPr/>
                    <a:lstStyle/>
                    <a:p>
                      <a:r>
                        <a:rPr lang="en-US" dirty="0"/>
                        <a:t>1394</a:t>
                      </a:r>
                    </a:p>
                  </a:txBody>
                  <a:tcPr/>
                </a:tc>
                <a:extLst>
                  <a:ext uri="{0D108BD9-81ED-4DB2-BD59-A6C34878D82A}">
                    <a16:rowId xmlns:a16="http://schemas.microsoft.com/office/drawing/2014/main" val="128431785"/>
                  </a:ext>
                </a:extLst>
              </a:tr>
              <a:tr h="370840">
                <a:tc>
                  <a:txBody>
                    <a:bodyPr/>
                    <a:lstStyle/>
                    <a:p>
                      <a:r>
                        <a:rPr lang="en-US" dirty="0"/>
                        <a:t>1</a:t>
                      </a:r>
                    </a:p>
                  </a:txBody>
                  <a:tcPr/>
                </a:tc>
                <a:tc>
                  <a:txBody>
                    <a:bodyPr/>
                    <a:lstStyle/>
                    <a:p>
                      <a:r>
                        <a:rPr lang="en-US" dirty="0"/>
                        <a:t>340</a:t>
                      </a:r>
                    </a:p>
                  </a:txBody>
                  <a:tcPr/>
                </a:tc>
                <a:tc>
                  <a:txBody>
                    <a:bodyPr/>
                    <a:lstStyle/>
                    <a:p>
                      <a:r>
                        <a:rPr lang="en-US" dirty="0"/>
                        <a:t>324</a:t>
                      </a:r>
                    </a:p>
                  </a:txBody>
                  <a:tcPr/>
                </a:tc>
                <a:extLst>
                  <a:ext uri="{0D108BD9-81ED-4DB2-BD59-A6C34878D82A}">
                    <a16:rowId xmlns:a16="http://schemas.microsoft.com/office/drawing/2014/main" val="4003357521"/>
                  </a:ext>
                </a:extLst>
              </a:tr>
            </a:tbl>
          </a:graphicData>
        </a:graphic>
      </p:graphicFrame>
      <p:sp>
        <p:nvSpPr>
          <p:cNvPr id="16" name="TextBox 15">
            <a:extLst>
              <a:ext uri="{FF2B5EF4-FFF2-40B4-BE49-F238E27FC236}">
                <a16:creationId xmlns:a16="http://schemas.microsoft.com/office/drawing/2014/main" id="{6316E0EA-E0EA-A734-5E09-57E487B86CD6}"/>
              </a:ext>
            </a:extLst>
          </p:cNvPr>
          <p:cNvSpPr txBox="1"/>
          <p:nvPr/>
        </p:nvSpPr>
        <p:spPr>
          <a:xfrm>
            <a:off x="7530663" y="2754176"/>
            <a:ext cx="1463414" cy="369332"/>
          </a:xfrm>
          <a:prstGeom prst="rect">
            <a:avLst/>
          </a:prstGeom>
          <a:noFill/>
        </p:spPr>
        <p:txBody>
          <a:bodyPr wrap="none" rtlCol="0">
            <a:spAutoFit/>
          </a:bodyPr>
          <a:lstStyle/>
          <a:p>
            <a:r>
              <a:rPr lang="en-US" dirty="0"/>
              <a:t>Decision Tree</a:t>
            </a:r>
          </a:p>
        </p:txBody>
      </p:sp>
      <p:graphicFrame>
        <p:nvGraphicFramePr>
          <p:cNvPr id="17" name="Table Placeholder 6">
            <a:extLst>
              <a:ext uri="{FF2B5EF4-FFF2-40B4-BE49-F238E27FC236}">
                <a16:creationId xmlns:a16="http://schemas.microsoft.com/office/drawing/2014/main" id="{FD65848B-45B9-CB3D-2A14-CBCDF6D17DFC}"/>
              </a:ext>
            </a:extLst>
          </p:cNvPr>
          <p:cNvGraphicFramePr>
            <a:graphicFrameLocks/>
          </p:cNvGraphicFramePr>
          <p:nvPr>
            <p:extLst>
              <p:ext uri="{D42A27DB-BD31-4B8C-83A1-F6EECF244321}">
                <p14:modId xmlns:p14="http://schemas.microsoft.com/office/powerpoint/2010/main" val="2065454580"/>
              </p:ext>
            </p:extLst>
          </p:nvPr>
        </p:nvGraphicFramePr>
        <p:xfrm>
          <a:off x="514103" y="4733972"/>
          <a:ext cx="4498428" cy="1112520"/>
        </p:xfrm>
        <a:graphic>
          <a:graphicData uri="http://schemas.openxmlformats.org/drawingml/2006/table">
            <a:tbl>
              <a:tblPr firstRow="1" bandRow="1">
                <a:tableStyleId>{5C22544A-7EE6-4342-B048-85BDC9FD1C3A}</a:tableStyleId>
              </a:tblPr>
              <a:tblGrid>
                <a:gridCol w="2007476">
                  <a:extLst>
                    <a:ext uri="{9D8B030D-6E8A-4147-A177-3AD203B41FA5}">
                      <a16:colId xmlns:a16="http://schemas.microsoft.com/office/drawing/2014/main" val="1455885858"/>
                    </a:ext>
                  </a:extLst>
                </a:gridCol>
                <a:gridCol w="1266496">
                  <a:extLst>
                    <a:ext uri="{9D8B030D-6E8A-4147-A177-3AD203B41FA5}">
                      <a16:colId xmlns:a16="http://schemas.microsoft.com/office/drawing/2014/main" val="2159612727"/>
                    </a:ext>
                  </a:extLst>
                </a:gridCol>
                <a:gridCol w="1224456">
                  <a:extLst>
                    <a:ext uri="{9D8B030D-6E8A-4147-A177-3AD203B41FA5}">
                      <a16:colId xmlns:a16="http://schemas.microsoft.com/office/drawing/2014/main" val="1227531083"/>
                    </a:ext>
                  </a:extLst>
                </a:gridCol>
              </a:tblGrid>
              <a:tr h="370840">
                <a:tc>
                  <a:txBody>
                    <a:bodyPr/>
                    <a:lstStyle/>
                    <a:p>
                      <a:r>
                        <a:rPr lang="en-US" dirty="0"/>
                        <a:t>Prediction\Label</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985021233"/>
                  </a:ext>
                </a:extLst>
              </a:tr>
              <a:tr h="370840">
                <a:tc>
                  <a:txBody>
                    <a:bodyPr/>
                    <a:lstStyle/>
                    <a:p>
                      <a:r>
                        <a:rPr lang="en-US" dirty="0"/>
                        <a:t>0</a:t>
                      </a:r>
                    </a:p>
                  </a:txBody>
                  <a:tcPr/>
                </a:tc>
                <a:tc>
                  <a:txBody>
                    <a:bodyPr/>
                    <a:lstStyle/>
                    <a:p>
                      <a:r>
                        <a:rPr lang="en-US" dirty="0"/>
                        <a:t>9552</a:t>
                      </a:r>
                    </a:p>
                  </a:txBody>
                  <a:tcPr/>
                </a:tc>
                <a:tc>
                  <a:txBody>
                    <a:bodyPr/>
                    <a:lstStyle/>
                    <a:p>
                      <a:r>
                        <a:rPr lang="en-US" dirty="0"/>
                        <a:t>1053</a:t>
                      </a:r>
                    </a:p>
                  </a:txBody>
                  <a:tcPr/>
                </a:tc>
                <a:extLst>
                  <a:ext uri="{0D108BD9-81ED-4DB2-BD59-A6C34878D82A}">
                    <a16:rowId xmlns:a16="http://schemas.microsoft.com/office/drawing/2014/main" val="128431785"/>
                  </a:ext>
                </a:extLst>
              </a:tr>
              <a:tr h="370840">
                <a:tc>
                  <a:txBody>
                    <a:bodyPr/>
                    <a:lstStyle/>
                    <a:p>
                      <a:r>
                        <a:rPr lang="en-US" dirty="0"/>
                        <a:t>1</a:t>
                      </a:r>
                    </a:p>
                  </a:txBody>
                  <a:tcPr/>
                </a:tc>
                <a:tc>
                  <a:txBody>
                    <a:bodyPr/>
                    <a:lstStyle/>
                    <a:p>
                      <a:r>
                        <a:rPr lang="en-US" dirty="0"/>
                        <a:t>980</a:t>
                      </a:r>
                    </a:p>
                  </a:txBody>
                  <a:tcPr/>
                </a:tc>
                <a:tc>
                  <a:txBody>
                    <a:bodyPr/>
                    <a:lstStyle/>
                    <a:p>
                      <a:r>
                        <a:rPr lang="en-US" dirty="0"/>
                        <a:t>665</a:t>
                      </a:r>
                    </a:p>
                  </a:txBody>
                  <a:tcPr/>
                </a:tc>
                <a:extLst>
                  <a:ext uri="{0D108BD9-81ED-4DB2-BD59-A6C34878D82A}">
                    <a16:rowId xmlns:a16="http://schemas.microsoft.com/office/drawing/2014/main" val="4003357521"/>
                  </a:ext>
                </a:extLst>
              </a:tr>
            </a:tbl>
          </a:graphicData>
        </a:graphic>
      </p:graphicFrame>
      <p:sp>
        <p:nvSpPr>
          <p:cNvPr id="18" name="TextBox 17">
            <a:extLst>
              <a:ext uri="{FF2B5EF4-FFF2-40B4-BE49-F238E27FC236}">
                <a16:creationId xmlns:a16="http://schemas.microsoft.com/office/drawing/2014/main" id="{04C9B4E0-4459-4AFF-6289-DED43DC17A55}"/>
              </a:ext>
            </a:extLst>
          </p:cNvPr>
          <p:cNvSpPr txBox="1"/>
          <p:nvPr/>
        </p:nvSpPr>
        <p:spPr>
          <a:xfrm>
            <a:off x="1888081" y="4395652"/>
            <a:ext cx="1636666" cy="369332"/>
          </a:xfrm>
          <a:prstGeom prst="rect">
            <a:avLst/>
          </a:prstGeom>
          <a:noFill/>
        </p:spPr>
        <p:txBody>
          <a:bodyPr wrap="none" rtlCol="0">
            <a:spAutoFit/>
          </a:bodyPr>
          <a:lstStyle/>
          <a:p>
            <a:r>
              <a:rPr lang="en-US" dirty="0"/>
              <a:t>Random Forest</a:t>
            </a:r>
          </a:p>
        </p:txBody>
      </p:sp>
      <p:sp>
        <p:nvSpPr>
          <p:cNvPr id="19" name="TextBox 18">
            <a:extLst>
              <a:ext uri="{FF2B5EF4-FFF2-40B4-BE49-F238E27FC236}">
                <a16:creationId xmlns:a16="http://schemas.microsoft.com/office/drawing/2014/main" id="{451FFFE9-1CE8-AE80-31AA-EC59F01D99FD}"/>
              </a:ext>
            </a:extLst>
          </p:cNvPr>
          <p:cNvSpPr txBox="1"/>
          <p:nvPr/>
        </p:nvSpPr>
        <p:spPr>
          <a:xfrm>
            <a:off x="7444037" y="4361274"/>
            <a:ext cx="1006045" cy="369332"/>
          </a:xfrm>
          <a:prstGeom prst="rect">
            <a:avLst/>
          </a:prstGeom>
          <a:noFill/>
        </p:spPr>
        <p:txBody>
          <a:bodyPr wrap="none" rtlCol="0">
            <a:spAutoFit/>
          </a:bodyPr>
          <a:lstStyle/>
          <a:p>
            <a:r>
              <a:rPr lang="en-US" dirty="0" err="1"/>
              <a:t>XGBoost</a:t>
            </a:r>
            <a:endParaRPr lang="en-US" dirty="0"/>
          </a:p>
        </p:txBody>
      </p:sp>
    </p:spTree>
    <p:extLst>
      <p:ext uri="{BB962C8B-B14F-4D97-AF65-F5344CB8AC3E}">
        <p14:creationId xmlns:p14="http://schemas.microsoft.com/office/powerpoint/2010/main" val="1829330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3F9948-D9C3-7238-5AF3-7CEA2850FB92}"/>
              </a:ext>
            </a:extLst>
          </p:cNvPr>
          <p:cNvSpPr>
            <a:spLocks noGrp="1"/>
          </p:cNvSpPr>
          <p:nvPr>
            <p:ph type="body" sz="quarter" idx="14"/>
          </p:nvPr>
        </p:nvSpPr>
        <p:spPr/>
        <p:txBody>
          <a:bodyPr/>
          <a:lstStyle/>
          <a:p>
            <a:endParaRPr lang="en-US"/>
          </a:p>
        </p:txBody>
      </p:sp>
      <p:graphicFrame>
        <p:nvGraphicFramePr>
          <p:cNvPr id="5" name="Table Placeholder 4">
            <a:extLst>
              <a:ext uri="{FF2B5EF4-FFF2-40B4-BE49-F238E27FC236}">
                <a16:creationId xmlns:a16="http://schemas.microsoft.com/office/drawing/2014/main" id="{77A3F616-639F-C4DA-E129-CCD3B1BCC53E}"/>
              </a:ext>
            </a:extLst>
          </p:cNvPr>
          <p:cNvGraphicFramePr>
            <a:graphicFrameLocks noGrp="1"/>
          </p:cNvGraphicFramePr>
          <p:nvPr>
            <p:ph type="tbl" sz="quarter" idx="13"/>
            <p:extLst>
              <p:ext uri="{D42A27DB-BD31-4B8C-83A1-F6EECF244321}">
                <p14:modId xmlns:p14="http://schemas.microsoft.com/office/powerpoint/2010/main" val="2348214888"/>
              </p:ext>
            </p:extLst>
          </p:nvPr>
        </p:nvGraphicFramePr>
        <p:xfrm>
          <a:off x="147145" y="1524000"/>
          <a:ext cx="11206656" cy="3710154"/>
        </p:xfrm>
        <a:graphic>
          <a:graphicData uri="http://schemas.openxmlformats.org/drawingml/2006/table">
            <a:tbl>
              <a:tblPr firstRow="1" bandRow="1">
                <a:tableStyleId>{5C22544A-7EE6-4342-B048-85BDC9FD1C3A}</a:tableStyleId>
              </a:tblPr>
              <a:tblGrid>
                <a:gridCol w="1867776">
                  <a:extLst>
                    <a:ext uri="{9D8B030D-6E8A-4147-A177-3AD203B41FA5}">
                      <a16:colId xmlns:a16="http://schemas.microsoft.com/office/drawing/2014/main" val="3567294284"/>
                    </a:ext>
                  </a:extLst>
                </a:gridCol>
                <a:gridCol w="1867776">
                  <a:extLst>
                    <a:ext uri="{9D8B030D-6E8A-4147-A177-3AD203B41FA5}">
                      <a16:colId xmlns:a16="http://schemas.microsoft.com/office/drawing/2014/main" val="1973012987"/>
                    </a:ext>
                  </a:extLst>
                </a:gridCol>
                <a:gridCol w="1867776">
                  <a:extLst>
                    <a:ext uri="{9D8B030D-6E8A-4147-A177-3AD203B41FA5}">
                      <a16:colId xmlns:a16="http://schemas.microsoft.com/office/drawing/2014/main" val="2018355274"/>
                    </a:ext>
                  </a:extLst>
                </a:gridCol>
                <a:gridCol w="1867776">
                  <a:extLst>
                    <a:ext uri="{9D8B030D-6E8A-4147-A177-3AD203B41FA5}">
                      <a16:colId xmlns:a16="http://schemas.microsoft.com/office/drawing/2014/main" val="1162774287"/>
                    </a:ext>
                  </a:extLst>
                </a:gridCol>
                <a:gridCol w="1867776">
                  <a:extLst>
                    <a:ext uri="{9D8B030D-6E8A-4147-A177-3AD203B41FA5}">
                      <a16:colId xmlns:a16="http://schemas.microsoft.com/office/drawing/2014/main" val="3573267866"/>
                    </a:ext>
                  </a:extLst>
                </a:gridCol>
                <a:gridCol w="1867776">
                  <a:extLst>
                    <a:ext uri="{9D8B030D-6E8A-4147-A177-3AD203B41FA5}">
                      <a16:colId xmlns:a16="http://schemas.microsoft.com/office/drawing/2014/main" val="2966612553"/>
                    </a:ext>
                  </a:extLst>
                </a:gridCol>
              </a:tblGrid>
              <a:tr h="530022">
                <a:tc>
                  <a:txBody>
                    <a:bodyPr/>
                    <a:lstStyle/>
                    <a:p>
                      <a:pPr algn="ctr" fontAlgn="b">
                        <a:buNone/>
                      </a:pPr>
                      <a:r>
                        <a:rPr lang="en-US" sz="1800" b="0" i="0" u="none" strike="noStrike" dirty="0">
                          <a:solidFill>
                            <a:schemeClr val="bg1"/>
                          </a:solidFill>
                          <a:effectLst/>
                          <a:latin typeface="+mj-lt"/>
                        </a:rPr>
                        <a:t>Model</a:t>
                      </a:r>
                    </a:p>
                  </a:txBody>
                  <a:tcPr marL="7620" marR="7620" marT="7620" marB="0" anchor="b"/>
                </a:tc>
                <a:tc>
                  <a:txBody>
                    <a:bodyPr/>
                    <a:lstStyle/>
                    <a:p>
                      <a:pPr algn="ctr" fontAlgn="b">
                        <a:buNone/>
                      </a:pPr>
                      <a:r>
                        <a:rPr lang="en-US" sz="1800" b="0" i="0" u="none" strike="noStrike">
                          <a:solidFill>
                            <a:schemeClr val="bg1"/>
                          </a:solidFill>
                          <a:effectLst/>
                          <a:latin typeface="+mj-lt"/>
                        </a:rPr>
                        <a:t>Accuracy</a:t>
                      </a:r>
                    </a:p>
                  </a:txBody>
                  <a:tcPr marL="7620" marR="7620" marT="7620" marB="0" anchor="b"/>
                </a:tc>
                <a:tc>
                  <a:txBody>
                    <a:bodyPr/>
                    <a:lstStyle/>
                    <a:p>
                      <a:pPr algn="ctr" fontAlgn="b">
                        <a:buNone/>
                      </a:pPr>
                      <a:r>
                        <a:rPr lang="en-US" sz="1800" b="0" i="0" u="none" strike="noStrike" dirty="0">
                          <a:solidFill>
                            <a:schemeClr val="bg1"/>
                          </a:solidFill>
                          <a:effectLst/>
                          <a:latin typeface="+mj-lt"/>
                        </a:rPr>
                        <a:t>Sensitivity(Recall)</a:t>
                      </a:r>
                    </a:p>
                  </a:txBody>
                  <a:tcPr marL="7620" marR="7620" marT="7620" marB="0" anchor="b"/>
                </a:tc>
                <a:tc>
                  <a:txBody>
                    <a:bodyPr/>
                    <a:lstStyle/>
                    <a:p>
                      <a:pPr algn="ctr" fontAlgn="b">
                        <a:buNone/>
                      </a:pPr>
                      <a:r>
                        <a:rPr lang="en-US" sz="1800" b="0" i="0" u="none" strike="noStrike" dirty="0">
                          <a:solidFill>
                            <a:schemeClr val="bg1"/>
                          </a:solidFill>
                          <a:effectLst/>
                          <a:latin typeface="+mj-lt"/>
                        </a:rPr>
                        <a:t>Specificity</a:t>
                      </a:r>
                    </a:p>
                  </a:txBody>
                  <a:tcPr marL="7620" marR="7620" marT="7620" marB="0" anchor="b"/>
                </a:tc>
                <a:tc>
                  <a:txBody>
                    <a:bodyPr/>
                    <a:lstStyle/>
                    <a:p>
                      <a:pPr algn="ctr" fontAlgn="b">
                        <a:buNone/>
                      </a:pPr>
                      <a:r>
                        <a:rPr lang="en-US" sz="1800" b="0" i="0" u="none" strike="noStrike" dirty="0">
                          <a:solidFill>
                            <a:schemeClr val="bg1"/>
                          </a:solidFill>
                          <a:effectLst/>
                          <a:latin typeface="+mj-lt"/>
                        </a:rPr>
                        <a:t>Precision</a:t>
                      </a:r>
                    </a:p>
                  </a:txBody>
                  <a:tcPr marL="7620" marR="7620" marT="7620" marB="0" anchor="b"/>
                </a:tc>
                <a:tc>
                  <a:txBody>
                    <a:bodyPr/>
                    <a:lstStyle/>
                    <a:p>
                      <a:pPr algn="ctr" fontAlgn="b">
                        <a:buNone/>
                      </a:pPr>
                      <a:r>
                        <a:rPr lang="en-US" sz="1800" b="0" i="0" u="none" strike="noStrike" dirty="0">
                          <a:solidFill>
                            <a:schemeClr val="bg1"/>
                          </a:solidFill>
                          <a:effectLst/>
                          <a:latin typeface="+mj-lt"/>
                        </a:rPr>
                        <a:t>AUC</a:t>
                      </a:r>
                    </a:p>
                  </a:txBody>
                  <a:tcPr marL="7620" marR="7620" marT="7620" marB="0" anchor="b"/>
                </a:tc>
                <a:extLst>
                  <a:ext uri="{0D108BD9-81ED-4DB2-BD59-A6C34878D82A}">
                    <a16:rowId xmlns:a16="http://schemas.microsoft.com/office/drawing/2014/main" val="2748931867"/>
                  </a:ext>
                </a:extLst>
              </a:tr>
              <a:tr h="530022">
                <a:tc>
                  <a:txBody>
                    <a:bodyPr/>
                    <a:lstStyle/>
                    <a:p>
                      <a:pPr algn="ctr" fontAlgn="b">
                        <a:buNone/>
                      </a:pPr>
                      <a:r>
                        <a:rPr lang="en-US" sz="1800" b="0" i="0" u="none" strike="noStrike" dirty="0">
                          <a:solidFill>
                            <a:srgbClr val="000000"/>
                          </a:solidFill>
                          <a:effectLst/>
                          <a:latin typeface="+mj-lt"/>
                        </a:rPr>
                        <a:t>Decision Tree</a:t>
                      </a:r>
                    </a:p>
                  </a:txBody>
                  <a:tcPr marL="7620" marR="7620" marT="7620" marB="0" anchor="b"/>
                </a:tc>
                <a:tc>
                  <a:txBody>
                    <a:bodyPr/>
                    <a:lstStyle/>
                    <a:p>
                      <a:pPr algn="ctr" fontAlgn="b">
                        <a:buNone/>
                      </a:pPr>
                      <a:r>
                        <a:rPr lang="en-US" sz="1800" b="0" i="0" u="none" strike="noStrike">
                          <a:solidFill>
                            <a:srgbClr val="000000"/>
                          </a:solidFill>
                          <a:effectLst/>
                          <a:latin typeface="+mj-lt"/>
                        </a:rPr>
                        <a:t>0.8584</a:t>
                      </a:r>
                    </a:p>
                  </a:txBody>
                  <a:tcPr marL="7620" marR="7620" marT="7620" marB="0" anchor="b"/>
                </a:tc>
                <a:tc>
                  <a:txBody>
                    <a:bodyPr/>
                    <a:lstStyle/>
                    <a:p>
                      <a:pPr algn="ctr" fontAlgn="b">
                        <a:buNone/>
                      </a:pPr>
                      <a:r>
                        <a:rPr lang="en-US" sz="1800" b="0" i="0" u="none" strike="noStrike">
                          <a:solidFill>
                            <a:srgbClr val="000000"/>
                          </a:solidFill>
                          <a:effectLst/>
                          <a:latin typeface="+mj-lt"/>
                        </a:rPr>
                        <a:t>0.1886</a:t>
                      </a:r>
                    </a:p>
                  </a:txBody>
                  <a:tcPr marL="7620" marR="7620" marT="7620" marB="0" anchor="b"/>
                </a:tc>
                <a:tc>
                  <a:txBody>
                    <a:bodyPr/>
                    <a:lstStyle/>
                    <a:p>
                      <a:pPr algn="ctr" fontAlgn="b">
                        <a:buNone/>
                      </a:pPr>
                      <a:r>
                        <a:rPr lang="en-US" sz="1800" b="0" i="0" u="none" strike="noStrike">
                          <a:solidFill>
                            <a:srgbClr val="000000"/>
                          </a:solidFill>
                          <a:effectLst/>
                          <a:latin typeface="+mj-lt"/>
                        </a:rPr>
                        <a:t>0.9677</a:t>
                      </a:r>
                    </a:p>
                  </a:txBody>
                  <a:tcPr marL="7620" marR="7620" marT="7620" marB="0" anchor="b"/>
                </a:tc>
                <a:tc>
                  <a:txBody>
                    <a:bodyPr/>
                    <a:lstStyle/>
                    <a:p>
                      <a:pPr algn="ctr" fontAlgn="b">
                        <a:buNone/>
                      </a:pPr>
                      <a:r>
                        <a:rPr lang="en-US" sz="1800" b="0" i="0" u="none" strike="noStrike">
                          <a:solidFill>
                            <a:srgbClr val="000000"/>
                          </a:solidFill>
                          <a:effectLst/>
                          <a:latin typeface="+mj-lt"/>
                        </a:rPr>
                        <a:t>0.488</a:t>
                      </a:r>
                    </a:p>
                  </a:txBody>
                  <a:tcPr marL="7620" marR="7620" marT="7620" marB="0" anchor="b"/>
                </a:tc>
                <a:tc>
                  <a:txBody>
                    <a:bodyPr/>
                    <a:lstStyle/>
                    <a:p>
                      <a:pPr algn="ctr" fontAlgn="b">
                        <a:buNone/>
                      </a:pPr>
                      <a:r>
                        <a:rPr lang="en-US" sz="1800" b="0" i="0" u="none" strike="noStrike">
                          <a:solidFill>
                            <a:srgbClr val="000000"/>
                          </a:solidFill>
                          <a:effectLst/>
                          <a:latin typeface="+mj-lt"/>
                        </a:rPr>
                        <a:t>0.705</a:t>
                      </a:r>
                    </a:p>
                  </a:txBody>
                  <a:tcPr marL="7620" marR="7620" marT="7620" marB="0" anchor="b"/>
                </a:tc>
                <a:extLst>
                  <a:ext uri="{0D108BD9-81ED-4DB2-BD59-A6C34878D82A}">
                    <a16:rowId xmlns:a16="http://schemas.microsoft.com/office/drawing/2014/main" val="2550896817"/>
                  </a:ext>
                </a:extLst>
              </a:tr>
              <a:tr h="530022">
                <a:tc>
                  <a:txBody>
                    <a:bodyPr/>
                    <a:lstStyle/>
                    <a:p>
                      <a:pPr algn="ctr" fontAlgn="b">
                        <a:buNone/>
                      </a:pPr>
                      <a:r>
                        <a:rPr lang="en-US" sz="1800" b="0" i="0" u="none" strike="noStrike">
                          <a:solidFill>
                            <a:srgbClr val="000000"/>
                          </a:solidFill>
                          <a:effectLst/>
                          <a:latin typeface="+mj-lt"/>
                        </a:rPr>
                        <a:t>Random Forest</a:t>
                      </a:r>
                    </a:p>
                  </a:txBody>
                  <a:tcPr marL="7620" marR="7620" marT="7620" marB="0" anchor="b"/>
                </a:tc>
                <a:tc>
                  <a:txBody>
                    <a:bodyPr/>
                    <a:lstStyle/>
                    <a:p>
                      <a:pPr algn="ctr" fontAlgn="b">
                        <a:buNone/>
                      </a:pPr>
                      <a:r>
                        <a:rPr lang="en-US" sz="1800" b="0" i="0" u="none" strike="noStrike">
                          <a:solidFill>
                            <a:srgbClr val="000000"/>
                          </a:solidFill>
                          <a:effectLst/>
                          <a:latin typeface="+mj-lt"/>
                        </a:rPr>
                        <a:t>0.834</a:t>
                      </a:r>
                    </a:p>
                  </a:txBody>
                  <a:tcPr marL="7620" marR="7620" marT="7620" marB="0" anchor="b"/>
                </a:tc>
                <a:tc>
                  <a:txBody>
                    <a:bodyPr/>
                    <a:lstStyle/>
                    <a:p>
                      <a:pPr algn="ctr" fontAlgn="b">
                        <a:buNone/>
                      </a:pPr>
                      <a:r>
                        <a:rPr lang="en-US" sz="1800" b="0" i="0" u="none" strike="noStrike">
                          <a:solidFill>
                            <a:srgbClr val="000000"/>
                          </a:solidFill>
                          <a:effectLst/>
                          <a:latin typeface="+mj-lt"/>
                        </a:rPr>
                        <a:t>0.3871</a:t>
                      </a:r>
                    </a:p>
                  </a:txBody>
                  <a:tcPr marL="7620" marR="7620" marT="7620" marB="0" anchor="b"/>
                </a:tc>
                <a:tc>
                  <a:txBody>
                    <a:bodyPr/>
                    <a:lstStyle/>
                    <a:p>
                      <a:pPr algn="ctr" fontAlgn="b">
                        <a:buNone/>
                      </a:pPr>
                      <a:r>
                        <a:rPr lang="en-US" sz="1800" b="0" i="0" u="none" strike="noStrike">
                          <a:solidFill>
                            <a:srgbClr val="000000"/>
                          </a:solidFill>
                          <a:effectLst/>
                          <a:latin typeface="+mj-lt"/>
                        </a:rPr>
                        <a:t>0.907</a:t>
                      </a:r>
                    </a:p>
                  </a:txBody>
                  <a:tcPr marL="7620" marR="7620" marT="7620" marB="0" anchor="b"/>
                </a:tc>
                <a:tc>
                  <a:txBody>
                    <a:bodyPr/>
                    <a:lstStyle/>
                    <a:p>
                      <a:pPr algn="ctr" fontAlgn="b">
                        <a:buNone/>
                      </a:pPr>
                      <a:r>
                        <a:rPr lang="en-US" sz="1800" b="0" i="0" u="none" strike="noStrike">
                          <a:solidFill>
                            <a:srgbClr val="000000"/>
                          </a:solidFill>
                          <a:effectLst/>
                          <a:latin typeface="+mj-lt"/>
                        </a:rPr>
                        <a:t>0.4043</a:t>
                      </a:r>
                    </a:p>
                  </a:txBody>
                  <a:tcPr marL="7620" marR="7620" marT="7620" marB="0" anchor="b"/>
                </a:tc>
                <a:tc>
                  <a:txBody>
                    <a:bodyPr/>
                    <a:lstStyle/>
                    <a:p>
                      <a:pPr algn="ctr" fontAlgn="b">
                        <a:buNone/>
                      </a:pPr>
                      <a:r>
                        <a:rPr lang="en-US" sz="1800" b="0" i="0" u="none" strike="noStrike">
                          <a:solidFill>
                            <a:srgbClr val="000000"/>
                          </a:solidFill>
                          <a:effectLst/>
                          <a:latin typeface="+mj-lt"/>
                        </a:rPr>
                        <a:t>0.7737</a:t>
                      </a:r>
                    </a:p>
                  </a:txBody>
                  <a:tcPr marL="7620" marR="7620" marT="7620" marB="0" anchor="b"/>
                </a:tc>
                <a:extLst>
                  <a:ext uri="{0D108BD9-81ED-4DB2-BD59-A6C34878D82A}">
                    <a16:rowId xmlns:a16="http://schemas.microsoft.com/office/drawing/2014/main" val="2322789046"/>
                  </a:ext>
                </a:extLst>
              </a:tr>
              <a:tr h="530022">
                <a:tc>
                  <a:txBody>
                    <a:bodyPr/>
                    <a:lstStyle/>
                    <a:p>
                      <a:pPr algn="ctr" fontAlgn="b">
                        <a:buNone/>
                      </a:pPr>
                      <a:r>
                        <a:rPr lang="en-US" sz="1800" b="0" i="0" u="none" strike="noStrike">
                          <a:solidFill>
                            <a:srgbClr val="000000"/>
                          </a:solidFill>
                          <a:effectLst/>
                          <a:latin typeface="+mj-lt"/>
                        </a:rPr>
                        <a:t>XGBoost</a:t>
                      </a:r>
                    </a:p>
                  </a:txBody>
                  <a:tcPr marL="7620" marR="7620" marT="7620" marB="0" anchor="b"/>
                </a:tc>
                <a:tc>
                  <a:txBody>
                    <a:bodyPr/>
                    <a:lstStyle/>
                    <a:p>
                      <a:pPr algn="ctr" fontAlgn="b">
                        <a:buNone/>
                      </a:pPr>
                      <a:r>
                        <a:rPr lang="en-US" sz="1800" b="0" i="0" u="none" strike="noStrike">
                          <a:solidFill>
                            <a:srgbClr val="000000"/>
                          </a:solidFill>
                          <a:effectLst/>
                          <a:latin typeface="+mj-lt"/>
                        </a:rPr>
                        <a:t>0.828</a:t>
                      </a:r>
                    </a:p>
                  </a:txBody>
                  <a:tcPr marL="7620" marR="7620" marT="7620" marB="0" anchor="b"/>
                </a:tc>
                <a:tc>
                  <a:txBody>
                    <a:bodyPr/>
                    <a:lstStyle/>
                    <a:p>
                      <a:pPr algn="ctr" fontAlgn="b">
                        <a:buNone/>
                      </a:pPr>
                      <a:r>
                        <a:rPr lang="en-US" sz="1800" b="0" i="0" u="none" strike="noStrike">
                          <a:solidFill>
                            <a:srgbClr val="000000"/>
                          </a:solidFill>
                          <a:effectLst/>
                          <a:latin typeface="+mj-lt"/>
                        </a:rPr>
                        <a:t>0.3859</a:t>
                      </a:r>
                    </a:p>
                  </a:txBody>
                  <a:tcPr marL="7620" marR="7620" marT="7620" marB="0" anchor="b"/>
                </a:tc>
                <a:tc>
                  <a:txBody>
                    <a:bodyPr/>
                    <a:lstStyle/>
                    <a:p>
                      <a:pPr algn="ctr" fontAlgn="b">
                        <a:buNone/>
                      </a:pPr>
                      <a:r>
                        <a:rPr lang="en-US" sz="1800" b="0" i="0" u="none" strike="noStrike">
                          <a:solidFill>
                            <a:srgbClr val="000000"/>
                          </a:solidFill>
                          <a:effectLst/>
                          <a:latin typeface="+mj-lt"/>
                        </a:rPr>
                        <a:t>0.9001</a:t>
                      </a:r>
                    </a:p>
                  </a:txBody>
                  <a:tcPr marL="7620" marR="7620" marT="7620" marB="0" anchor="b"/>
                </a:tc>
                <a:tc>
                  <a:txBody>
                    <a:bodyPr/>
                    <a:lstStyle/>
                    <a:p>
                      <a:pPr algn="ctr" fontAlgn="b">
                        <a:buNone/>
                      </a:pPr>
                      <a:r>
                        <a:rPr lang="en-US" sz="1800" b="0" i="0" u="none" strike="noStrike">
                          <a:solidFill>
                            <a:srgbClr val="000000"/>
                          </a:solidFill>
                          <a:effectLst/>
                          <a:latin typeface="+mj-lt"/>
                        </a:rPr>
                        <a:t>0.3866</a:t>
                      </a:r>
                    </a:p>
                  </a:txBody>
                  <a:tcPr marL="7620" marR="7620" marT="7620" marB="0" anchor="b"/>
                </a:tc>
                <a:tc>
                  <a:txBody>
                    <a:bodyPr/>
                    <a:lstStyle/>
                    <a:p>
                      <a:pPr algn="ctr" fontAlgn="b">
                        <a:buNone/>
                      </a:pPr>
                      <a:r>
                        <a:rPr lang="en-US" sz="1800" b="0" i="0" u="none" strike="noStrike">
                          <a:solidFill>
                            <a:srgbClr val="000000"/>
                          </a:solidFill>
                          <a:effectLst/>
                          <a:latin typeface="+mj-lt"/>
                        </a:rPr>
                        <a:t>0.788</a:t>
                      </a:r>
                    </a:p>
                  </a:txBody>
                  <a:tcPr marL="7620" marR="7620" marT="7620" marB="0" anchor="b"/>
                </a:tc>
                <a:extLst>
                  <a:ext uri="{0D108BD9-81ED-4DB2-BD59-A6C34878D82A}">
                    <a16:rowId xmlns:a16="http://schemas.microsoft.com/office/drawing/2014/main" val="3762913399"/>
                  </a:ext>
                </a:extLst>
              </a:tr>
              <a:tr h="530022">
                <a:tc>
                  <a:txBody>
                    <a:bodyPr/>
                    <a:lstStyle/>
                    <a:p>
                      <a:pPr algn="ctr" fontAlgn="b">
                        <a:buNone/>
                      </a:pPr>
                      <a:r>
                        <a:rPr lang="en-US" sz="1800" b="0" i="0" u="none" strike="noStrike">
                          <a:solidFill>
                            <a:srgbClr val="000000"/>
                          </a:solidFill>
                          <a:effectLst/>
                          <a:latin typeface="+mj-lt"/>
                        </a:rPr>
                        <a:t>Probit</a:t>
                      </a:r>
                    </a:p>
                  </a:txBody>
                  <a:tcPr marL="7620" marR="7620" marT="7620" marB="0" anchor="b"/>
                </a:tc>
                <a:tc>
                  <a:txBody>
                    <a:bodyPr/>
                    <a:lstStyle/>
                    <a:p>
                      <a:pPr algn="ctr" fontAlgn="b">
                        <a:buNone/>
                      </a:pPr>
                      <a:r>
                        <a:rPr lang="en-US" sz="1800" b="0" i="0" u="none" strike="noStrike">
                          <a:solidFill>
                            <a:srgbClr val="000000"/>
                          </a:solidFill>
                          <a:effectLst/>
                          <a:latin typeface="+mj-lt"/>
                        </a:rPr>
                        <a:t>0.8247</a:t>
                      </a:r>
                    </a:p>
                  </a:txBody>
                  <a:tcPr marL="7620" marR="7620" marT="7620" marB="0" anchor="b"/>
                </a:tc>
                <a:tc>
                  <a:txBody>
                    <a:bodyPr/>
                    <a:lstStyle/>
                    <a:p>
                      <a:pPr algn="ctr" fontAlgn="b">
                        <a:buNone/>
                      </a:pPr>
                      <a:r>
                        <a:rPr lang="en-US" sz="1800" b="0" i="0" u="none" strike="noStrike">
                          <a:solidFill>
                            <a:srgbClr val="000000"/>
                          </a:solidFill>
                          <a:effectLst/>
                          <a:latin typeface="+mj-lt"/>
                        </a:rPr>
                        <a:t>0.3754</a:t>
                      </a:r>
                    </a:p>
                  </a:txBody>
                  <a:tcPr marL="7620" marR="7620" marT="7620" marB="0" anchor="b"/>
                </a:tc>
                <a:tc>
                  <a:txBody>
                    <a:bodyPr/>
                    <a:lstStyle/>
                    <a:p>
                      <a:pPr algn="ctr" fontAlgn="b">
                        <a:buNone/>
                      </a:pPr>
                      <a:r>
                        <a:rPr lang="en-US" sz="1800" b="0" i="0" u="none" strike="noStrike">
                          <a:solidFill>
                            <a:srgbClr val="000000"/>
                          </a:solidFill>
                          <a:effectLst/>
                          <a:latin typeface="+mj-lt"/>
                        </a:rPr>
                        <a:t>0.898</a:t>
                      </a:r>
                    </a:p>
                  </a:txBody>
                  <a:tcPr marL="7620" marR="7620" marT="7620" marB="0" anchor="b"/>
                </a:tc>
                <a:tc>
                  <a:txBody>
                    <a:bodyPr/>
                    <a:lstStyle/>
                    <a:p>
                      <a:pPr algn="ctr" fontAlgn="b">
                        <a:buNone/>
                      </a:pPr>
                      <a:r>
                        <a:rPr lang="en-US" sz="1800" b="0" i="0" u="none" strike="noStrike">
                          <a:solidFill>
                            <a:srgbClr val="000000"/>
                          </a:solidFill>
                          <a:effectLst/>
                          <a:latin typeface="+mj-lt"/>
                        </a:rPr>
                        <a:t>0.3752</a:t>
                      </a:r>
                    </a:p>
                  </a:txBody>
                  <a:tcPr marL="7620" marR="7620" marT="7620" marB="0" anchor="b"/>
                </a:tc>
                <a:tc>
                  <a:txBody>
                    <a:bodyPr/>
                    <a:lstStyle/>
                    <a:p>
                      <a:pPr algn="ctr" fontAlgn="b">
                        <a:buNone/>
                      </a:pPr>
                      <a:r>
                        <a:rPr lang="en-US" sz="1800" b="0" i="0" u="none" strike="noStrike">
                          <a:solidFill>
                            <a:srgbClr val="000000"/>
                          </a:solidFill>
                          <a:effectLst/>
                          <a:latin typeface="+mj-lt"/>
                        </a:rPr>
                        <a:t>0.7645</a:t>
                      </a:r>
                    </a:p>
                  </a:txBody>
                  <a:tcPr marL="7620" marR="7620" marT="7620" marB="0" anchor="b"/>
                </a:tc>
                <a:extLst>
                  <a:ext uri="{0D108BD9-81ED-4DB2-BD59-A6C34878D82A}">
                    <a16:rowId xmlns:a16="http://schemas.microsoft.com/office/drawing/2014/main" val="874182845"/>
                  </a:ext>
                </a:extLst>
              </a:tr>
              <a:tr h="530022">
                <a:tc>
                  <a:txBody>
                    <a:bodyPr/>
                    <a:lstStyle/>
                    <a:p>
                      <a:pPr algn="ctr" fontAlgn="b">
                        <a:buNone/>
                      </a:pPr>
                      <a:r>
                        <a:rPr lang="en-US" sz="1800" b="0" i="0" u="none" strike="noStrike">
                          <a:solidFill>
                            <a:srgbClr val="000000"/>
                          </a:solidFill>
                          <a:effectLst/>
                          <a:latin typeface="+mj-lt"/>
                        </a:rPr>
                        <a:t>Naive Bayes</a:t>
                      </a:r>
                    </a:p>
                  </a:txBody>
                  <a:tcPr marL="7620" marR="7620" marT="7620" marB="0" anchor="b"/>
                </a:tc>
                <a:tc>
                  <a:txBody>
                    <a:bodyPr/>
                    <a:lstStyle/>
                    <a:p>
                      <a:pPr algn="ctr" fontAlgn="b">
                        <a:buNone/>
                      </a:pPr>
                      <a:r>
                        <a:rPr lang="en-US" sz="1800" b="0" i="0" u="none" strike="noStrike">
                          <a:solidFill>
                            <a:srgbClr val="000000"/>
                          </a:solidFill>
                          <a:effectLst/>
                          <a:latin typeface="+mj-lt"/>
                        </a:rPr>
                        <a:t>0.8169</a:t>
                      </a:r>
                    </a:p>
                  </a:txBody>
                  <a:tcPr marL="7620" marR="7620" marT="7620" marB="0" anchor="b"/>
                </a:tc>
                <a:tc>
                  <a:txBody>
                    <a:bodyPr/>
                    <a:lstStyle/>
                    <a:p>
                      <a:pPr algn="ctr" fontAlgn="b">
                        <a:buNone/>
                      </a:pPr>
                      <a:r>
                        <a:rPr lang="en-US" sz="1800" b="0" i="0" u="none" strike="noStrike">
                          <a:solidFill>
                            <a:srgbClr val="000000"/>
                          </a:solidFill>
                          <a:effectLst/>
                          <a:latin typeface="+mj-lt"/>
                        </a:rPr>
                        <a:t>0.3475</a:t>
                      </a:r>
                    </a:p>
                  </a:txBody>
                  <a:tcPr marL="7620" marR="7620" marT="7620" marB="0" anchor="b"/>
                </a:tc>
                <a:tc>
                  <a:txBody>
                    <a:bodyPr/>
                    <a:lstStyle/>
                    <a:p>
                      <a:pPr algn="ctr" fontAlgn="b">
                        <a:buNone/>
                      </a:pPr>
                      <a:r>
                        <a:rPr lang="en-US" sz="1800" b="0" i="0" u="none" strike="noStrike">
                          <a:solidFill>
                            <a:srgbClr val="000000"/>
                          </a:solidFill>
                          <a:effectLst/>
                          <a:latin typeface="+mj-lt"/>
                        </a:rPr>
                        <a:t>0.8935</a:t>
                      </a:r>
                    </a:p>
                  </a:txBody>
                  <a:tcPr marL="7620" marR="7620" marT="7620" marB="0" anchor="b"/>
                </a:tc>
                <a:tc>
                  <a:txBody>
                    <a:bodyPr/>
                    <a:lstStyle/>
                    <a:p>
                      <a:pPr algn="ctr" fontAlgn="b">
                        <a:buNone/>
                      </a:pPr>
                      <a:r>
                        <a:rPr lang="en-US" sz="1800" b="0" i="0" u="none" strike="noStrike">
                          <a:solidFill>
                            <a:srgbClr val="000000"/>
                          </a:solidFill>
                          <a:effectLst/>
                          <a:latin typeface="+mj-lt"/>
                        </a:rPr>
                        <a:t>0.3473</a:t>
                      </a:r>
                    </a:p>
                  </a:txBody>
                  <a:tcPr marL="7620" marR="7620" marT="7620" marB="0" anchor="b"/>
                </a:tc>
                <a:tc>
                  <a:txBody>
                    <a:bodyPr/>
                    <a:lstStyle/>
                    <a:p>
                      <a:pPr algn="ctr" fontAlgn="b">
                        <a:buNone/>
                      </a:pPr>
                      <a:r>
                        <a:rPr lang="en-US" sz="1800" b="0" i="0" u="none" strike="noStrike">
                          <a:solidFill>
                            <a:srgbClr val="000000"/>
                          </a:solidFill>
                          <a:effectLst/>
                          <a:latin typeface="+mj-lt"/>
                        </a:rPr>
                        <a:t>0.732</a:t>
                      </a:r>
                    </a:p>
                  </a:txBody>
                  <a:tcPr marL="7620" marR="7620" marT="7620" marB="0" anchor="b"/>
                </a:tc>
                <a:extLst>
                  <a:ext uri="{0D108BD9-81ED-4DB2-BD59-A6C34878D82A}">
                    <a16:rowId xmlns:a16="http://schemas.microsoft.com/office/drawing/2014/main" val="2198424231"/>
                  </a:ext>
                </a:extLst>
              </a:tr>
              <a:tr h="530022">
                <a:tc>
                  <a:txBody>
                    <a:bodyPr/>
                    <a:lstStyle/>
                    <a:p>
                      <a:pPr algn="ctr" fontAlgn="b">
                        <a:buNone/>
                      </a:pPr>
                      <a:r>
                        <a:rPr lang="en-US" sz="1800" b="0" i="0" u="none" strike="noStrike">
                          <a:solidFill>
                            <a:srgbClr val="000000"/>
                          </a:solidFill>
                          <a:effectLst/>
                          <a:latin typeface="+mj-lt"/>
                        </a:rPr>
                        <a:t>SVM</a:t>
                      </a:r>
                    </a:p>
                  </a:txBody>
                  <a:tcPr marL="7620" marR="7620" marT="7620" marB="0" anchor="b"/>
                </a:tc>
                <a:tc>
                  <a:txBody>
                    <a:bodyPr/>
                    <a:lstStyle/>
                    <a:p>
                      <a:pPr algn="ctr" fontAlgn="b">
                        <a:buNone/>
                      </a:pPr>
                      <a:r>
                        <a:rPr lang="en-US" sz="1800" b="0" i="0" u="none" strike="noStrike">
                          <a:solidFill>
                            <a:srgbClr val="000000"/>
                          </a:solidFill>
                          <a:effectLst/>
                          <a:latin typeface="+mj-lt"/>
                        </a:rPr>
                        <a:t>0.8048</a:t>
                      </a:r>
                    </a:p>
                  </a:txBody>
                  <a:tcPr marL="7620" marR="7620" marT="7620" marB="0" anchor="b"/>
                </a:tc>
                <a:tc>
                  <a:txBody>
                    <a:bodyPr/>
                    <a:lstStyle/>
                    <a:p>
                      <a:pPr algn="ctr" fontAlgn="b">
                        <a:buNone/>
                      </a:pPr>
                      <a:r>
                        <a:rPr lang="en-US" sz="1800" b="0" i="0" u="none" strike="noStrike">
                          <a:solidFill>
                            <a:srgbClr val="000000"/>
                          </a:solidFill>
                          <a:effectLst/>
                          <a:latin typeface="+mj-lt"/>
                        </a:rPr>
                        <a:t>0.3044</a:t>
                      </a:r>
                    </a:p>
                  </a:txBody>
                  <a:tcPr marL="7620" marR="7620" marT="7620" marB="0" anchor="b"/>
                </a:tc>
                <a:tc>
                  <a:txBody>
                    <a:bodyPr/>
                    <a:lstStyle/>
                    <a:p>
                      <a:pPr algn="ctr" fontAlgn="b">
                        <a:buNone/>
                      </a:pPr>
                      <a:r>
                        <a:rPr lang="en-US" sz="1800" b="0" i="0" u="none" strike="noStrike">
                          <a:solidFill>
                            <a:srgbClr val="000000"/>
                          </a:solidFill>
                          <a:effectLst/>
                          <a:latin typeface="+mj-lt"/>
                        </a:rPr>
                        <a:t>0.8864</a:t>
                      </a:r>
                    </a:p>
                  </a:txBody>
                  <a:tcPr marL="7620" marR="7620" marT="7620" marB="0" anchor="b"/>
                </a:tc>
                <a:tc>
                  <a:txBody>
                    <a:bodyPr/>
                    <a:lstStyle/>
                    <a:p>
                      <a:pPr algn="ctr" fontAlgn="b">
                        <a:buNone/>
                      </a:pPr>
                      <a:r>
                        <a:rPr lang="en-US" sz="1800" b="0" i="0" u="none" strike="noStrike">
                          <a:solidFill>
                            <a:srgbClr val="000000"/>
                          </a:solidFill>
                          <a:effectLst/>
                          <a:latin typeface="+mj-lt"/>
                        </a:rPr>
                        <a:t>0.3042</a:t>
                      </a:r>
                    </a:p>
                  </a:txBody>
                  <a:tcPr marL="7620" marR="7620" marT="7620" marB="0" anchor="b"/>
                </a:tc>
                <a:tc>
                  <a:txBody>
                    <a:bodyPr/>
                    <a:lstStyle/>
                    <a:p>
                      <a:pPr algn="ctr" fontAlgn="b">
                        <a:buNone/>
                      </a:pPr>
                      <a:r>
                        <a:rPr lang="en-US" sz="1800" b="0" i="0" u="none" strike="noStrike" dirty="0">
                          <a:solidFill>
                            <a:srgbClr val="000000"/>
                          </a:solidFill>
                          <a:effectLst/>
                          <a:latin typeface="+mj-lt"/>
                        </a:rPr>
                        <a:t>0.6854</a:t>
                      </a:r>
                    </a:p>
                  </a:txBody>
                  <a:tcPr marL="7620" marR="7620" marT="7620" marB="0" anchor="b"/>
                </a:tc>
                <a:extLst>
                  <a:ext uri="{0D108BD9-81ED-4DB2-BD59-A6C34878D82A}">
                    <a16:rowId xmlns:a16="http://schemas.microsoft.com/office/drawing/2014/main" val="701007345"/>
                  </a:ext>
                </a:extLst>
              </a:tr>
            </a:tbl>
          </a:graphicData>
        </a:graphic>
      </p:graphicFrame>
      <p:sp>
        <p:nvSpPr>
          <p:cNvPr id="4" name="Title 3">
            <a:extLst>
              <a:ext uri="{FF2B5EF4-FFF2-40B4-BE49-F238E27FC236}">
                <a16:creationId xmlns:a16="http://schemas.microsoft.com/office/drawing/2014/main" id="{7F5E1F16-2E87-3048-91BE-B80C91A3C7B6}"/>
              </a:ext>
            </a:extLst>
          </p:cNvPr>
          <p:cNvSpPr>
            <a:spLocks noGrp="1"/>
          </p:cNvSpPr>
          <p:nvPr>
            <p:ph type="title"/>
          </p:nvPr>
        </p:nvSpPr>
        <p:spPr>
          <a:xfrm>
            <a:off x="457200" y="572018"/>
            <a:ext cx="9110662" cy="571695"/>
          </a:xfrm>
        </p:spPr>
        <p:txBody>
          <a:bodyPr/>
          <a:lstStyle/>
          <a:p>
            <a:r>
              <a:rPr lang="en-US" dirty="0"/>
              <a:t>Classifications Model Compare</a:t>
            </a:r>
          </a:p>
        </p:txBody>
      </p:sp>
    </p:spTree>
    <p:extLst>
      <p:ext uri="{BB962C8B-B14F-4D97-AF65-F5344CB8AC3E}">
        <p14:creationId xmlns:p14="http://schemas.microsoft.com/office/powerpoint/2010/main" val="1494981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45C278-0543-6F2F-189D-9714BF8D1971}"/>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73A2F1E6-8C72-AE3F-3145-4E1385F42EB9}"/>
              </a:ext>
            </a:extLst>
          </p:cNvPr>
          <p:cNvSpPr>
            <a:spLocks noGrp="1"/>
          </p:cNvSpPr>
          <p:nvPr>
            <p:ph type="title"/>
          </p:nvPr>
        </p:nvSpPr>
        <p:spPr>
          <a:xfrm>
            <a:off x="457200" y="572018"/>
            <a:ext cx="9110662" cy="571695"/>
          </a:xfrm>
        </p:spPr>
        <p:txBody>
          <a:bodyPr/>
          <a:lstStyle/>
          <a:p>
            <a:r>
              <a:rPr lang="en-US" dirty="0"/>
              <a:t>Classification: ROC Curves</a:t>
            </a:r>
          </a:p>
        </p:txBody>
      </p:sp>
      <p:pic>
        <p:nvPicPr>
          <p:cNvPr id="6" name="Chart Placeholder 5">
            <a:extLst>
              <a:ext uri="{FF2B5EF4-FFF2-40B4-BE49-F238E27FC236}">
                <a16:creationId xmlns:a16="http://schemas.microsoft.com/office/drawing/2014/main" id="{1AA00BAF-6212-543A-8460-7F10795522F0}"/>
              </a:ext>
            </a:extLst>
          </p:cNvPr>
          <p:cNvPicPr>
            <a:picLocks noGrp="1" noChangeAspect="1"/>
          </p:cNvPicPr>
          <p:nvPr>
            <p:ph type="chart" sz="quarter" idx="13"/>
          </p:nvPr>
        </p:nvPicPr>
        <p:blipFill>
          <a:blip r:embed="rId3"/>
          <a:stretch>
            <a:fillRect/>
          </a:stretch>
        </p:blipFill>
        <p:spPr>
          <a:xfrm>
            <a:off x="797040" y="1364973"/>
            <a:ext cx="11216778" cy="4921009"/>
          </a:xfrm>
          <a:prstGeom prst="rect">
            <a:avLst/>
          </a:prstGeom>
        </p:spPr>
      </p:pic>
    </p:spTree>
    <p:extLst>
      <p:ext uri="{BB962C8B-B14F-4D97-AF65-F5344CB8AC3E}">
        <p14:creationId xmlns:p14="http://schemas.microsoft.com/office/powerpoint/2010/main" val="3024456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C5AFA7-BCE0-4C41-4836-F567AE004D47}"/>
              </a:ext>
            </a:extLst>
          </p:cNvPr>
          <p:cNvSpPr>
            <a:spLocks noGrp="1"/>
          </p:cNvSpPr>
          <p:nvPr>
            <p:ph type="body" sz="quarter" idx="14"/>
          </p:nvPr>
        </p:nvSpPr>
        <p:spPr/>
        <p:txBody>
          <a:bodyPr/>
          <a:lstStyle/>
          <a:p>
            <a:endParaRPr lang="en-US"/>
          </a:p>
        </p:txBody>
      </p:sp>
      <p:graphicFrame>
        <p:nvGraphicFramePr>
          <p:cNvPr id="5" name="Table Placeholder 4">
            <a:extLst>
              <a:ext uri="{FF2B5EF4-FFF2-40B4-BE49-F238E27FC236}">
                <a16:creationId xmlns:a16="http://schemas.microsoft.com/office/drawing/2014/main" id="{D9250DE4-4107-2E26-1625-D67B62836FAD}"/>
              </a:ext>
            </a:extLst>
          </p:cNvPr>
          <p:cNvGraphicFramePr>
            <a:graphicFrameLocks noGrp="1"/>
          </p:cNvGraphicFramePr>
          <p:nvPr>
            <p:ph type="tbl" sz="quarter" idx="13"/>
            <p:extLst>
              <p:ext uri="{D42A27DB-BD31-4B8C-83A1-F6EECF244321}">
                <p14:modId xmlns:p14="http://schemas.microsoft.com/office/powerpoint/2010/main" val="684736714"/>
              </p:ext>
            </p:extLst>
          </p:nvPr>
        </p:nvGraphicFramePr>
        <p:xfrm>
          <a:off x="756744" y="1523999"/>
          <a:ext cx="4246180" cy="4152467"/>
        </p:xfrm>
        <a:graphic>
          <a:graphicData uri="http://schemas.openxmlformats.org/drawingml/2006/table">
            <a:tbl>
              <a:tblPr firstRow="1" bandRow="1">
                <a:tableStyleId>{5C22544A-7EE6-4342-B048-85BDC9FD1C3A}</a:tableStyleId>
              </a:tblPr>
              <a:tblGrid>
                <a:gridCol w="2646970">
                  <a:extLst>
                    <a:ext uri="{9D8B030D-6E8A-4147-A177-3AD203B41FA5}">
                      <a16:colId xmlns:a16="http://schemas.microsoft.com/office/drawing/2014/main" val="2625120218"/>
                    </a:ext>
                  </a:extLst>
                </a:gridCol>
                <a:gridCol w="1599210">
                  <a:extLst>
                    <a:ext uri="{9D8B030D-6E8A-4147-A177-3AD203B41FA5}">
                      <a16:colId xmlns:a16="http://schemas.microsoft.com/office/drawing/2014/main" val="1393174961"/>
                    </a:ext>
                  </a:extLst>
                </a:gridCol>
              </a:tblGrid>
              <a:tr h="377497">
                <a:tc>
                  <a:txBody>
                    <a:bodyPr/>
                    <a:lstStyle/>
                    <a:p>
                      <a:r>
                        <a:rPr lang="en-US" dirty="0"/>
                        <a:t>Variable</a:t>
                      </a:r>
                    </a:p>
                  </a:txBody>
                  <a:tcPr/>
                </a:tc>
                <a:tc>
                  <a:txBody>
                    <a:bodyPr/>
                    <a:lstStyle/>
                    <a:p>
                      <a:r>
                        <a:rPr lang="en-US" dirty="0"/>
                        <a:t>SHAP Score</a:t>
                      </a:r>
                    </a:p>
                  </a:txBody>
                  <a:tcPr/>
                </a:tc>
                <a:extLst>
                  <a:ext uri="{0D108BD9-81ED-4DB2-BD59-A6C34878D82A}">
                    <a16:rowId xmlns:a16="http://schemas.microsoft.com/office/drawing/2014/main" val="2589461489"/>
                  </a:ext>
                </a:extLst>
              </a:tr>
              <a:tr h="377497">
                <a:tc>
                  <a:txBody>
                    <a:bodyPr/>
                    <a:lstStyle/>
                    <a:p>
                      <a:pPr algn="ctr" fontAlgn="b">
                        <a:buNone/>
                      </a:pPr>
                      <a:r>
                        <a:rPr lang="en-US" sz="1600" b="0" i="0" u="none" strike="noStrike" dirty="0">
                          <a:solidFill>
                            <a:srgbClr val="000000"/>
                          </a:solidFill>
                          <a:effectLst/>
                          <a:latin typeface="+mj-lt"/>
                        </a:rPr>
                        <a:t>NAICS2</a:t>
                      </a:r>
                    </a:p>
                  </a:txBody>
                  <a:tcPr marL="7620" marR="7620" marT="7620" marB="0" anchor="b"/>
                </a:tc>
                <a:tc>
                  <a:txBody>
                    <a:bodyPr/>
                    <a:lstStyle/>
                    <a:p>
                      <a:pPr algn="ctr" fontAlgn="b">
                        <a:buNone/>
                      </a:pPr>
                      <a:r>
                        <a:rPr lang="en-US" sz="1800" b="0" i="0" u="none" strike="noStrike" dirty="0">
                          <a:solidFill>
                            <a:srgbClr val="000000"/>
                          </a:solidFill>
                          <a:effectLst/>
                          <a:latin typeface="+mj-lt"/>
                        </a:rPr>
                        <a:t>0.053596</a:t>
                      </a:r>
                    </a:p>
                  </a:txBody>
                  <a:tcPr marL="7620" marR="7620" marT="7620" marB="0" anchor="b"/>
                </a:tc>
                <a:extLst>
                  <a:ext uri="{0D108BD9-81ED-4DB2-BD59-A6C34878D82A}">
                    <a16:rowId xmlns:a16="http://schemas.microsoft.com/office/drawing/2014/main" val="3196285743"/>
                  </a:ext>
                </a:extLst>
              </a:tr>
              <a:tr h="377497">
                <a:tc>
                  <a:txBody>
                    <a:bodyPr/>
                    <a:lstStyle/>
                    <a:p>
                      <a:pPr algn="ctr" fontAlgn="b">
                        <a:buNone/>
                      </a:pPr>
                      <a:r>
                        <a:rPr lang="en-US" sz="1600" b="0" i="0" u="none" strike="noStrike" dirty="0">
                          <a:solidFill>
                            <a:srgbClr val="000000"/>
                          </a:solidFill>
                          <a:effectLst/>
                          <a:latin typeface="+mj-lt"/>
                        </a:rPr>
                        <a:t>Home to Work Travel Time</a:t>
                      </a:r>
                    </a:p>
                  </a:txBody>
                  <a:tcPr marL="7620" marR="7620" marT="7620" marB="0" anchor="b"/>
                </a:tc>
                <a:tc>
                  <a:txBody>
                    <a:bodyPr/>
                    <a:lstStyle/>
                    <a:p>
                      <a:pPr algn="ctr" fontAlgn="b">
                        <a:buNone/>
                      </a:pPr>
                      <a:r>
                        <a:rPr lang="en-US" sz="1800" b="0" i="0" u="none" strike="noStrike" dirty="0">
                          <a:solidFill>
                            <a:srgbClr val="000000"/>
                          </a:solidFill>
                          <a:effectLst/>
                          <a:latin typeface="+mj-lt"/>
                        </a:rPr>
                        <a:t>0.012369</a:t>
                      </a:r>
                    </a:p>
                  </a:txBody>
                  <a:tcPr marL="7620" marR="7620" marT="7620" marB="0" anchor="b"/>
                </a:tc>
                <a:extLst>
                  <a:ext uri="{0D108BD9-81ED-4DB2-BD59-A6C34878D82A}">
                    <a16:rowId xmlns:a16="http://schemas.microsoft.com/office/drawing/2014/main" val="373782583"/>
                  </a:ext>
                </a:extLst>
              </a:tr>
              <a:tr h="377497">
                <a:tc>
                  <a:txBody>
                    <a:bodyPr/>
                    <a:lstStyle/>
                    <a:p>
                      <a:pPr algn="ctr" fontAlgn="b">
                        <a:buNone/>
                      </a:pPr>
                      <a:r>
                        <a:rPr lang="en-US" sz="1600" b="0" i="0" u="none" strike="noStrike" dirty="0">
                          <a:solidFill>
                            <a:srgbClr val="000000"/>
                          </a:solidFill>
                          <a:effectLst/>
                          <a:latin typeface="+mj-lt"/>
                        </a:rPr>
                        <a:t>ACS Income</a:t>
                      </a:r>
                    </a:p>
                  </a:txBody>
                  <a:tcPr marL="7620" marR="7620" marT="7620" marB="0" anchor="b"/>
                </a:tc>
                <a:tc>
                  <a:txBody>
                    <a:bodyPr/>
                    <a:lstStyle/>
                    <a:p>
                      <a:pPr algn="ctr" fontAlgn="b">
                        <a:buNone/>
                      </a:pPr>
                      <a:r>
                        <a:rPr lang="en-US" sz="1800" b="0" i="0" u="none" strike="noStrike" dirty="0">
                          <a:solidFill>
                            <a:srgbClr val="000000"/>
                          </a:solidFill>
                          <a:effectLst/>
                          <a:latin typeface="+mj-lt"/>
                        </a:rPr>
                        <a:t>0.008043</a:t>
                      </a:r>
                    </a:p>
                  </a:txBody>
                  <a:tcPr marL="7620" marR="7620" marT="7620" marB="0" anchor="b"/>
                </a:tc>
                <a:extLst>
                  <a:ext uri="{0D108BD9-81ED-4DB2-BD59-A6C34878D82A}">
                    <a16:rowId xmlns:a16="http://schemas.microsoft.com/office/drawing/2014/main" val="298212368"/>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Home to Work Distance</a:t>
                      </a:r>
                    </a:p>
                  </a:txBody>
                  <a:tcPr marL="7620" marR="7620" marT="7620" marB="0" anchor="b"/>
                </a:tc>
                <a:tc>
                  <a:txBody>
                    <a:bodyPr/>
                    <a:lstStyle/>
                    <a:p>
                      <a:pPr algn="ctr" fontAlgn="b">
                        <a:buNone/>
                      </a:pPr>
                      <a:r>
                        <a:rPr lang="en-US" sz="1800" b="0" i="0" u="none" strike="noStrike">
                          <a:solidFill>
                            <a:srgbClr val="000000"/>
                          </a:solidFill>
                          <a:effectLst/>
                          <a:latin typeface="+mj-lt"/>
                        </a:rPr>
                        <a:t>0.006659</a:t>
                      </a:r>
                    </a:p>
                  </a:txBody>
                  <a:tcPr marL="7620" marR="7620" marT="7620" marB="0" anchor="b"/>
                </a:tc>
                <a:extLst>
                  <a:ext uri="{0D108BD9-81ED-4DB2-BD59-A6C34878D82A}">
                    <a16:rowId xmlns:a16="http://schemas.microsoft.com/office/drawing/2014/main" val="1780269313"/>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NO. of Fulltime Workers in HH</a:t>
                      </a:r>
                    </a:p>
                  </a:txBody>
                  <a:tcPr marL="7620" marR="7620" marT="7620" marB="0" anchor="b"/>
                </a:tc>
                <a:tc>
                  <a:txBody>
                    <a:bodyPr/>
                    <a:lstStyle/>
                    <a:p>
                      <a:pPr algn="ctr" fontAlgn="b">
                        <a:buNone/>
                      </a:pPr>
                      <a:r>
                        <a:rPr lang="en-US" sz="1800" b="0" i="0" u="none" strike="noStrike" dirty="0">
                          <a:solidFill>
                            <a:srgbClr val="000000"/>
                          </a:solidFill>
                          <a:effectLst/>
                          <a:latin typeface="+mj-lt"/>
                        </a:rPr>
                        <a:t>0.005161</a:t>
                      </a:r>
                    </a:p>
                  </a:txBody>
                  <a:tcPr marL="7620" marR="7620" marT="7620" marB="0" anchor="b"/>
                </a:tc>
                <a:extLst>
                  <a:ext uri="{0D108BD9-81ED-4DB2-BD59-A6C34878D82A}">
                    <a16:rowId xmlns:a16="http://schemas.microsoft.com/office/drawing/2014/main" val="2329639642"/>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NO. of Vehicles in HH</a:t>
                      </a:r>
                    </a:p>
                  </a:txBody>
                  <a:tcPr marL="7620" marR="7620" marT="7620" marB="0" anchor="b"/>
                </a:tc>
                <a:tc>
                  <a:txBody>
                    <a:bodyPr/>
                    <a:lstStyle/>
                    <a:p>
                      <a:pPr algn="ctr" fontAlgn="b">
                        <a:buNone/>
                      </a:pPr>
                      <a:r>
                        <a:rPr lang="en-US" sz="1800" b="0" i="0" u="none" strike="noStrike" dirty="0">
                          <a:solidFill>
                            <a:srgbClr val="000000"/>
                          </a:solidFill>
                          <a:effectLst/>
                          <a:latin typeface="+mj-lt"/>
                        </a:rPr>
                        <a:t>0.004155</a:t>
                      </a:r>
                    </a:p>
                  </a:txBody>
                  <a:tcPr marL="7620" marR="7620" marT="7620" marB="0" anchor="b"/>
                </a:tc>
                <a:extLst>
                  <a:ext uri="{0D108BD9-81ED-4DB2-BD59-A6C34878D82A}">
                    <a16:rowId xmlns:a16="http://schemas.microsoft.com/office/drawing/2014/main" val="3380245643"/>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NO. of Drivers in HH</a:t>
                      </a:r>
                    </a:p>
                  </a:txBody>
                  <a:tcPr marL="7620" marR="7620" marT="7620" marB="0" anchor="b"/>
                </a:tc>
                <a:tc>
                  <a:txBody>
                    <a:bodyPr/>
                    <a:lstStyle/>
                    <a:p>
                      <a:pPr algn="ctr" fontAlgn="b">
                        <a:buNone/>
                      </a:pPr>
                      <a:r>
                        <a:rPr lang="en-US" sz="1800" b="0" i="0" u="none" strike="noStrike" dirty="0">
                          <a:solidFill>
                            <a:srgbClr val="000000"/>
                          </a:solidFill>
                          <a:effectLst/>
                          <a:latin typeface="+mj-lt"/>
                        </a:rPr>
                        <a:t>0.004018</a:t>
                      </a:r>
                    </a:p>
                  </a:txBody>
                  <a:tcPr marL="7620" marR="7620" marT="7620" marB="0" anchor="b"/>
                </a:tc>
                <a:extLst>
                  <a:ext uri="{0D108BD9-81ED-4DB2-BD59-A6C34878D82A}">
                    <a16:rowId xmlns:a16="http://schemas.microsoft.com/office/drawing/2014/main" val="2929717859"/>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Pickup or Dropoff Under18</a:t>
                      </a:r>
                    </a:p>
                  </a:txBody>
                  <a:tcPr marL="7620" marR="7620" marT="7620" marB="0" anchor="b"/>
                </a:tc>
                <a:tc>
                  <a:txBody>
                    <a:bodyPr/>
                    <a:lstStyle/>
                    <a:p>
                      <a:pPr algn="ctr" fontAlgn="b">
                        <a:buNone/>
                      </a:pPr>
                      <a:r>
                        <a:rPr lang="en-US" sz="1800" b="0" i="0" u="none" strike="noStrike" dirty="0">
                          <a:solidFill>
                            <a:srgbClr val="000000"/>
                          </a:solidFill>
                          <a:effectLst/>
                          <a:latin typeface="+mj-lt"/>
                        </a:rPr>
                        <a:t>0.001618</a:t>
                      </a:r>
                    </a:p>
                  </a:txBody>
                  <a:tcPr marL="7620" marR="7620" marT="7620" marB="0" anchor="b"/>
                </a:tc>
                <a:extLst>
                  <a:ext uri="{0D108BD9-81ED-4DB2-BD59-A6C34878D82A}">
                    <a16:rowId xmlns:a16="http://schemas.microsoft.com/office/drawing/2014/main" val="4292609002"/>
                  </a:ext>
                </a:extLst>
              </a:tr>
              <a:tr h="377497">
                <a:tc>
                  <a:txBody>
                    <a:bodyPr/>
                    <a:lstStyle/>
                    <a:p>
                      <a:pPr algn="ctr" fontAlgn="b">
                        <a:buNone/>
                      </a:pPr>
                      <a:r>
                        <a:rPr lang="en-US" sz="1600" b="0" i="0" u="none" strike="noStrike" dirty="0">
                          <a:solidFill>
                            <a:srgbClr val="000000"/>
                          </a:solidFill>
                          <a:effectLst/>
                          <a:latin typeface="+mj-lt"/>
                        </a:rPr>
                        <a:t>NO. of Parttime Workers in HH</a:t>
                      </a:r>
                    </a:p>
                  </a:txBody>
                  <a:tcPr marL="7620" marR="7620" marT="7620" marB="0" anchor="b"/>
                </a:tc>
                <a:tc>
                  <a:txBody>
                    <a:bodyPr/>
                    <a:lstStyle/>
                    <a:p>
                      <a:pPr algn="ctr" fontAlgn="b">
                        <a:buNone/>
                      </a:pPr>
                      <a:r>
                        <a:rPr lang="en-US" sz="1800" b="0" i="0" u="none" strike="noStrike" dirty="0">
                          <a:solidFill>
                            <a:srgbClr val="000000"/>
                          </a:solidFill>
                          <a:effectLst/>
                          <a:latin typeface="+mj-lt"/>
                        </a:rPr>
                        <a:t>0.001448</a:t>
                      </a:r>
                    </a:p>
                  </a:txBody>
                  <a:tcPr marL="7620" marR="7620" marT="7620" marB="0" anchor="b"/>
                </a:tc>
                <a:extLst>
                  <a:ext uri="{0D108BD9-81ED-4DB2-BD59-A6C34878D82A}">
                    <a16:rowId xmlns:a16="http://schemas.microsoft.com/office/drawing/2014/main" val="795731830"/>
                  </a:ext>
                </a:extLst>
              </a:tr>
              <a:tr h="377497">
                <a:tc>
                  <a:txBody>
                    <a:bodyPr/>
                    <a:lstStyle/>
                    <a:p>
                      <a:pPr algn="ctr" fontAlgn="b">
                        <a:buNone/>
                      </a:pPr>
                      <a:r>
                        <a:rPr lang="en-US" sz="1600" b="0" i="0" u="none" strike="noStrike" dirty="0">
                          <a:solidFill>
                            <a:srgbClr val="000000"/>
                          </a:solidFill>
                          <a:effectLst/>
                          <a:latin typeface="+mj-lt"/>
                        </a:rPr>
                        <a:t>Pickup or Dropoff 18 Plus</a:t>
                      </a:r>
                    </a:p>
                  </a:txBody>
                  <a:tcPr marL="7620" marR="7620" marT="7620" marB="0" anchor="b"/>
                </a:tc>
                <a:tc>
                  <a:txBody>
                    <a:bodyPr/>
                    <a:lstStyle/>
                    <a:p>
                      <a:pPr algn="ctr" fontAlgn="b">
                        <a:buNone/>
                      </a:pPr>
                      <a:r>
                        <a:rPr lang="en-US" sz="1800" b="0" i="0" u="none" strike="noStrike" dirty="0">
                          <a:solidFill>
                            <a:srgbClr val="000000"/>
                          </a:solidFill>
                          <a:effectLst/>
                          <a:latin typeface="+mj-lt"/>
                        </a:rPr>
                        <a:t>0.001125</a:t>
                      </a:r>
                    </a:p>
                  </a:txBody>
                  <a:tcPr marL="7620" marR="7620" marT="7620" marB="0" anchor="b"/>
                </a:tc>
                <a:extLst>
                  <a:ext uri="{0D108BD9-81ED-4DB2-BD59-A6C34878D82A}">
                    <a16:rowId xmlns:a16="http://schemas.microsoft.com/office/drawing/2014/main" val="3350915564"/>
                  </a:ext>
                </a:extLst>
              </a:tr>
            </a:tbl>
          </a:graphicData>
        </a:graphic>
      </p:graphicFrame>
      <p:sp>
        <p:nvSpPr>
          <p:cNvPr id="4" name="Title 3">
            <a:extLst>
              <a:ext uri="{FF2B5EF4-FFF2-40B4-BE49-F238E27FC236}">
                <a16:creationId xmlns:a16="http://schemas.microsoft.com/office/drawing/2014/main" id="{E2615C8A-85E2-D025-1661-1764C5C29AE0}"/>
              </a:ext>
            </a:extLst>
          </p:cNvPr>
          <p:cNvSpPr>
            <a:spLocks noGrp="1"/>
          </p:cNvSpPr>
          <p:nvPr>
            <p:ph type="title"/>
          </p:nvPr>
        </p:nvSpPr>
        <p:spPr>
          <a:xfrm>
            <a:off x="457200" y="572018"/>
            <a:ext cx="9110662" cy="571695"/>
          </a:xfrm>
        </p:spPr>
        <p:txBody>
          <a:bodyPr/>
          <a:lstStyle/>
          <a:p>
            <a:r>
              <a:rPr lang="en-US" dirty="0"/>
              <a:t>SHAP Feature Importance</a:t>
            </a:r>
          </a:p>
        </p:txBody>
      </p:sp>
      <p:graphicFrame>
        <p:nvGraphicFramePr>
          <p:cNvPr id="6" name="Table Placeholder 4">
            <a:extLst>
              <a:ext uri="{FF2B5EF4-FFF2-40B4-BE49-F238E27FC236}">
                <a16:creationId xmlns:a16="http://schemas.microsoft.com/office/drawing/2014/main" id="{9022B63C-0FB8-0BED-775F-197C9CA0AE34}"/>
              </a:ext>
            </a:extLst>
          </p:cNvPr>
          <p:cNvGraphicFramePr>
            <a:graphicFrameLocks/>
          </p:cNvGraphicFramePr>
          <p:nvPr>
            <p:extLst>
              <p:ext uri="{D42A27DB-BD31-4B8C-83A1-F6EECF244321}">
                <p14:modId xmlns:p14="http://schemas.microsoft.com/office/powerpoint/2010/main" val="3535324220"/>
              </p:ext>
            </p:extLst>
          </p:nvPr>
        </p:nvGraphicFramePr>
        <p:xfrm>
          <a:off x="5365532" y="1523999"/>
          <a:ext cx="4246180" cy="4152467"/>
        </p:xfrm>
        <a:graphic>
          <a:graphicData uri="http://schemas.openxmlformats.org/drawingml/2006/table">
            <a:tbl>
              <a:tblPr firstRow="1" bandRow="1">
                <a:tableStyleId>{5C22544A-7EE6-4342-B048-85BDC9FD1C3A}</a:tableStyleId>
              </a:tblPr>
              <a:tblGrid>
                <a:gridCol w="2646970">
                  <a:extLst>
                    <a:ext uri="{9D8B030D-6E8A-4147-A177-3AD203B41FA5}">
                      <a16:colId xmlns:a16="http://schemas.microsoft.com/office/drawing/2014/main" val="2625120218"/>
                    </a:ext>
                  </a:extLst>
                </a:gridCol>
                <a:gridCol w="1599210">
                  <a:extLst>
                    <a:ext uri="{9D8B030D-6E8A-4147-A177-3AD203B41FA5}">
                      <a16:colId xmlns:a16="http://schemas.microsoft.com/office/drawing/2014/main" val="1393174961"/>
                    </a:ext>
                  </a:extLst>
                </a:gridCol>
              </a:tblGrid>
              <a:tr h="377497">
                <a:tc>
                  <a:txBody>
                    <a:bodyPr/>
                    <a:lstStyle/>
                    <a:p>
                      <a:r>
                        <a:rPr lang="en-US" dirty="0"/>
                        <a:t>Variable</a:t>
                      </a:r>
                    </a:p>
                  </a:txBody>
                  <a:tcPr/>
                </a:tc>
                <a:tc>
                  <a:txBody>
                    <a:bodyPr/>
                    <a:lstStyle/>
                    <a:p>
                      <a:r>
                        <a:rPr lang="en-US" dirty="0"/>
                        <a:t>SHAP Score</a:t>
                      </a:r>
                    </a:p>
                  </a:txBody>
                  <a:tcPr/>
                </a:tc>
                <a:extLst>
                  <a:ext uri="{0D108BD9-81ED-4DB2-BD59-A6C34878D82A}">
                    <a16:rowId xmlns:a16="http://schemas.microsoft.com/office/drawing/2014/main" val="2589461489"/>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NAICS2</a:t>
                      </a:r>
                    </a:p>
                  </a:txBody>
                  <a:tcPr marL="7620" marR="7620" marT="7620" marB="0" anchor="b"/>
                </a:tc>
                <a:tc>
                  <a:txBody>
                    <a:bodyPr/>
                    <a:lstStyle/>
                    <a:p>
                      <a:pPr algn="ctr" fontAlgn="b">
                        <a:buNone/>
                      </a:pPr>
                      <a:r>
                        <a:rPr lang="en-US" sz="1800" b="0" i="0" u="none" strike="noStrike">
                          <a:solidFill>
                            <a:srgbClr val="000000"/>
                          </a:solidFill>
                          <a:effectLst/>
                          <a:latin typeface="+mj-lt"/>
                        </a:rPr>
                        <a:t>0.05351</a:t>
                      </a:r>
                    </a:p>
                  </a:txBody>
                  <a:tcPr marL="7620" marR="7620" marT="7620" marB="0" anchor="b"/>
                </a:tc>
                <a:extLst>
                  <a:ext uri="{0D108BD9-81ED-4DB2-BD59-A6C34878D82A}">
                    <a16:rowId xmlns:a16="http://schemas.microsoft.com/office/drawing/2014/main" val="3196285743"/>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Home to Work Distance</a:t>
                      </a:r>
                    </a:p>
                  </a:txBody>
                  <a:tcPr marL="7620" marR="7620" marT="7620" marB="0" anchor="b"/>
                </a:tc>
                <a:tc>
                  <a:txBody>
                    <a:bodyPr/>
                    <a:lstStyle/>
                    <a:p>
                      <a:pPr algn="ctr" fontAlgn="b">
                        <a:buNone/>
                      </a:pPr>
                      <a:r>
                        <a:rPr lang="en-US" sz="1800" b="0" i="0" u="none" strike="noStrike">
                          <a:solidFill>
                            <a:srgbClr val="000000"/>
                          </a:solidFill>
                          <a:effectLst/>
                          <a:latin typeface="+mj-lt"/>
                        </a:rPr>
                        <a:t>0.02766</a:t>
                      </a:r>
                    </a:p>
                  </a:txBody>
                  <a:tcPr marL="7620" marR="7620" marT="7620" marB="0" anchor="b"/>
                </a:tc>
                <a:extLst>
                  <a:ext uri="{0D108BD9-81ED-4DB2-BD59-A6C34878D82A}">
                    <a16:rowId xmlns:a16="http://schemas.microsoft.com/office/drawing/2014/main" val="373782583"/>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Home to Work Travel Time</a:t>
                      </a:r>
                    </a:p>
                  </a:txBody>
                  <a:tcPr marL="7620" marR="7620" marT="7620" marB="0" anchor="b"/>
                </a:tc>
                <a:tc>
                  <a:txBody>
                    <a:bodyPr/>
                    <a:lstStyle/>
                    <a:p>
                      <a:pPr algn="ctr" fontAlgn="b">
                        <a:buNone/>
                      </a:pPr>
                      <a:r>
                        <a:rPr lang="en-US" sz="1800" b="0" i="0" u="none" strike="noStrike">
                          <a:solidFill>
                            <a:srgbClr val="000000"/>
                          </a:solidFill>
                          <a:effectLst/>
                          <a:latin typeface="+mj-lt"/>
                        </a:rPr>
                        <a:t>0.02629</a:t>
                      </a:r>
                    </a:p>
                  </a:txBody>
                  <a:tcPr marL="7620" marR="7620" marT="7620" marB="0" anchor="b"/>
                </a:tc>
                <a:extLst>
                  <a:ext uri="{0D108BD9-81ED-4DB2-BD59-A6C34878D82A}">
                    <a16:rowId xmlns:a16="http://schemas.microsoft.com/office/drawing/2014/main" val="298212368"/>
                  </a:ext>
                </a:extLst>
              </a:tr>
              <a:tr h="377497">
                <a:tc>
                  <a:txBody>
                    <a:bodyPr/>
                    <a:lstStyle/>
                    <a:p>
                      <a:pPr algn="ctr" fontAlgn="b">
                        <a:buNone/>
                      </a:pPr>
                      <a:r>
                        <a:rPr lang="en-US" sz="1600" b="0" i="0" u="none" strike="noStrike" dirty="0">
                          <a:solidFill>
                            <a:srgbClr val="000000"/>
                          </a:solidFill>
                          <a:effectLst/>
                          <a:latin typeface="+mj-lt"/>
                        </a:rPr>
                        <a:t>ACS Income</a:t>
                      </a:r>
                    </a:p>
                  </a:txBody>
                  <a:tcPr marL="7620" marR="7620" marT="7620" marB="0" anchor="b"/>
                </a:tc>
                <a:tc>
                  <a:txBody>
                    <a:bodyPr/>
                    <a:lstStyle/>
                    <a:p>
                      <a:pPr algn="ctr" fontAlgn="b">
                        <a:buNone/>
                      </a:pPr>
                      <a:r>
                        <a:rPr lang="en-US" sz="1800" b="0" i="0" u="none" strike="noStrike">
                          <a:solidFill>
                            <a:srgbClr val="000000"/>
                          </a:solidFill>
                          <a:effectLst/>
                          <a:latin typeface="+mj-lt"/>
                        </a:rPr>
                        <a:t>0.0157</a:t>
                      </a:r>
                    </a:p>
                  </a:txBody>
                  <a:tcPr marL="7620" marR="7620" marT="7620" marB="0" anchor="b"/>
                </a:tc>
                <a:extLst>
                  <a:ext uri="{0D108BD9-81ED-4DB2-BD59-A6C34878D82A}">
                    <a16:rowId xmlns:a16="http://schemas.microsoft.com/office/drawing/2014/main" val="1780269313"/>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NO. of Drivers in HH</a:t>
                      </a:r>
                    </a:p>
                  </a:txBody>
                  <a:tcPr marL="7620" marR="7620" marT="7620" marB="0" anchor="b"/>
                </a:tc>
                <a:tc>
                  <a:txBody>
                    <a:bodyPr/>
                    <a:lstStyle/>
                    <a:p>
                      <a:pPr algn="ctr" fontAlgn="b">
                        <a:buNone/>
                      </a:pPr>
                      <a:r>
                        <a:rPr lang="en-US" sz="1800" b="0" i="0" u="none" strike="noStrike">
                          <a:solidFill>
                            <a:srgbClr val="000000"/>
                          </a:solidFill>
                          <a:effectLst/>
                          <a:latin typeface="+mj-lt"/>
                        </a:rPr>
                        <a:t>0.01013</a:t>
                      </a:r>
                    </a:p>
                  </a:txBody>
                  <a:tcPr marL="7620" marR="7620" marT="7620" marB="0" anchor="b"/>
                </a:tc>
                <a:extLst>
                  <a:ext uri="{0D108BD9-81ED-4DB2-BD59-A6C34878D82A}">
                    <a16:rowId xmlns:a16="http://schemas.microsoft.com/office/drawing/2014/main" val="2329639642"/>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NO. of Vehicles in HH</a:t>
                      </a:r>
                    </a:p>
                  </a:txBody>
                  <a:tcPr marL="7620" marR="7620" marT="7620" marB="0" anchor="b"/>
                </a:tc>
                <a:tc>
                  <a:txBody>
                    <a:bodyPr/>
                    <a:lstStyle/>
                    <a:p>
                      <a:pPr algn="ctr" fontAlgn="b">
                        <a:buNone/>
                      </a:pPr>
                      <a:r>
                        <a:rPr lang="en-US" sz="1800" b="0" i="0" u="none" strike="noStrike">
                          <a:solidFill>
                            <a:srgbClr val="000000"/>
                          </a:solidFill>
                          <a:effectLst/>
                          <a:latin typeface="+mj-lt"/>
                        </a:rPr>
                        <a:t>0.00976</a:t>
                      </a:r>
                    </a:p>
                  </a:txBody>
                  <a:tcPr marL="7620" marR="7620" marT="7620" marB="0" anchor="b"/>
                </a:tc>
                <a:extLst>
                  <a:ext uri="{0D108BD9-81ED-4DB2-BD59-A6C34878D82A}">
                    <a16:rowId xmlns:a16="http://schemas.microsoft.com/office/drawing/2014/main" val="3380245643"/>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NO. of Fulltime Workers in HH</a:t>
                      </a:r>
                    </a:p>
                  </a:txBody>
                  <a:tcPr marL="7620" marR="7620" marT="7620" marB="0" anchor="b"/>
                </a:tc>
                <a:tc>
                  <a:txBody>
                    <a:bodyPr/>
                    <a:lstStyle/>
                    <a:p>
                      <a:pPr algn="ctr" fontAlgn="b">
                        <a:buNone/>
                      </a:pPr>
                      <a:r>
                        <a:rPr lang="en-US" sz="1800" b="0" i="0" u="none" strike="noStrike">
                          <a:solidFill>
                            <a:srgbClr val="000000"/>
                          </a:solidFill>
                          <a:effectLst/>
                          <a:latin typeface="+mj-lt"/>
                        </a:rPr>
                        <a:t>0.007</a:t>
                      </a:r>
                    </a:p>
                  </a:txBody>
                  <a:tcPr marL="7620" marR="7620" marT="7620" marB="0" anchor="b"/>
                </a:tc>
                <a:extLst>
                  <a:ext uri="{0D108BD9-81ED-4DB2-BD59-A6C34878D82A}">
                    <a16:rowId xmlns:a16="http://schemas.microsoft.com/office/drawing/2014/main" val="2929717859"/>
                  </a:ext>
                </a:extLst>
              </a:tr>
              <a:tr h="377497">
                <a:tc>
                  <a:txBody>
                    <a:bodyPr/>
                    <a:lstStyle/>
                    <a:p>
                      <a:pPr algn="ctr" fontAlgn="b">
                        <a:buNone/>
                      </a:pPr>
                      <a:r>
                        <a:rPr lang="en-US" sz="1600" b="0" i="0" u="none" strike="noStrike" kern="1200" dirty="0">
                          <a:solidFill>
                            <a:srgbClr val="000000"/>
                          </a:solidFill>
                          <a:effectLst/>
                          <a:latin typeface="+mn-lt"/>
                          <a:ea typeface="+mn-ea"/>
                          <a:cs typeface="+mn-cs"/>
                        </a:rPr>
                        <a:t>NO. of Parttime Workers in HH</a:t>
                      </a:r>
                    </a:p>
                  </a:txBody>
                  <a:tcPr marL="7620" marR="7620" marT="7620" marB="0" anchor="b"/>
                </a:tc>
                <a:tc>
                  <a:txBody>
                    <a:bodyPr/>
                    <a:lstStyle/>
                    <a:p>
                      <a:pPr algn="ctr" fontAlgn="b">
                        <a:buNone/>
                      </a:pPr>
                      <a:r>
                        <a:rPr lang="en-US" sz="1800" b="0" i="0" u="none" strike="noStrike">
                          <a:solidFill>
                            <a:srgbClr val="000000"/>
                          </a:solidFill>
                          <a:effectLst/>
                          <a:latin typeface="+mj-lt"/>
                        </a:rPr>
                        <a:t>0.00621</a:t>
                      </a:r>
                    </a:p>
                  </a:txBody>
                  <a:tcPr marL="7620" marR="7620" marT="7620" marB="0" anchor="b"/>
                </a:tc>
                <a:extLst>
                  <a:ext uri="{0D108BD9-81ED-4DB2-BD59-A6C34878D82A}">
                    <a16:rowId xmlns:a16="http://schemas.microsoft.com/office/drawing/2014/main" val="4292609002"/>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Pickup or Dropoff Under18</a:t>
                      </a:r>
                    </a:p>
                  </a:txBody>
                  <a:tcPr marL="7620" marR="7620" marT="7620" marB="0" anchor="b"/>
                </a:tc>
                <a:tc>
                  <a:txBody>
                    <a:bodyPr/>
                    <a:lstStyle/>
                    <a:p>
                      <a:pPr algn="ctr" fontAlgn="b">
                        <a:buNone/>
                      </a:pPr>
                      <a:r>
                        <a:rPr lang="en-US" sz="1800" b="0" i="0" u="none" strike="noStrike">
                          <a:solidFill>
                            <a:srgbClr val="000000"/>
                          </a:solidFill>
                          <a:effectLst/>
                          <a:latin typeface="+mj-lt"/>
                        </a:rPr>
                        <a:t>0.00585</a:t>
                      </a:r>
                    </a:p>
                  </a:txBody>
                  <a:tcPr marL="7620" marR="7620" marT="7620" marB="0" anchor="b"/>
                </a:tc>
                <a:extLst>
                  <a:ext uri="{0D108BD9-81ED-4DB2-BD59-A6C34878D82A}">
                    <a16:rowId xmlns:a16="http://schemas.microsoft.com/office/drawing/2014/main" val="795731830"/>
                  </a:ext>
                </a:extLst>
              </a:tr>
              <a:tr h="37749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kern="1200" dirty="0">
                          <a:solidFill>
                            <a:srgbClr val="000000"/>
                          </a:solidFill>
                          <a:effectLst/>
                          <a:latin typeface="+mn-lt"/>
                          <a:ea typeface="+mn-ea"/>
                          <a:cs typeface="+mn-cs"/>
                        </a:rPr>
                        <a:t>Pickup or Dropoff 18 Plus</a:t>
                      </a:r>
                    </a:p>
                  </a:txBody>
                  <a:tcPr marL="7620" marR="7620" marT="7620" marB="0" anchor="b"/>
                </a:tc>
                <a:tc>
                  <a:txBody>
                    <a:bodyPr/>
                    <a:lstStyle/>
                    <a:p>
                      <a:pPr algn="ctr" fontAlgn="b">
                        <a:buNone/>
                      </a:pPr>
                      <a:r>
                        <a:rPr lang="en-US" sz="1800" b="0" i="0" u="none" strike="noStrike" dirty="0">
                          <a:solidFill>
                            <a:srgbClr val="000000"/>
                          </a:solidFill>
                          <a:effectLst/>
                          <a:latin typeface="+mj-lt"/>
                        </a:rPr>
                        <a:t>0.00133</a:t>
                      </a:r>
                    </a:p>
                  </a:txBody>
                  <a:tcPr marL="7620" marR="7620" marT="7620" marB="0" anchor="b"/>
                </a:tc>
                <a:extLst>
                  <a:ext uri="{0D108BD9-81ED-4DB2-BD59-A6C34878D82A}">
                    <a16:rowId xmlns:a16="http://schemas.microsoft.com/office/drawing/2014/main" val="3350915564"/>
                  </a:ext>
                </a:extLst>
              </a:tr>
            </a:tbl>
          </a:graphicData>
        </a:graphic>
      </p:graphicFrame>
      <p:sp>
        <p:nvSpPr>
          <p:cNvPr id="3" name="TextBox 2">
            <a:extLst>
              <a:ext uri="{FF2B5EF4-FFF2-40B4-BE49-F238E27FC236}">
                <a16:creationId xmlns:a16="http://schemas.microsoft.com/office/drawing/2014/main" id="{C03A97DE-8830-7BCF-D056-12DFA2E21809}"/>
              </a:ext>
            </a:extLst>
          </p:cNvPr>
          <p:cNvSpPr txBox="1"/>
          <p:nvPr/>
        </p:nvSpPr>
        <p:spPr>
          <a:xfrm>
            <a:off x="2430602" y="5687420"/>
            <a:ext cx="1006045" cy="369332"/>
          </a:xfrm>
          <a:prstGeom prst="rect">
            <a:avLst/>
          </a:prstGeom>
          <a:noFill/>
        </p:spPr>
        <p:txBody>
          <a:bodyPr wrap="none" rtlCol="0">
            <a:spAutoFit/>
          </a:bodyPr>
          <a:lstStyle/>
          <a:p>
            <a:r>
              <a:rPr lang="en-US" dirty="0" err="1"/>
              <a:t>XGBoost</a:t>
            </a:r>
            <a:endParaRPr lang="en-US" dirty="0"/>
          </a:p>
        </p:txBody>
      </p:sp>
      <p:sp>
        <p:nvSpPr>
          <p:cNvPr id="7" name="TextBox 6">
            <a:extLst>
              <a:ext uri="{FF2B5EF4-FFF2-40B4-BE49-F238E27FC236}">
                <a16:creationId xmlns:a16="http://schemas.microsoft.com/office/drawing/2014/main" id="{B010CBD8-3A89-877B-CB61-8E1BAB626776}"/>
              </a:ext>
            </a:extLst>
          </p:cNvPr>
          <p:cNvSpPr txBox="1"/>
          <p:nvPr/>
        </p:nvSpPr>
        <p:spPr>
          <a:xfrm>
            <a:off x="6859474" y="5676466"/>
            <a:ext cx="1636666" cy="369332"/>
          </a:xfrm>
          <a:prstGeom prst="rect">
            <a:avLst/>
          </a:prstGeom>
          <a:noFill/>
        </p:spPr>
        <p:txBody>
          <a:bodyPr wrap="none" rtlCol="0">
            <a:spAutoFit/>
          </a:bodyPr>
          <a:lstStyle/>
          <a:p>
            <a:r>
              <a:rPr lang="en-US" dirty="0"/>
              <a:t>Random Forest</a:t>
            </a:r>
          </a:p>
        </p:txBody>
      </p:sp>
    </p:spTree>
    <p:extLst>
      <p:ext uri="{BB962C8B-B14F-4D97-AF65-F5344CB8AC3E}">
        <p14:creationId xmlns:p14="http://schemas.microsoft.com/office/powerpoint/2010/main" val="1421090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B8A60D-1526-323C-E1D2-800449452FDB}"/>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09029B2A-0A47-43C5-A040-4518F7121116}"/>
              </a:ext>
            </a:extLst>
          </p:cNvPr>
          <p:cNvSpPr>
            <a:spLocks noGrp="1"/>
          </p:cNvSpPr>
          <p:nvPr>
            <p:ph sz="quarter" idx="13"/>
          </p:nvPr>
        </p:nvSpPr>
        <p:spPr>
          <a:xfrm>
            <a:off x="471744" y="1603512"/>
            <a:ext cx="11270489" cy="5252720"/>
          </a:xfrm>
        </p:spPr>
        <p:txBody>
          <a:bodyPr/>
          <a:lstStyle/>
          <a:p>
            <a:r>
              <a:rPr lang="en-US" dirty="0"/>
              <a:t>General Comparison</a:t>
            </a:r>
          </a:p>
          <a:p>
            <a:pPr lvl="1"/>
            <a:r>
              <a:rPr lang="en-US" dirty="0"/>
              <a:t>Models had a hard time to forecast positives. (Low recalls)</a:t>
            </a:r>
          </a:p>
          <a:p>
            <a:pPr lvl="1"/>
            <a:r>
              <a:rPr lang="en-US" dirty="0"/>
              <a:t>Decision tree model has the highest accuracy and specificity, but extremely low recall.</a:t>
            </a:r>
          </a:p>
          <a:p>
            <a:pPr lvl="1"/>
            <a:r>
              <a:rPr lang="en-US" dirty="0"/>
              <a:t>Random forest </a:t>
            </a:r>
            <a:r>
              <a:rPr lang="en-US" altLang="zh-CN" dirty="0"/>
              <a:t>and </a:t>
            </a:r>
            <a:r>
              <a:rPr lang="en-US" altLang="zh-CN" dirty="0" err="1"/>
              <a:t>XGBoost</a:t>
            </a:r>
            <a:r>
              <a:rPr lang="en-US" altLang="zh-CN" dirty="0"/>
              <a:t> improves recall without sacrificing other measures.</a:t>
            </a:r>
            <a:endParaRPr lang="en-US" dirty="0"/>
          </a:p>
          <a:p>
            <a:r>
              <a:rPr lang="en-US" dirty="0"/>
              <a:t>Random </a:t>
            </a:r>
            <a:r>
              <a:rPr lang="en-US" altLang="zh-CN" dirty="0"/>
              <a:t>Forest and </a:t>
            </a:r>
            <a:r>
              <a:rPr lang="en-US" altLang="zh-CN" dirty="0" err="1"/>
              <a:t>XGBoost</a:t>
            </a:r>
            <a:r>
              <a:rPr lang="en-US" altLang="zh-CN" dirty="0"/>
              <a:t> Comparison</a:t>
            </a:r>
          </a:p>
          <a:p>
            <a:pPr lvl="1"/>
            <a:r>
              <a:rPr lang="en-US" dirty="0"/>
              <a:t>Random Forest has highest recall and precision. (Best to catch positives)</a:t>
            </a:r>
          </a:p>
          <a:p>
            <a:pPr lvl="1"/>
            <a:r>
              <a:rPr lang="en-US" dirty="0" err="1"/>
              <a:t>XGBoost</a:t>
            </a:r>
            <a:r>
              <a:rPr lang="en-US" dirty="0"/>
              <a:t> has the highest AUC. (Best discriminative power)</a:t>
            </a:r>
          </a:p>
          <a:p>
            <a:r>
              <a:rPr lang="en-US" altLang="zh-CN" dirty="0"/>
              <a:t>Variables Importance</a:t>
            </a:r>
          </a:p>
          <a:p>
            <a:pPr lvl="1"/>
            <a:r>
              <a:rPr lang="en-US" altLang="zh-CN" dirty="0"/>
              <a:t>NAICS2 (employer business sector), Home to Work Travel Time/Distance, Income have the strongest impact on classifications.</a:t>
            </a:r>
          </a:p>
          <a:p>
            <a:endParaRPr lang="en-US" dirty="0"/>
          </a:p>
          <a:p>
            <a:endParaRPr lang="en-US" dirty="0"/>
          </a:p>
        </p:txBody>
      </p:sp>
      <p:sp>
        <p:nvSpPr>
          <p:cNvPr id="4" name="Title 3">
            <a:extLst>
              <a:ext uri="{FF2B5EF4-FFF2-40B4-BE49-F238E27FC236}">
                <a16:creationId xmlns:a16="http://schemas.microsoft.com/office/drawing/2014/main" id="{3B453AB0-7386-ECB6-818F-B86D452213EB}"/>
              </a:ext>
            </a:extLst>
          </p:cNvPr>
          <p:cNvSpPr>
            <a:spLocks noGrp="1"/>
          </p:cNvSpPr>
          <p:nvPr>
            <p:ph type="title"/>
          </p:nvPr>
        </p:nvSpPr>
        <p:spPr>
          <a:xfrm>
            <a:off x="457200" y="572018"/>
            <a:ext cx="9110662" cy="571695"/>
          </a:xfrm>
        </p:spPr>
        <p:txBody>
          <a:bodyPr/>
          <a:lstStyle/>
          <a:p>
            <a:r>
              <a:rPr lang="en-US" dirty="0"/>
              <a:t>Conclusions for Classifications</a:t>
            </a:r>
          </a:p>
        </p:txBody>
      </p:sp>
    </p:spTree>
    <p:extLst>
      <p:ext uri="{BB962C8B-B14F-4D97-AF65-F5344CB8AC3E}">
        <p14:creationId xmlns:p14="http://schemas.microsoft.com/office/powerpoint/2010/main" val="1415526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en-US"/>
          </a:p>
        </p:txBody>
      </p:sp>
      <p:sp>
        <p:nvSpPr>
          <p:cNvPr id="3" name="Content Placeholder 2"/>
          <p:cNvSpPr>
            <a:spLocks noGrp="1"/>
          </p:cNvSpPr>
          <p:nvPr>
            <p:ph sz="quarter" idx="13"/>
          </p:nvPr>
        </p:nvSpPr>
        <p:spPr>
          <a:xfrm>
            <a:off x="471744" y="1603512"/>
            <a:ext cx="11270489" cy="4260141"/>
          </a:xfrm>
        </p:spPr>
        <p:txBody>
          <a:bodyPr/>
          <a:lstStyle/>
          <a:p>
            <a:r>
              <a:rPr lang="en-US" dirty="0"/>
              <a:t>Purpose: Cluster Employers based on Commute Time and Telecommute Days</a:t>
            </a:r>
          </a:p>
          <a:p>
            <a:pPr lvl="1"/>
            <a:r>
              <a:rPr lang="en-US" dirty="0"/>
              <a:t>Find Employer Features that may or may not be Represented by NAICS Code.</a:t>
            </a:r>
          </a:p>
          <a:p>
            <a:r>
              <a:rPr lang="en-US" dirty="0"/>
              <a:t>Data Preprocessing for Clusters:</a:t>
            </a:r>
          </a:p>
          <a:p>
            <a:pPr lvl="1"/>
            <a:r>
              <a:rPr lang="en-US" dirty="0"/>
              <a:t>Average Telecommute Days and Home to Work Travel Time for All Employers.</a:t>
            </a:r>
          </a:p>
          <a:p>
            <a:pPr lvl="1"/>
            <a:r>
              <a:rPr lang="en-US" dirty="0"/>
              <a:t>Normalize the Average Commute Time and Average Telecommute Days.</a:t>
            </a:r>
          </a:p>
          <a:p>
            <a:r>
              <a:rPr lang="en-US" dirty="0"/>
              <a:t>Clustering Models:</a:t>
            </a:r>
          </a:p>
          <a:p>
            <a:pPr lvl="1"/>
            <a:r>
              <a:rPr lang="en-US" dirty="0"/>
              <a:t>K-means</a:t>
            </a:r>
          </a:p>
          <a:p>
            <a:pPr lvl="1"/>
            <a:r>
              <a:rPr lang="en-US" dirty="0"/>
              <a:t>Partitioning Around Medoids (PAM)</a:t>
            </a:r>
          </a:p>
          <a:p>
            <a:pPr lvl="1"/>
            <a:r>
              <a:rPr lang="en-US" dirty="0"/>
              <a:t>Density-Based Spatial Clustering of Applications with Noise (DBSCAN)</a:t>
            </a:r>
          </a:p>
          <a:p>
            <a:pPr lvl="1"/>
            <a:endParaRPr lang="en-US" dirty="0"/>
          </a:p>
        </p:txBody>
      </p:sp>
      <p:sp>
        <p:nvSpPr>
          <p:cNvPr id="4" name="Title 3"/>
          <p:cNvSpPr>
            <a:spLocks noGrp="1"/>
          </p:cNvSpPr>
          <p:nvPr>
            <p:ph type="title"/>
          </p:nvPr>
        </p:nvSpPr>
        <p:spPr>
          <a:xfrm>
            <a:off x="457200" y="574102"/>
            <a:ext cx="9110662" cy="567528"/>
          </a:xfrm>
        </p:spPr>
        <p:txBody>
          <a:bodyPr/>
          <a:lstStyle/>
          <a:p>
            <a:r>
              <a:rPr lang="en-US" dirty="0"/>
              <a:t>Data Mining: Clusters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en-US"/>
          </a:p>
        </p:txBody>
      </p:sp>
      <p:sp>
        <p:nvSpPr>
          <p:cNvPr id="4" name="Title 3"/>
          <p:cNvSpPr>
            <a:spLocks noGrp="1"/>
          </p:cNvSpPr>
          <p:nvPr>
            <p:ph type="title"/>
          </p:nvPr>
        </p:nvSpPr>
        <p:spPr>
          <a:xfrm>
            <a:off x="457200" y="572018"/>
            <a:ext cx="9110662" cy="571695"/>
          </a:xfrm>
        </p:spPr>
        <p:txBody>
          <a:bodyPr/>
          <a:lstStyle/>
          <a:p>
            <a:r>
              <a:rPr lang="en-US" dirty="0"/>
              <a:t>K-means 3 Clusters</a:t>
            </a:r>
          </a:p>
        </p:txBody>
      </p:sp>
      <p:pic>
        <p:nvPicPr>
          <p:cNvPr id="11" name="Chart Placeholder 10"/>
          <p:cNvPicPr>
            <a:picLocks noGrp="1" noChangeAspect="1"/>
          </p:cNvPicPr>
          <p:nvPr>
            <p:ph type="chart" sz="quarter" idx="13"/>
          </p:nvPr>
        </p:nvPicPr>
        <p:blipFill>
          <a:blip r:embed="rId3"/>
          <a:stretch>
            <a:fillRect/>
          </a:stretch>
        </p:blipFill>
        <p:spPr>
          <a:xfrm>
            <a:off x="380764" y="1261241"/>
            <a:ext cx="11667019" cy="51185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BAABD6-A7A4-1C5A-69BB-040D33183A16}"/>
              </a:ext>
            </a:extLst>
          </p:cNvPr>
          <p:cNvSpPr>
            <a:spLocks noGrp="1"/>
          </p:cNvSpPr>
          <p:nvPr>
            <p:ph type="body" sz="quarter" idx="14"/>
          </p:nvPr>
        </p:nvSpPr>
        <p:spPr/>
        <p:txBody>
          <a:bodyPr/>
          <a:lstStyle/>
          <a:p>
            <a:endParaRPr lang="en-US"/>
          </a:p>
        </p:txBody>
      </p:sp>
      <p:pic>
        <p:nvPicPr>
          <p:cNvPr id="5" name="Chart Placeholder 4">
            <a:extLst>
              <a:ext uri="{FF2B5EF4-FFF2-40B4-BE49-F238E27FC236}">
                <a16:creationId xmlns:a16="http://schemas.microsoft.com/office/drawing/2014/main" id="{D88628F6-93AC-5307-63E7-16EDD6E045D8}"/>
              </a:ext>
            </a:extLst>
          </p:cNvPr>
          <p:cNvPicPr>
            <a:picLocks noGrp="1" noChangeAspect="1"/>
          </p:cNvPicPr>
          <p:nvPr>
            <p:ph type="chart" sz="quarter" idx="13"/>
          </p:nvPr>
        </p:nvPicPr>
        <p:blipFill>
          <a:blip r:embed="rId2"/>
          <a:stretch>
            <a:fillRect/>
          </a:stretch>
        </p:blipFill>
        <p:spPr>
          <a:xfrm>
            <a:off x="2688637" y="1524000"/>
            <a:ext cx="7500526" cy="4632325"/>
          </a:xfrm>
          <a:prstGeom prst="rect">
            <a:avLst/>
          </a:prstGeom>
        </p:spPr>
      </p:pic>
      <p:sp>
        <p:nvSpPr>
          <p:cNvPr id="4" name="Title 3">
            <a:extLst>
              <a:ext uri="{FF2B5EF4-FFF2-40B4-BE49-F238E27FC236}">
                <a16:creationId xmlns:a16="http://schemas.microsoft.com/office/drawing/2014/main" id="{21DBD0AE-4D7E-DF53-107F-1D89459A7D90}"/>
              </a:ext>
            </a:extLst>
          </p:cNvPr>
          <p:cNvSpPr>
            <a:spLocks noGrp="1"/>
          </p:cNvSpPr>
          <p:nvPr>
            <p:ph type="title"/>
          </p:nvPr>
        </p:nvSpPr>
        <p:spPr/>
        <p:txBody>
          <a:bodyPr/>
          <a:lstStyle/>
          <a:p>
            <a:r>
              <a:rPr lang="en-US" altLang="zh-CN" dirty="0"/>
              <a:t>PAM:</a:t>
            </a:r>
            <a:r>
              <a:rPr lang="zh-CN" altLang="en-US" dirty="0"/>
              <a:t> </a:t>
            </a:r>
            <a:r>
              <a:rPr lang="en-US" altLang="zh-CN" dirty="0"/>
              <a:t>Finding</a:t>
            </a:r>
            <a:r>
              <a:rPr lang="zh-CN" altLang="en-US" dirty="0"/>
              <a:t> </a:t>
            </a:r>
            <a:r>
              <a:rPr lang="en-US" altLang="zh-CN" dirty="0"/>
              <a:t>Number</a:t>
            </a:r>
            <a:r>
              <a:rPr lang="zh-CN" altLang="en-US" dirty="0"/>
              <a:t> </a:t>
            </a:r>
            <a:r>
              <a:rPr lang="en-US" altLang="zh-CN" dirty="0"/>
              <a:t>of</a:t>
            </a:r>
            <a:r>
              <a:rPr lang="zh-CN" altLang="en-US" dirty="0"/>
              <a:t> </a:t>
            </a:r>
            <a:r>
              <a:rPr lang="en-US" altLang="zh-CN" dirty="0"/>
              <a:t>Clusters</a:t>
            </a:r>
            <a:endParaRPr lang="en-US" dirty="0"/>
          </a:p>
        </p:txBody>
      </p:sp>
    </p:spTree>
    <p:extLst>
      <p:ext uri="{BB962C8B-B14F-4D97-AF65-F5344CB8AC3E}">
        <p14:creationId xmlns:p14="http://schemas.microsoft.com/office/powerpoint/2010/main" val="4222189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en-US"/>
          </a:p>
        </p:txBody>
      </p:sp>
      <p:sp>
        <p:nvSpPr>
          <p:cNvPr id="4" name="Title 3"/>
          <p:cNvSpPr>
            <a:spLocks noGrp="1"/>
          </p:cNvSpPr>
          <p:nvPr>
            <p:ph type="title"/>
          </p:nvPr>
        </p:nvSpPr>
        <p:spPr>
          <a:xfrm>
            <a:off x="457200" y="578783"/>
            <a:ext cx="9110662" cy="558165"/>
          </a:xfrm>
        </p:spPr>
        <p:txBody>
          <a:bodyPr/>
          <a:lstStyle/>
          <a:p>
            <a:r>
              <a:rPr lang="en-US" dirty="0"/>
              <a:t>PAM</a:t>
            </a:r>
          </a:p>
        </p:txBody>
      </p:sp>
      <p:pic>
        <p:nvPicPr>
          <p:cNvPr id="3" name="Picture 2">
            <a:extLst>
              <a:ext uri="{FF2B5EF4-FFF2-40B4-BE49-F238E27FC236}">
                <a16:creationId xmlns:a16="http://schemas.microsoft.com/office/drawing/2014/main" id="{1540B0D8-9872-2F82-0754-F866FE65A68D}"/>
              </a:ext>
            </a:extLst>
          </p:cNvPr>
          <p:cNvPicPr>
            <a:picLocks noChangeAspect="1"/>
          </p:cNvPicPr>
          <p:nvPr/>
        </p:nvPicPr>
        <p:blipFill>
          <a:blip r:embed="rId3"/>
          <a:stretch>
            <a:fillRect/>
          </a:stretch>
        </p:blipFill>
        <p:spPr>
          <a:xfrm>
            <a:off x="964095" y="1576249"/>
            <a:ext cx="10037819" cy="46263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en-US"/>
          </a:p>
        </p:txBody>
      </p:sp>
      <p:sp>
        <p:nvSpPr>
          <p:cNvPr id="4" name="Title 3"/>
          <p:cNvSpPr>
            <a:spLocks noGrp="1"/>
          </p:cNvSpPr>
          <p:nvPr>
            <p:ph type="title"/>
          </p:nvPr>
        </p:nvSpPr>
        <p:spPr>
          <a:xfrm>
            <a:off x="457200" y="557784"/>
            <a:ext cx="9110662" cy="600164"/>
          </a:xfrm>
        </p:spPr>
        <p:txBody>
          <a:bodyPr/>
          <a:lstStyle/>
          <a:p>
            <a:r>
              <a:rPr lang="en-US" altLang="zh-CN" dirty="0"/>
              <a:t>Density Clustering</a:t>
            </a:r>
            <a:r>
              <a:rPr lang="zh-CN" altLang="en-US" dirty="0"/>
              <a:t> </a:t>
            </a:r>
            <a:r>
              <a:rPr lang="en-US" altLang="zh-CN" dirty="0"/>
              <a:t>DBSCAN </a:t>
            </a:r>
          </a:p>
        </p:txBody>
      </p:sp>
      <p:pic>
        <p:nvPicPr>
          <p:cNvPr id="6" name="Picture 5">
            <a:extLst>
              <a:ext uri="{FF2B5EF4-FFF2-40B4-BE49-F238E27FC236}">
                <a16:creationId xmlns:a16="http://schemas.microsoft.com/office/drawing/2014/main" id="{C1389973-F4C8-F2F7-F34F-9F7C64854132}"/>
              </a:ext>
            </a:extLst>
          </p:cNvPr>
          <p:cNvPicPr>
            <a:picLocks noChangeAspect="1"/>
          </p:cNvPicPr>
          <p:nvPr/>
        </p:nvPicPr>
        <p:blipFill>
          <a:blip r:embed="rId3"/>
          <a:stretch>
            <a:fillRect/>
          </a:stretch>
        </p:blipFill>
        <p:spPr>
          <a:xfrm>
            <a:off x="2130286" y="1247544"/>
            <a:ext cx="7772400" cy="48002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9392BC-5780-2CED-B077-0772EB1D75AE}"/>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13C2919F-DA41-A107-5424-FAC36FAE112F}"/>
              </a:ext>
            </a:extLst>
          </p:cNvPr>
          <p:cNvSpPr>
            <a:spLocks noGrp="1"/>
          </p:cNvSpPr>
          <p:nvPr>
            <p:ph sz="quarter" idx="13"/>
          </p:nvPr>
        </p:nvSpPr>
        <p:spPr>
          <a:xfrm>
            <a:off x="471744" y="1603512"/>
            <a:ext cx="11270489" cy="1936428"/>
          </a:xfrm>
        </p:spPr>
        <p:txBody>
          <a:bodyPr/>
          <a:lstStyle/>
          <a:p>
            <a:r>
              <a:rPr lang="en-US" dirty="0"/>
              <a:t>Purpose: Exploring the Work Activities of Each Company based on </a:t>
            </a:r>
            <a:r>
              <a:rPr lang="en-US" dirty="0" err="1"/>
              <a:t>Apriori</a:t>
            </a:r>
            <a:r>
              <a:rPr lang="en-US" dirty="0"/>
              <a:t>.</a:t>
            </a:r>
          </a:p>
          <a:p>
            <a:pPr lvl="1"/>
            <a:r>
              <a:rPr lang="en-US" dirty="0"/>
              <a:t>Does a set of work activities associate with another set of work activities.</a:t>
            </a:r>
          </a:p>
          <a:p>
            <a:endParaRPr lang="en-US" dirty="0"/>
          </a:p>
          <a:p>
            <a:endParaRPr lang="en-US" dirty="0"/>
          </a:p>
        </p:txBody>
      </p:sp>
      <p:sp>
        <p:nvSpPr>
          <p:cNvPr id="4" name="Title 3">
            <a:extLst>
              <a:ext uri="{FF2B5EF4-FFF2-40B4-BE49-F238E27FC236}">
                <a16:creationId xmlns:a16="http://schemas.microsoft.com/office/drawing/2014/main" id="{894DA0BD-C4BD-1181-EF84-D4BA14E93146}"/>
              </a:ext>
            </a:extLst>
          </p:cNvPr>
          <p:cNvSpPr>
            <a:spLocks noGrp="1"/>
          </p:cNvSpPr>
          <p:nvPr>
            <p:ph type="title"/>
          </p:nvPr>
        </p:nvSpPr>
        <p:spPr>
          <a:xfrm>
            <a:off x="457200" y="572018"/>
            <a:ext cx="9110662" cy="571695"/>
          </a:xfrm>
        </p:spPr>
        <p:txBody>
          <a:bodyPr/>
          <a:lstStyle/>
          <a:p>
            <a:r>
              <a:rPr lang="en-US" dirty="0"/>
              <a:t>Association </a:t>
            </a:r>
            <a:r>
              <a:rPr lang="en-US" altLang="zh-CN" dirty="0"/>
              <a:t>Rules: </a:t>
            </a:r>
            <a:r>
              <a:rPr lang="en-US" altLang="zh-CN" dirty="0" err="1"/>
              <a:t>Apriori</a:t>
            </a:r>
            <a:endParaRPr lang="en-US" dirty="0"/>
          </a:p>
        </p:txBody>
      </p:sp>
      <p:pic>
        <p:nvPicPr>
          <p:cNvPr id="5" name="Picture 4">
            <a:extLst>
              <a:ext uri="{FF2B5EF4-FFF2-40B4-BE49-F238E27FC236}">
                <a16:creationId xmlns:a16="http://schemas.microsoft.com/office/drawing/2014/main" id="{38CD2B7B-6617-1B1A-8F31-EE508616E65F}"/>
              </a:ext>
            </a:extLst>
          </p:cNvPr>
          <p:cNvPicPr>
            <a:picLocks noChangeAspect="1"/>
          </p:cNvPicPr>
          <p:nvPr/>
        </p:nvPicPr>
        <p:blipFill>
          <a:blip r:embed="rId3"/>
          <a:stretch>
            <a:fillRect/>
          </a:stretch>
        </p:blipFill>
        <p:spPr>
          <a:xfrm>
            <a:off x="1541950" y="2595849"/>
            <a:ext cx="8768698" cy="3846991"/>
          </a:xfrm>
          <a:prstGeom prst="rect">
            <a:avLst/>
          </a:prstGeom>
        </p:spPr>
      </p:pic>
    </p:spTree>
    <p:extLst>
      <p:ext uri="{BB962C8B-B14F-4D97-AF65-F5344CB8AC3E}">
        <p14:creationId xmlns:p14="http://schemas.microsoft.com/office/powerpoint/2010/main" val="3301484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A107BB-42DB-8446-E329-B67DE31536DE}"/>
              </a:ext>
            </a:extLst>
          </p:cNvPr>
          <p:cNvSpPr>
            <a:spLocks noGrp="1"/>
          </p:cNvSpPr>
          <p:nvPr>
            <p:ph type="body" sz="quarter" idx="14"/>
          </p:nvPr>
        </p:nvSpPr>
        <p:spPr/>
        <p:txBody>
          <a:bodyPr/>
          <a:lstStyle/>
          <a:p>
            <a:endParaRPr lang="en-US"/>
          </a:p>
        </p:txBody>
      </p:sp>
      <p:graphicFrame>
        <p:nvGraphicFramePr>
          <p:cNvPr id="5" name="Table Placeholder 4">
            <a:extLst>
              <a:ext uri="{FF2B5EF4-FFF2-40B4-BE49-F238E27FC236}">
                <a16:creationId xmlns:a16="http://schemas.microsoft.com/office/drawing/2014/main" id="{A74FE87A-962C-8749-3952-CDA4C690552D}"/>
              </a:ext>
            </a:extLst>
          </p:cNvPr>
          <p:cNvGraphicFramePr>
            <a:graphicFrameLocks noGrp="1"/>
          </p:cNvGraphicFramePr>
          <p:nvPr>
            <p:ph type="tbl" sz="quarter" idx="13"/>
            <p:extLst>
              <p:ext uri="{D42A27DB-BD31-4B8C-83A1-F6EECF244321}">
                <p14:modId xmlns:p14="http://schemas.microsoft.com/office/powerpoint/2010/main" val="2289861027"/>
              </p:ext>
            </p:extLst>
          </p:nvPr>
        </p:nvGraphicFramePr>
        <p:xfrm>
          <a:off x="451945" y="1523999"/>
          <a:ext cx="10901863" cy="4597894"/>
        </p:xfrm>
        <a:graphic>
          <a:graphicData uri="http://schemas.openxmlformats.org/drawingml/2006/table">
            <a:tbl>
              <a:tblPr firstRow="1" bandRow="1">
                <a:tableStyleId>{5C22544A-7EE6-4342-B048-85BDC9FD1C3A}</a:tableStyleId>
              </a:tblPr>
              <a:tblGrid>
                <a:gridCol w="2238703">
                  <a:extLst>
                    <a:ext uri="{9D8B030D-6E8A-4147-A177-3AD203B41FA5}">
                      <a16:colId xmlns:a16="http://schemas.microsoft.com/office/drawing/2014/main" val="288987376"/>
                    </a:ext>
                  </a:extLst>
                </a:gridCol>
                <a:gridCol w="557049">
                  <a:extLst>
                    <a:ext uri="{9D8B030D-6E8A-4147-A177-3AD203B41FA5}">
                      <a16:colId xmlns:a16="http://schemas.microsoft.com/office/drawing/2014/main" val="3027255849"/>
                    </a:ext>
                  </a:extLst>
                </a:gridCol>
                <a:gridCol w="3415862">
                  <a:extLst>
                    <a:ext uri="{9D8B030D-6E8A-4147-A177-3AD203B41FA5}">
                      <a16:colId xmlns:a16="http://schemas.microsoft.com/office/drawing/2014/main" val="709135878"/>
                    </a:ext>
                  </a:extLst>
                </a:gridCol>
                <a:gridCol w="1103586">
                  <a:extLst>
                    <a:ext uri="{9D8B030D-6E8A-4147-A177-3AD203B41FA5}">
                      <a16:colId xmlns:a16="http://schemas.microsoft.com/office/drawing/2014/main" val="3906655963"/>
                    </a:ext>
                  </a:extLst>
                </a:gridCol>
                <a:gridCol w="1250731">
                  <a:extLst>
                    <a:ext uri="{9D8B030D-6E8A-4147-A177-3AD203B41FA5}">
                      <a16:colId xmlns:a16="http://schemas.microsoft.com/office/drawing/2014/main" val="2588678335"/>
                    </a:ext>
                  </a:extLst>
                </a:gridCol>
                <a:gridCol w="1061545">
                  <a:extLst>
                    <a:ext uri="{9D8B030D-6E8A-4147-A177-3AD203B41FA5}">
                      <a16:colId xmlns:a16="http://schemas.microsoft.com/office/drawing/2014/main" val="2079934539"/>
                    </a:ext>
                  </a:extLst>
                </a:gridCol>
                <a:gridCol w="588579">
                  <a:extLst>
                    <a:ext uri="{9D8B030D-6E8A-4147-A177-3AD203B41FA5}">
                      <a16:colId xmlns:a16="http://schemas.microsoft.com/office/drawing/2014/main" val="1177142563"/>
                    </a:ext>
                  </a:extLst>
                </a:gridCol>
                <a:gridCol w="685808">
                  <a:extLst>
                    <a:ext uri="{9D8B030D-6E8A-4147-A177-3AD203B41FA5}">
                      <a16:colId xmlns:a16="http://schemas.microsoft.com/office/drawing/2014/main" val="1883375916"/>
                    </a:ext>
                  </a:extLst>
                </a:gridCol>
              </a:tblGrid>
              <a:tr h="403527">
                <a:tc>
                  <a:txBody>
                    <a:bodyPr/>
                    <a:lstStyle/>
                    <a:p>
                      <a:pPr algn="ctr" fontAlgn="b">
                        <a:buNone/>
                      </a:pPr>
                      <a:r>
                        <a:rPr lang="en-US" sz="1800" b="0" i="0" u="none" strike="noStrike" dirty="0" err="1">
                          <a:solidFill>
                            <a:schemeClr val="bg1"/>
                          </a:solidFill>
                          <a:effectLst/>
                          <a:latin typeface="+mj-lt"/>
                        </a:rPr>
                        <a:t>lhs</a:t>
                      </a:r>
                      <a:endParaRPr lang="en-US" sz="1800" b="0" i="0" u="none" strike="noStrike" dirty="0">
                        <a:solidFill>
                          <a:schemeClr val="bg1"/>
                        </a:solidFill>
                        <a:effectLst/>
                        <a:latin typeface="+mj-lt"/>
                      </a:endParaRPr>
                    </a:p>
                  </a:txBody>
                  <a:tcPr marL="7620" marR="7620" marT="7620" marB="0" anchor="b"/>
                </a:tc>
                <a:tc>
                  <a:txBody>
                    <a:bodyPr/>
                    <a:lstStyle/>
                    <a:p>
                      <a:pPr algn="ctr" fontAlgn="b">
                        <a:buNone/>
                      </a:pPr>
                      <a:endParaRPr lang="en-US" sz="1800" b="0" i="0" u="none" strike="noStrike">
                        <a:solidFill>
                          <a:schemeClr val="bg1"/>
                        </a:solidFill>
                        <a:effectLst/>
                        <a:latin typeface="+mj-lt"/>
                      </a:endParaRPr>
                    </a:p>
                  </a:txBody>
                  <a:tcPr marL="7620" marR="7620" marT="7620" marB="0" anchor="b"/>
                </a:tc>
                <a:tc>
                  <a:txBody>
                    <a:bodyPr/>
                    <a:lstStyle/>
                    <a:p>
                      <a:pPr algn="ctr" fontAlgn="b">
                        <a:buNone/>
                      </a:pPr>
                      <a:r>
                        <a:rPr lang="en-US" sz="1800" b="0" i="0" u="none" strike="noStrike" dirty="0" err="1">
                          <a:solidFill>
                            <a:schemeClr val="bg1"/>
                          </a:solidFill>
                          <a:effectLst/>
                          <a:latin typeface="+mj-lt"/>
                        </a:rPr>
                        <a:t>rhs</a:t>
                      </a:r>
                      <a:endParaRPr lang="en-US" sz="1800" b="0" i="0" u="none" strike="noStrike" dirty="0">
                        <a:solidFill>
                          <a:schemeClr val="bg1"/>
                        </a:solidFill>
                        <a:effectLst/>
                        <a:latin typeface="+mj-lt"/>
                      </a:endParaRPr>
                    </a:p>
                  </a:txBody>
                  <a:tcPr marL="7620" marR="7620" marT="7620" marB="0" anchor="b"/>
                </a:tc>
                <a:tc>
                  <a:txBody>
                    <a:bodyPr/>
                    <a:lstStyle/>
                    <a:p>
                      <a:pPr algn="ctr" fontAlgn="b">
                        <a:buNone/>
                      </a:pPr>
                      <a:r>
                        <a:rPr lang="en-US" sz="1800" b="0" i="0" u="none" strike="noStrike" dirty="0">
                          <a:solidFill>
                            <a:schemeClr val="bg1"/>
                          </a:solidFill>
                          <a:effectLst/>
                          <a:latin typeface="+mj-lt"/>
                        </a:rPr>
                        <a:t>support</a:t>
                      </a:r>
                    </a:p>
                  </a:txBody>
                  <a:tcPr marL="7620" marR="7620" marT="7620" marB="0" anchor="b"/>
                </a:tc>
                <a:tc>
                  <a:txBody>
                    <a:bodyPr/>
                    <a:lstStyle/>
                    <a:p>
                      <a:pPr algn="ctr" fontAlgn="b">
                        <a:buNone/>
                      </a:pPr>
                      <a:r>
                        <a:rPr lang="en-US" sz="1800" b="0" i="0" u="none" strike="noStrike" dirty="0">
                          <a:solidFill>
                            <a:schemeClr val="bg1"/>
                          </a:solidFill>
                          <a:effectLst/>
                          <a:latin typeface="+mj-lt"/>
                        </a:rPr>
                        <a:t>confidence</a:t>
                      </a:r>
                    </a:p>
                  </a:txBody>
                  <a:tcPr marL="7620" marR="7620" marT="7620" marB="0" anchor="b"/>
                </a:tc>
                <a:tc>
                  <a:txBody>
                    <a:bodyPr/>
                    <a:lstStyle/>
                    <a:p>
                      <a:pPr algn="ctr" fontAlgn="b">
                        <a:buNone/>
                      </a:pPr>
                      <a:r>
                        <a:rPr lang="en-US" sz="1800" b="0" i="0" u="none" strike="noStrike">
                          <a:solidFill>
                            <a:schemeClr val="bg1"/>
                          </a:solidFill>
                          <a:effectLst/>
                          <a:latin typeface="+mj-lt"/>
                        </a:rPr>
                        <a:t>coverage</a:t>
                      </a:r>
                    </a:p>
                  </a:txBody>
                  <a:tcPr marL="7620" marR="7620" marT="7620" marB="0" anchor="b"/>
                </a:tc>
                <a:tc>
                  <a:txBody>
                    <a:bodyPr/>
                    <a:lstStyle/>
                    <a:p>
                      <a:pPr algn="ctr" fontAlgn="b">
                        <a:buNone/>
                      </a:pPr>
                      <a:r>
                        <a:rPr lang="en-US" sz="1800" b="0" i="0" u="none" strike="noStrike" dirty="0">
                          <a:solidFill>
                            <a:schemeClr val="bg1"/>
                          </a:solidFill>
                          <a:effectLst/>
                          <a:latin typeface="+mj-lt"/>
                        </a:rPr>
                        <a:t>lift</a:t>
                      </a:r>
                    </a:p>
                  </a:txBody>
                  <a:tcPr marL="7620" marR="7620" marT="7620" marB="0" anchor="b"/>
                </a:tc>
                <a:tc>
                  <a:txBody>
                    <a:bodyPr/>
                    <a:lstStyle/>
                    <a:p>
                      <a:pPr algn="ctr" fontAlgn="b">
                        <a:buNone/>
                      </a:pPr>
                      <a:r>
                        <a:rPr lang="en-US" sz="1800" b="0" i="0" u="none" strike="noStrike" dirty="0">
                          <a:solidFill>
                            <a:schemeClr val="bg1"/>
                          </a:solidFill>
                          <a:effectLst/>
                          <a:latin typeface="+mj-lt"/>
                        </a:rPr>
                        <a:t>count</a:t>
                      </a:r>
                    </a:p>
                  </a:txBody>
                  <a:tcPr marL="7620" marR="7620" marT="7620" marB="0" anchor="b"/>
                </a:tc>
                <a:extLst>
                  <a:ext uri="{0D108BD9-81ED-4DB2-BD59-A6C34878D82A}">
                    <a16:rowId xmlns:a16="http://schemas.microsoft.com/office/drawing/2014/main" val="3146096950"/>
                  </a:ext>
                </a:extLst>
              </a:tr>
              <a:tr h="403527">
                <a:tc>
                  <a:txBody>
                    <a:bodyPr/>
                    <a:lstStyle/>
                    <a:p>
                      <a:pPr algn="ctr" fontAlgn="b">
                        <a:buNone/>
                      </a:pPr>
                      <a:r>
                        <a:rPr lang="en-US" sz="1200" b="0" i="0" u="none" strike="noStrike" dirty="0">
                          <a:solidFill>
                            <a:srgbClr val="000000"/>
                          </a:solidFill>
                          <a:effectLst/>
                          <a:latin typeface="+mj-lt"/>
                        </a:rPr>
                        <a:t>{Office and Admin Support / Building and Grounds Cleaning / Maintenance, Sales / Marketing / Customer Service}</a:t>
                      </a:r>
                    </a:p>
                  </a:txBody>
                  <a:tcPr marL="7620" marR="7620" marT="7620" marB="0" anchor="b"/>
                </a:tc>
                <a:tc>
                  <a:txBody>
                    <a:bodyPr/>
                    <a:lstStyle/>
                    <a:p>
                      <a:pPr algn="ctr" fontAlgn="b">
                        <a:buNone/>
                      </a:pPr>
                      <a:r>
                        <a:rPr lang="en-US" sz="1200" b="0" i="0" u="none" strike="noStrike" dirty="0">
                          <a:solidFill>
                            <a:srgbClr val="000000"/>
                          </a:solidFill>
                          <a:effectLst/>
                          <a:latin typeface="+mj-lt"/>
                        </a:rPr>
                        <a:t>=&gt;</a:t>
                      </a:r>
                    </a:p>
                  </a:txBody>
                  <a:tcPr marL="7620" marR="7620" marT="7620" marB="0" anchor="b"/>
                </a:tc>
                <a:tc>
                  <a:txBody>
                    <a:bodyPr/>
                    <a:lstStyle/>
                    <a:p>
                      <a:pPr algn="ctr" fontAlgn="b">
                        <a:buNone/>
                      </a:pPr>
                      <a:r>
                        <a:rPr lang="en-US" sz="1200" b="0" i="0" u="none" strike="noStrike">
                          <a:solidFill>
                            <a:srgbClr val="000000"/>
                          </a:solidFill>
                          <a:effectLst/>
                          <a:latin typeface="+mj-lt"/>
                        </a:rPr>
                        <a:t>{Management / Business}</a:t>
                      </a:r>
                    </a:p>
                  </a:txBody>
                  <a:tcPr marL="7620" marR="7620" marT="7620" marB="0" anchor="b"/>
                </a:tc>
                <a:tc>
                  <a:txBody>
                    <a:bodyPr/>
                    <a:lstStyle/>
                    <a:p>
                      <a:pPr algn="ctr" fontAlgn="b">
                        <a:buNone/>
                      </a:pPr>
                      <a:r>
                        <a:rPr lang="en-US" sz="1800" b="0" i="0" u="none" strike="noStrike" dirty="0">
                          <a:solidFill>
                            <a:srgbClr val="000000"/>
                          </a:solidFill>
                          <a:effectLst/>
                          <a:latin typeface="+mj-lt"/>
                        </a:rPr>
                        <a:t>0.63</a:t>
                      </a:r>
                    </a:p>
                  </a:txBody>
                  <a:tcPr marL="7620" marR="7620" marT="7620" marB="0" anchor="b"/>
                </a:tc>
                <a:tc>
                  <a:txBody>
                    <a:bodyPr/>
                    <a:lstStyle/>
                    <a:p>
                      <a:pPr algn="ctr" fontAlgn="b">
                        <a:buNone/>
                      </a:pPr>
                      <a:r>
                        <a:rPr lang="en-US" sz="1800" b="0" i="0" u="none" strike="noStrike">
                          <a:solidFill>
                            <a:srgbClr val="000000"/>
                          </a:solidFill>
                          <a:effectLst/>
                          <a:latin typeface="+mj-lt"/>
                        </a:rPr>
                        <a:t>0.92</a:t>
                      </a:r>
                    </a:p>
                  </a:txBody>
                  <a:tcPr marL="7620" marR="7620" marT="7620" marB="0" anchor="b"/>
                </a:tc>
                <a:tc>
                  <a:txBody>
                    <a:bodyPr/>
                    <a:lstStyle/>
                    <a:p>
                      <a:pPr algn="ctr" fontAlgn="b">
                        <a:buNone/>
                      </a:pPr>
                      <a:r>
                        <a:rPr lang="en-US" sz="1800" b="0" i="0" u="none" strike="noStrike">
                          <a:solidFill>
                            <a:srgbClr val="000000"/>
                          </a:solidFill>
                          <a:effectLst/>
                          <a:latin typeface="+mj-lt"/>
                        </a:rPr>
                        <a:t>0.69</a:t>
                      </a:r>
                    </a:p>
                  </a:txBody>
                  <a:tcPr marL="7620" marR="7620" marT="7620" marB="0" anchor="b"/>
                </a:tc>
                <a:tc>
                  <a:txBody>
                    <a:bodyPr/>
                    <a:lstStyle/>
                    <a:p>
                      <a:pPr algn="ctr" fontAlgn="b">
                        <a:buNone/>
                      </a:pPr>
                      <a:r>
                        <a:rPr lang="en-US" sz="1800" b="0" i="0" u="none" strike="noStrike">
                          <a:solidFill>
                            <a:srgbClr val="000000"/>
                          </a:solidFill>
                          <a:effectLst/>
                          <a:latin typeface="+mj-lt"/>
                        </a:rPr>
                        <a:t>1.09</a:t>
                      </a:r>
                    </a:p>
                  </a:txBody>
                  <a:tcPr marL="7620" marR="7620" marT="7620" marB="0" anchor="b"/>
                </a:tc>
                <a:tc>
                  <a:txBody>
                    <a:bodyPr/>
                    <a:lstStyle/>
                    <a:p>
                      <a:pPr algn="ctr" fontAlgn="b">
                        <a:buNone/>
                      </a:pPr>
                      <a:r>
                        <a:rPr lang="en-US" sz="1800" b="0" i="0" u="none" strike="noStrike">
                          <a:solidFill>
                            <a:srgbClr val="000000"/>
                          </a:solidFill>
                          <a:effectLst/>
                          <a:latin typeface="+mj-lt"/>
                        </a:rPr>
                        <a:t>87</a:t>
                      </a:r>
                    </a:p>
                  </a:txBody>
                  <a:tcPr marL="7620" marR="7620" marT="7620" marB="0" anchor="b"/>
                </a:tc>
                <a:extLst>
                  <a:ext uri="{0D108BD9-81ED-4DB2-BD59-A6C34878D82A}">
                    <a16:rowId xmlns:a16="http://schemas.microsoft.com/office/drawing/2014/main" val="1714376287"/>
                  </a:ext>
                </a:extLst>
              </a:tr>
              <a:tr h="403527">
                <a:tc>
                  <a:txBody>
                    <a:bodyPr/>
                    <a:lstStyle/>
                    <a:p>
                      <a:pPr algn="ctr" fontAlgn="b">
                        <a:buNone/>
                      </a:pPr>
                      <a:r>
                        <a:rPr lang="en-US" sz="1200" b="0" i="0" u="none" strike="noStrike">
                          <a:solidFill>
                            <a:srgbClr val="000000"/>
                          </a:solidFill>
                          <a:effectLst/>
                          <a:latin typeface="+mj-lt"/>
                        </a:rPr>
                        <a:t>{Finance / Insurance}</a:t>
                      </a:r>
                    </a:p>
                  </a:txBody>
                  <a:tcPr marL="7620" marR="7620" marT="7620" marB="0" anchor="b"/>
                </a:tc>
                <a:tc>
                  <a:txBody>
                    <a:bodyPr/>
                    <a:lstStyle/>
                    <a:p>
                      <a:pPr algn="ctr" fontAlgn="b">
                        <a:buNone/>
                      </a:pPr>
                      <a:r>
                        <a:rPr lang="en-US" sz="1200" b="0" i="0" u="none" strike="noStrike">
                          <a:solidFill>
                            <a:srgbClr val="000000"/>
                          </a:solidFill>
                          <a:effectLst/>
                          <a:latin typeface="+mj-lt"/>
                        </a:rPr>
                        <a:t>=&gt;</a:t>
                      </a:r>
                    </a:p>
                  </a:txBody>
                  <a:tcPr marL="7620" marR="7620" marT="7620" marB="0" anchor="b"/>
                </a:tc>
                <a:tc>
                  <a:txBody>
                    <a:bodyPr/>
                    <a:lstStyle/>
                    <a:p>
                      <a:pPr algn="ctr" fontAlgn="b">
                        <a:buNone/>
                      </a:pPr>
                      <a:r>
                        <a:rPr lang="en-US" sz="1200" b="0" i="0" u="none" strike="noStrike" dirty="0">
                          <a:solidFill>
                            <a:srgbClr val="000000"/>
                          </a:solidFill>
                          <a:effectLst/>
                          <a:latin typeface="+mj-lt"/>
                        </a:rPr>
                        <a:t>{Office and Admin Support / Building and Grounds Cleaning / Maintenance}</a:t>
                      </a:r>
                    </a:p>
                  </a:txBody>
                  <a:tcPr marL="7620" marR="7620" marT="7620" marB="0" anchor="b"/>
                </a:tc>
                <a:tc>
                  <a:txBody>
                    <a:bodyPr/>
                    <a:lstStyle/>
                    <a:p>
                      <a:pPr algn="ctr" fontAlgn="b">
                        <a:buNone/>
                      </a:pPr>
                      <a:r>
                        <a:rPr lang="en-US" sz="1800" b="0" i="0" u="none" strike="noStrike">
                          <a:solidFill>
                            <a:srgbClr val="000000"/>
                          </a:solidFill>
                          <a:effectLst/>
                          <a:latin typeface="+mj-lt"/>
                        </a:rPr>
                        <a:t>0.61</a:t>
                      </a:r>
                    </a:p>
                  </a:txBody>
                  <a:tcPr marL="7620" marR="7620" marT="7620" marB="0" anchor="b"/>
                </a:tc>
                <a:tc>
                  <a:txBody>
                    <a:bodyPr/>
                    <a:lstStyle/>
                    <a:p>
                      <a:pPr algn="ctr" fontAlgn="b">
                        <a:buNone/>
                      </a:pPr>
                      <a:r>
                        <a:rPr lang="en-US" sz="1800" b="0" i="0" u="none" strike="noStrike" dirty="0">
                          <a:solidFill>
                            <a:srgbClr val="000000"/>
                          </a:solidFill>
                          <a:effectLst/>
                          <a:latin typeface="+mj-lt"/>
                        </a:rPr>
                        <a:t>0.98</a:t>
                      </a:r>
                    </a:p>
                  </a:txBody>
                  <a:tcPr marL="7620" marR="7620" marT="7620" marB="0" anchor="b"/>
                </a:tc>
                <a:tc>
                  <a:txBody>
                    <a:bodyPr/>
                    <a:lstStyle/>
                    <a:p>
                      <a:pPr algn="ctr" fontAlgn="b">
                        <a:buNone/>
                      </a:pPr>
                      <a:r>
                        <a:rPr lang="en-US" sz="1800" b="0" i="0" u="none" strike="noStrike">
                          <a:solidFill>
                            <a:srgbClr val="000000"/>
                          </a:solidFill>
                          <a:effectLst/>
                          <a:latin typeface="+mj-lt"/>
                        </a:rPr>
                        <a:t>0.62</a:t>
                      </a:r>
                    </a:p>
                  </a:txBody>
                  <a:tcPr marL="7620" marR="7620" marT="7620" marB="0" anchor="b"/>
                </a:tc>
                <a:tc>
                  <a:txBody>
                    <a:bodyPr/>
                    <a:lstStyle/>
                    <a:p>
                      <a:pPr algn="ctr" fontAlgn="b">
                        <a:buNone/>
                      </a:pPr>
                      <a:r>
                        <a:rPr lang="en-US" sz="1800" b="0" i="0" u="none" strike="noStrike">
                          <a:solidFill>
                            <a:srgbClr val="000000"/>
                          </a:solidFill>
                          <a:effectLst/>
                          <a:latin typeface="+mj-lt"/>
                        </a:rPr>
                        <a:t>1.09</a:t>
                      </a:r>
                    </a:p>
                  </a:txBody>
                  <a:tcPr marL="7620" marR="7620" marT="7620" marB="0" anchor="b"/>
                </a:tc>
                <a:tc>
                  <a:txBody>
                    <a:bodyPr/>
                    <a:lstStyle/>
                    <a:p>
                      <a:pPr algn="ctr" fontAlgn="b">
                        <a:buNone/>
                      </a:pPr>
                      <a:r>
                        <a:rPr lang="en-US" sz="1800" b="0" i="0" u="none" strike="noStrike">
                          <a:solidFill>
                            <a:srgbClr val="000000"/>
                          </a:solidFill>
                          <a:effectLst/>
                          <a:latin typeface="+mj-lt"/>
                        </a:rPr>
                        <a:t>84</a:t>
                      </a:r>
                    </a:p>
                  </a:txBody>
                  <a:tcPr marL="7620" marR="7620" marT="7620" marB="0" anchor="b"/>
                </a:tc>
                <a:extLst>
                  <a:ext uri="{0D108BD9-81ED-4DB2-BD59-A6C34878D82A}">
                    <a16:rowId xmlns:a16="http://schemas.microsoft.com/office/drawing/2014/main" val="3949965867"/>
                  </a:ext>
                </a:extLst>
              </a:tr>
              <a:tr h="403527">
                <a:tc>
                  <a:txBody>
                    <a:bodyPr/>
                    <a:lstStyle/>
                    <a:p>
                      <a:pPr algn="ctr" fontAlgn="b">
                        <a:buNone/>
                      </a:pPr>
                      <a:r>
                        <a:rPr lang="en-US" sz="1200" b="0" i="0" u="none" strike="noStrike">
                          <a:solidFill>
                            <a:srgbClr val="000000"/>
                          </a:solidFill>
                          <a:effectLst/>
                          <a:latin typeface="+mj-lt"/>
                        </a:rPr>
                        <a:t>{Accommodation / Food Service / Maintenance / Repair,Management / Business}</a:t>
                      </a:r>
                    </a:p>
                  </a:txBody>
                  <a:tcPr marL="7620" marR="7620" marT="7620" marB="0" anchor="b"/>
                </a:tc>
                <a:tc>
                  <a:txBody>
                    <a:bodyPr/>
                    <a:lstStyle/>
                    <a:p>
                      <a:pPr algn="ctr" fontAlgn="b">
                        <a:buNone/>
                      </a:pPr>
                      <a:r>
                        <a:rPr lang="en-US" sz="1200" b="0" i="0" u="none" strike="noStrike">
                          <a:solidFill>
                            <a:srgbClr val="000000"/>
                          </a:solidFill>
                          <a:effectLst/>
                          <a:latin typeface="+mj-lt"/>
                        </a:rPr>
                        <a:t>=&gt;</a:t>
                      </a:r>
                    </a:p>
                  </a:txBody>
                  <a:tcPr marL="7620" marR="7620" marT="7620" marB="0" anchor="b"/>
                </a:tc>
                <a:tc>
                  <a:txBody>
                    <a:bodyPr/>
                    <a:lstStyle/>
                    <a:p>
                      <a:pPr algn="ctr" fontAlgn="b">
                        <a:buNone/>
                      </a:pPr>
                      <a:r>
                        <a:rPr lang="en-US" sz="1200" b="0" i="0" u="none" strike="noStrike" dirty="0">
                          <a:solidFill>
                            <a:srgbClr val="000000"/>
                          </a:solidFill>
                          <a:effectLst/>
                          <a:latin typeface="+mj-lt"/>
                        </a:rPr>
                        <a:t>{Office and Admin Support / Building and Grounds Cleaning / Maintenance}</a:t>
                      </a:r>
                    </a:p>
                  </a:txBody>
                  <a:tcPr marL="7620" marR="7620" marT="7620" marB="0" anchor="b"/>
                </a:tc>
                <a:tc>
                  <a:txBody>
                    <a:bodyPr/>
                    <a:lstStyle/>
                    <a:p>
                      <a:pPr algn="ctr" fontAlgn="b">
                        <a:buNone/>
                      </a:pPr>
                      <a:r>
                        <a:rPr lang="en-US" sz="1800" b="0" i="0" u="none" strike="noStrike">
                          <a:solidFill>
                            <a:srgbClr val="000000"/>
                          </a:solidFill>
                          <a:effectLst/>
                          <a:latin typeface="+mj-lt"/>
                        </a:rPr>
                        <a:t>0.60</a:t>
                      </a:r>
                    </a:p>
                  </a:txBody>
                  <a:tcPr marL="7620" marR="7620" marT="7620" marB="0" anchor="b"/>
                </a:tc>
                <a:tc>
                  <a:txBody>
                    <a:bodyPr/>
                    <a:lstStyle/>
                    <a:p>
                      <a:pPr algn="ctr" fontAlgn="b">
                        <a:buNone/>
                      </a:pPr>
                      <a:r>
                        <a:rPr lang="en-US" sz="1800" b="0" i="0" u="none" strike="noStrike" dirty="0">
                          <a:solidFill>
                            <a:srgbClr val="000000"/>
                          </a:solidFill>
                          <a:effectLst/>
                          <a:latin typeface="+mj-lt"/>
                        </a:rPr>
                        <a:t>0.98</a:t>
                      </a:r>
                    </a:p>
                  </a:txBody>
                  <a:tcPr marL="7620" marR="7620" marT="7620" marB="0" anchor="b"/>
                </a:tc>
                <a:tc>
                  <a:txBody>
                    <a:bodyPr/>
                    <a:lstStyle/>
                    <a:p>
                      <a:pPr algn="ctr" fontAlgn="b">
                        <a:buNone/>
                      </a:pPr>
                      <a:r>
                        <a:rPr lang="en-US" sz="1800" b="0" i="0" u="none" strike="noStrike" dirty="0">
                          <a:solidFill>
                            <a:srgbClr val="000000"/>
                          </a:solidFill>
                          <a:effectLst/>
                          <a:latin typeface="+mj-lt"/>
                        </a:rPr>
                        <a:t>0.62</a:t>
                      </a:r>
                    </a:p>
                  </a:txBody>
                  <a:tcPr marL="7620" marR="7620" marT="7620" marB="0" anchor="b"/>
                </a:tc>
                <a:tc>
                  <a:txBody>
                    <a:bodyPr/>
                    <a:lstStyle/>
                    <a:p>
                      <a:pPr algn="ctr" fontAlgn="b">
                        <a:buNone/>
                      </a:pPr>
                      <a:r>
                        <a:rPr lang="en-US" sz="1800" b="0" i="0" u="none" strike="noStrike">
                          <a:solidFill>
                            <a:srgbClr val="000000"/>
                          </a:solidFill>
                          <a:effectLst/>
                          <a:latin typeface="+mj-lt"/>
                        </a:rPr>
                        <a:t>1.09</a:t>
                      </a:r>
                    </a:p>
                  </a:txBody>
                  <a:tcPr marL="7620" marR="7620" marT="7620" marB="0" anchor="b"/>
                </a:tc>
                <a:tc>
                  <a:txBody>
                    <a:bodyPr/>
                    <a:lstStyle/>
                    <a:p>
                      <a:pPr algn="ctr" fontAlgn="b">
                        <a:buNone/>
                      </a:pPr>
                      <a:r>
                        <a:rPr lang="en-US" sz="1800" b="0" i="0" u="none" strike="noStrike">
                          <a:solidFill>
                            <a:srgbClr val="000000"/>
                          </a:solidFill>
                          <a:effectLst/>
                          <a:latin typeface="+mj-lt"/>
                        </a:rPr>
                        <a:t>83</a:t>
                      </a:r>
                    </a:p>
                  </a:txBody>
                  <a:tcPr marL="7620" marR="7620" marT="7620" marB="0" anchor="b"/>
                </a:tc>
                <a:extLst>
                  <a:ext uri="{0D108BD9-81ED-4DB2-BD59-A6C34878D82A}">
                    <a16:rowId xmlns:a16="http://schemas.microsoft.com/office/drawing/2014/main" val="750421369"/>
                  </a:ext>
                </a:extLst>
              </a:tr>
              <a:tr h="916424">
                <a:tc>
                  <a:txBody>
                    <a:bodyPr/>
                    <a:lstStyle/>
                    <a:p>
                      <a:pPr algn="ctr" fontAlgn="b">
                        <a:buNone/>
                      </a:pPr>
                      <a:r>
                        <a:rPr lang="en-US" sz="1200" b="0" i="0" u="none" strike="noStrike" dirty="0">
                          <a:solidFill>
                            <a:srgbClr val="000000"/>
                          </a:solidFill>
                          <a:effectLst/>
                          <a:latin typeface="+mj-lt"/>
                        </a:rPr>
                        <a:t>{Accommodation / Food Service / Maintenance / Repair, Office and Admin Support / Building and Grounds Cleaning / Maintenance}</a:t>
                      </a:r>
                    </a:p>
                  </a:txBody>
                  <a:tcPr marL="7620" marR="7620" marT="7620" marB="0" anchor="b"/>
                </a:tc>
                <a:tc>
                  <a:txBody>
                    <a:bodyPr/>
                    <a:lstStyle/>
                    <a:p>
                      <a:pPr algn="ctr" fontAlgn="b">
                        <a:buNone/>
                      </a:pPr>
                      <a:r>
                        <a:rPr lang="en-US" sz="1200" b="0" i="0" u="none" strike="noStrike">
                          <a:solidFill>
                            <a:srgbClr val="000000"/>
                          </a:solidFill>
                          <a:effectLst/>
                          <a:latin typeface="+mj-lt"/>
                        </a:rPr>
                        <a:t>=&gt;</a:t>
                      </a:r>
                    </a:p>
                  </a:txBody>
                  <a:tcPr marL="7620" marR="7620" marT="7620" marB="0" anchor="b"/>
                </a:tc>
                <a:tc>
                  <a:txBody>
                    <a:bodyPr/>
                    <a:lstStyle/>
                    <a:p>
                      <a:pPr algn="ctr" fontAlgn="b">
                        <a:buNone/>
                      </a:pPr>
                      <a:r>
                        <a:rPr lang="en-US" sz="1200" b="0" i="0" u="none" strike="noStrike" dirty="0">
                          <a:solidFill>
                            <a:srgbClr val="000000"/>
                          </a:solidFill>
                          <a:effectLst/>
                          <a:latin typeface="+mj-lt"/>
                        </a:rPr>
                        <a:t>{Management / Business}</a:t>
                      </a:r>
                    </a:p>
                  </a:txBody>
                  <a:tcPr marL="7620" marR="7620" marT="7620" marB="0" anchor="b"/>
                </a:tc>
                <a:tc>
                  <a:txBody>
                    <a:bodyPr/>
                    <a:lstStyle/>
                    <a:p>
                      <a:pPr algn="ctr" fontAlgn="b">
                        <a:buNone/>
                      </a:pPr>
                      <a:r>
                        <a:rPr lang="en-US" sz="1800" b="0" i="0" u="none" strike="noStrike" dirty="0">
                          <a:solidFill>
                            <a:srgbClr val="000000"/>
                          </a:solidFill>
                          <a:effectLst/>
                          <a:latin typeface="+mj-lt"/>
                        </a:rPr>
                        <a:t>0.60</a:t>
                      </a:r>
                    </a:p>
                  </a:txBody>
                  <a:tcPr marL="7620" marR="7620" marT="7620" marB="0" anchor="b"/>
                </a:tc>
                <a:tc>
                  <a:txBody>
                    <a:bodyPr/>
                    <a:lstStyle/>
                    <a:p>
                      <a:pPr algn="ctr" fontAlgn="b">
                        <a:buNone/>
                      </a:pPr>
                      <a:r>
                        <a:rPr lang="en-US" sz="1800" b="0" i="0" u="none" strike="noStrike" dirty="0">
                          <a:solidFill>
                            <a:srgbClr val="000000"/>
                          </a:solidFill>
                          <a:effectLst/>
                          <a:latin typeface="+mj-lt"/>
                        </a:rPr>
                        <a:t>0.91</a:t>
                      </a:r>
                    </a:p>
                  </a:txBody>
                  <a:tcPr marL="7620" marR="7620" marT="7620" marB="0" anchor="b"/>
                </a:tc>
                <a:tc>
                  <a:txBody>
                    <a:bodyPr/>
                    <a:lstStyle/>
                    <a:p>
                      <a:pPr algn="ctr" fontAlgn="b">
                        <a:buNone/>
                      </a:pPr>
                      <a:r>
                        <a:rPr lang="en-US" sz="1800" b="0" i="0" u="none" strike="noStrike" dirty="0">
                          <a:solidFill>
                            <a:srgbClr val="000000"/>
                          </a:solidFill>
                          <a:effectLst/>
                          <a:latin typeface="+mj-lt"/>
                        </a:rPr>
                        <a:t>0.66</a:t>
                      </a:r>
                    </a:p>
                  </a:txBody>
                  <a:tcPr marL="7620" marR="7620" marT="7620" marB="0" anchor="b"/>
                </a:tc>
                <a:tc>
                  <a:txBody>
                    <a:bodyPr/>
                    <a:lstStyle/>
                    <a:p>
                      <a:pPr algn="ctr" fontAlgn="b">
                        <a:buNone/>
                      </a:pPr>
                      <a:r>
                        <a:rPr lang="en-US" sz="1800" b="0" i="0" u="none" strike="noStrike">
                          <a:solidFill>
                            <a:srgbClr val="000000"/>
                          </a:solidFill>
                          <a:effectLst/>
                          <a:latin typeface="+mj-lt"/>
                        </a:rPr>
                        <a:t>1.09</a:t>
                      </a:r>
                    </a:p>
                  </a:txBody>
                  <a:tcPr marL="7620" marR="7620" marT="7620" marB="0" anchor="b"/>
                </a:tc>
                <a:tc>
                  <a:txBody>
                    <a:bodyPr/>
                    <a:lstStyle/>
                    <a:p>
                      <a:pPr algn="ctr" fontAlgn="b">
                        <a:buNone/>
                      </a:pPr>
                      <a:r>
                        <a:rPr lang="en-US" sz="1800" b="0" i="0" u="none" strike="noStrike">
                          <a:solidFill>
                            <a:srgbClr val="000000"/>
                          </a:solidFill>
                          <a:effectLst/>
                          <a:latin typeface="+mj-lt"/>
                        </a:rPr>
                        <a:t>83</a:t>
                      </a:r>
                    </a:p>
                  </a:txBody>
                  <a:tcPr marL="7620" marR="7620" marT="7620" marB="0" anchor="b"/>
                </a:tc>
                <a:extLst>
                  <a:ext uri="{0D108BD9-81ED-4DB2-BD59-A6C34878D82A}">
                    <a16:rowId xmlns:a16="http://schemas.microsoft.com/office/drawing/2014/main" val="4123010912"/>
                  </a:ext>
                </a:extLst>
              </a:tr>
              <a:tr h="789508">
                <a:tc>
                  <a:txBody>
                    <a:bodyPr/>
                    <a:lstStyle/>
                    <a:p>
                      <a:pPr algn="ctr" fontAlgn="b">
                        <a:buNone/>
                      </a:pPr>
                      <a:r>
                        <a:rPr lang="en-US" sz="1200" b="0" i="0" u="none" strike="noStrike">
                          <a:solidFill>
                            <a:srgbClr val="000000"/>
                          </a:solidFill>
                          <a:effectLst/>
                          <a:latin typeface="+mj-lt"/>
                        </a:rPr>
                        <a:t>{Sales / Marketing / Customer Service}</a:t>
                      </a:r>
                    </a:p>
                  </a:txBody>
                  <a:tcPr marL="7620" marR="7620" marT="7620" marB="0" anchor="b"/>
                </a:tc>
                <a:tc>
                  <a:txBody>
                    <a:bodyPr/>
                    <a:lstStyle/>
                    <a:p>
                      <a:pPr algn="ctr" fontAlgn="b">
                        <a:buNone/>
                      </a:pPr>
                      <a:r>
                        <a:rPr lang="en-US" sz="1200" b="0" i="0" u="none" strike="noStrike">
                          <a:solidFill>
                            <a:srgbClr val="000000"/>
                          </a:solidFill>
                          <a:effectLst/>
                          <a:latin typeface="+mj-lt"/>
                        </a:rPr>
                        <a:t>=&gt;</a:t>
                      </a:r>
                    </a:p>
                  </a:txBody>
                  <a:tcPr marL="7620" marR="7620" marT="7620" marB="0" anchor="b"/>
                </a:tc>
                <a:tc>
                  <a:txBody>
                    <a:bodyPr/>
                    <a:lstStyle/>
                    <a:p>
                      <a:pPr algn="ctr" fontAlgn="b">
                        <a:buNone/>
                      </a:pPr>
                      <a:r>
                        <a:rPr lang="en-US" sz="1200" b="0" i="0" u="none" strike="noStrike">
                          <a:solidFill>
                            <a:srgbClr val="000000"/>
                          </a:solidFill>
                          <a:effectLst/>
                          <a:latin typeface="+mj-lt"/>
                        </a:rPr>
                        <a:t>{Management / Business}</a:t>
                      </a:r>
                    </a:p>
                  </a:txBody>
                  <a:tcPr marL="7620" marR="7620" marT="7620" marB="0" anchor="b"/>
                </a:tc>
                <a:tc>
                  <a:txBody>
                    <a:bodyPr/>
                    <a:lstStyle/>
                    <a:p>
                      <a:pPr algn="ctr" fontAlgn="b">
                        <a:buNone/>
                      </a:pPr>
                      <a:r>
                        <a:rPr lang="en-US" sz="1800" b="0" i="0" u="none" strike="noStrike">
                          <a:solidFill>
                            <a:srgbClr val="000000"/>
                          </a:solidFill>
                          <a:effectLst/>
                          <a:latin typeface="+mj-lt"/>
                        </a:rPr>
                        <a:t>0.66</a:t>
                      </a:r>
                    </a:p>
                  </a:txBody>
                  <a:tcPr marL="7620" marR="7620" marT="7620" marB="0" anchor="b"/>
                </a:tc>
                <a:tc>
                  <a:txBody>
                    <a:bodyPr/>
                    <a:lstStyle/>
                    <a:p>
                      <a:pPr algn="ctr" fontAlgn="b">
                        <a:buNone/>
                      </a:pPr>
                      <a:r>
                        <a:rPr lang="en-US" sz="1800" b="0" i="0" u="none" strike="noStrike" dirty="0">
                          <a:solidFill>
                            <a:srgbClr val="000000"/>
                          </a:solidFill>
                          <a:effectLst/>
                          <a:latin typeface="+mj-lt"/>
                        </a:rPr>
                        <a:t>0.91</a:t>
                      </a:r>
                    </a:p>
                  </a:txBody>
                  <a:tcPr marL="7620" marR="7620" marT="7620" marB="0" anchor="b"/>
                </a:tc>
                <a:tc>
                  <a:txBody>
                    <a:bodyPr/>
                    <a:lstStyle/>
                    <a:p>
                      <a:pPr algn="ctr" fontAlgn="b">
                        <a:buNone/>
                      </a:pPr>
                      <a:r>
                        <a:rPr lang="en-US" sz="1800" b="0" i="0" u="none" strike="noStrike" dirty="0">
                          <a:solidFill>
                            <a:srgbClr val="000000"/>
                          </a:solidFill>
                          <a:effectLst/>
                          <a:latin typeface="+mj-lt"/>
                        </a:rPr>
                        <a:t>0.72</a:t>
                      </a:r>
                    </a:p>
                  </a:txBody>
                  <a:tcPr marL="7620" marR="7620" marT="7620" marB="0" anchor="b"/>
                </a:tc>
                <a:tc>
                  <a:txBody>
                    <a:bodyPr/>
                    <a:lstStyle/>
                    <a:p>
                      <a:pPr algn="ctr" fontAlgn="b">
                        <a:buNone/>
                      </a:pPr>
                      <a:r>
                        <a:rPr lang="en-US" sz="1800" b="0" i="0" u="none" strike="noStrike" dirty="0">
                          <a:solidFill>
                            <a:srgbClr val="000000"/>
                          </a:solidFill>
                          <a:effectLst/>
                          <a:latin typeface="+mj-lt"/>
                        </a:rPr>
                        <a:t>1.08</a:t>
                      </a:r>
                    </a:p>
                  </a:txBody>
                  <a:tcPr marL="7620" marR="7620" marT="7620" marB="0" anchor="b"/>
                </a:tc>
                <a:tc>
                  <a:txBody>
                    <a:bodyPr/>
                    <a:lstStyle/>
                    <a:p>
                      <a:pPr algn="ctr" fontAlgn="b">
                        <a:buNone/>
                      </a:pPr>
                      <a:r>
                        <a:rPr lang="en-US" sz="1800" b="0" i="0" u="none" strike="noStrike">
                          <a:solidFill>
                            <a:srgbClr val="000000"/>
                          </a:solidFill>
                          <a:effectLst/>
                          <a:latin typeface="+mj-lt"/>
                        </a:rPr>
                        <a:t>91</a:t>
                      </a:r>
                    </a:p>
                  </a:txBody>
                  <a:tcPr marL="7620" marR="7620" marT="7620" marB="0" anchor="b"/>
                </a:tc>
                <a:extLst>
                  <a:ext uri="{0D108BD9-81ED-4DB2-BD59-A6C34878D82A}">
                    <a16:rowId xmlns:a16="http://schemas.microsoft.com/office/drawing/2014/main" val="3367130273"/>
                  </a:ext>
                </a:extLst>
              </a:tr>
              <a:tr h="789508">
                <a:tc>
                  <a:txBody>
                    <a:bodyPr/>
                    <a:lstStyle/>
                    <a:p>
                      <a:pPr algn="ctr" fontAlgn="b">
                        <a:buNone/>
                      </a:pPr>
                      <a:r>
                        <a:rPr lang="en-US" sz="1200" b="0" i="0" u="none" strike="noStrike">
                          <a:solidFill>
                            <a:srgbClr val="000000"/>
                          </a:solidFill>
                          <a:effectLst/>
                          <a:latin typeface="+mj-lt"/>
                        </a:rPr>
                        <a:t>{Professional / Scientific / Technical Service}</a:t>
                      </a:r>
                    </a:p>
                  </a:txBody>
                  <a:tcPr marL="7620" marR="7620" marT="7620" marB="0" anchor="b"/>
                </a:tc>
                <a:tc>
                  <a:txBody>
                    <a:bodyPr/>
                    <a:lstStyle/>
                    <a:p>
                      <a:pPr algn="ctr" fontAlgn="b">
                        <a:buNone/>
                      </a:pPr>
                      <a:r>
                        <a:rPr lang="en-US" sz="1200" b="0" i="0" u="none" strike="noStrike">
                          <a:solidFill>
                            <a:srgbClr val="000000"/>
                          </a:solidFill>
                          <a:effectLst/>
                          <a:latin typeface="+mj-lt"/>
                        </a:rPr>
                        <a:t>=&gt;</a:t>
                      </a:r>
                    </a:p>
                  </a:txBody>
                  <a:tcPr marL="7620" marR="7620" marT="7620" marB="0" anchor="b"/>
                </a:tc>
                <a:tc>
                  <a:txBody>
                    <a:bodyPr/>
                    <a:lstStyle/>
                    <a:p>
                      <a:pPr algn="ctr" fontAlgn="b">
                        <a:buNone/>
                      </a:pPr>
                      <a:r>
                        <a:rPr lang="en-US" sz="1200" b="0" i="0" u="none" strike="noStrike">
                          <a:solidFill>
                            <a:srgbClr val="000000"/>
                          </a:solidFill>
                          <a:effectLst/>
                          <a:latin typeface="+mj-lt"/>
                        </a:rPr>
                        <a:t>{Office and Admin Support / Building and Grounds Cleaning / Maintenance}</a:t>
                      </a:r>
                    </a:p>
                  </a:txBody>
                  <a:tcPr marL="7620" marR="7620" marT="7620" marB="0" anchor="b"/>
                </a:tc>
                <a:tc>
                  <a:txBody>
                    <a:bodyPr/>
                    <a:lstStyle/>
                    <a:p>
                      <a:pPr algn="ctr" fontAlgn="b">
                        <a:buNone/>
                      </a:pPr>
                      <a:r>
                        <a:rPr lang="en-US" sz="1800" b="0" i="0" u="none" strike="noStrike">
                          <a:solidFill>
                            <a:srgbClr val="000000"/>
                          </a:solidFill>
                          <a:effectLst/>
                          <a:latin typeface="+mj-lt"/>
                        </a:rPr>
                        <a:t>0.67</a:t>
                      </a:r>
                    </a:p>
                  </a:txBody>
                  <a:tcPr marL="7620" marR="7620" marT="7620" marB="0" anchor="b"/>
                </a:tc>
                <a:tc>
                  <a:txBody>
                    <a:bodyPr/>
                    <a:lstStyle/>
                    <a:p>
                      <a:pPr algn="ctr" fontAlgn="b">
                        <a:buNone/>
                      </a:pPr>
                      <a:r>
                        <a:rPr lang="en-US" sz="1800" b="0" i="0" u="none" strike="noStrike">
                          <a:solidFill>
                            <a:srgbClr val="000000"/>
                          </a:solidFill>
                          <a:effectLst/>
                          <a:latin typeface="+mj-lt"/>
                        </a:rPr>
                        <a:t>0.97</a:t>
                      </a:r>
                    </a:p>
                  </a:txBody>
                  <a:tcPr marL="7620" marR="7620" marT="7620" marB="0" anchor="b"/>
                </a:tc>
                <a:tc>
                  <a:txBody>
                    <a:bodyPr/>
                    <a:lstStyle/>
                    <a:p>
                      <a:pPr algn="ctr" fontAlgn="b">
                        <a:buNone/>
                      </a:pPr>
                      <a:r>
                        <a:rPr lang="en-US" sz="1800" b="0" i="0" u="none" strike="noStrike" dirty="0">
                          <a:solidFill>
                            <a:srgbClr val="000000"/>
                          </a:solidFill>
                          <a:effectLst/>
                          <a:latin typeface="+mj-lt"/>
                        </a:rPr>
                        <a:t>0.69</a:t>
                      </a:r>
                    </a:p>
                  </a:txBody>
                  <a:tcPr marL="7620" marR="7620" marT="7620" marB="0" anchor="b"/>
                </a:tc>
                <a:tc>
                  <a:txBody>
                    <a:bodyPr/>
                    <a:lstStyle/>
                    <a:p>
                      <a:pPr algn="ctr" fontAlgn="b">
                        <a:buNone/>
                      </a:pPr>
                      <a:r>
                        <a:rPr lang="en-US" sz="1800" b="0" i="0" u="none" strike="noStrike" dirty="0">
                          <a:solidFill>
                            <a:srgbClr val="000000"/>
                          </a:solidFill>
                          <a:effectLst/>
                          <a:latin typeface="+mj-lt"/>
                        </a:rPr>
                        <a:t>1.08</a:t>
                      </a:r>
                    </a:p>
                  </a:txBody>
                  <a:tcPr marL="7620" marR="7620" marT="7620" marB="0" anchor="b"/>
                </a:tc>
                <a:tc>
                  <a:txBody>
                    <a:bodyPr/>
                    <a:lstStyle/>
                    <a:p>
                      <a:pPr algn="ctr" fontAlgn="b">
                        <a:buNone/>
                      </a:pPr>
                      <a:r>
                        <a:rPr lang="en-US" sz="1800" b="0" i="0" u="none" strike="noStrike" dirty="0">
                          <a:solidFill>
                            <a:srgbClr val="000000"/>
                          </a:solidFill>
                          <a:effectLst/>
                          <a:latin typeface="+mj-lt"/>
                        </a:rPr>
                        <a:t>92</a:t>
                      </a:r>
                    </a:p>
                  </a:txBody>
                  <a:tcPr marL="7620" marR="7620" marT="7620" marB="0" anchor="b"/>
                </a:tc>
                <a:extLst>
                  <a:ext uri="{0D108BD9-81ED-4DB2-BD59-A6C34878D82A}">
                    <a16:rowId xmlns:a16="http://schemas.microsoft.com/office/drawing/2014/main" val="2631932361"/>
                  </a:ext>
                </a:extLst>
              </a:tr>
            </a:tbl>
          </a:graphicData>
        </a:graphic>
      </p:graphicFrame>
      <p:sp>
        <p:nvSpPr>
          <p:cNvPr id="4" name="Title 3">
            <a:extLst>
              <a:ext uri="{FF2B5EF4-FFF2-40B4-BE49-F238E27FC236}">
                <a16:creationId xmlns:a16="http://schemas.microsoft.com/office/drawing/2014/main" id="{7C2ADEDE-E652-A569-F20F-6866A5A5A706}"/>
              </a:ext>
            </a:extLst>
          </p:cNvPr>
          <p:cNvSpPr>
            <a:spLocks noGrp="1"/>
          </p:cNvSpPr>
          <p:nvPr>
            <p:ph type="title"/>
          </p:nvPr>
        </p:nvSpPr>
        <p:spPr>
          <a:xfrm>
            <a:off x="457200" y="572018"/>
            <a:ext cx="9110662" cy="571695"/>
          </a:xfrm>
        </p:spPr>
        <p:txBody>
          <a:bodyPr/>
          <a:lstStyle/>
          <a:p>
            <a:r>
              <a:rPr lang="en-US" dirty="0"/>
              <a:t>Rules Mined</a:t>
            </a:r>
          </a:p>
        </p:txBody>
      </p:sp>
    </p:spTree>
    <p:extLst>
      <p:ext uri="{BB962C8B-B14F-4D97-AF65-F5344CB8AC3E}">
        <p14:creationId xmlns:p14="http://schemas.microsoft.com/office/powerpoint/2010/main" val="2296257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4DAF5A-803A-4F14-A3AD-0F3EE38558A2}"/>
              </a:ext>
            </a:extLst>
          </p:cNvPr>
          <p:cNvSpPr>
            <a:spLocks noGrp="1"/>
          </p:cNvSpPr>
          <p:nvPr>
            <p:ph type="body" sz="quarter" idx="14"/>
          </p:nvPr>
        </p:nvSpPr>
        <p:spPr/>
        <p:txBody>
          <a:bodyPr/>
          <a:lstStyle/>
          <a:p>
            <a:endParaRPr lang="en-US"/>
          </a:p>
        </p:txBody>
      </p:sp>
      <p:pic>
        <p:nvPicPr>
          <p:cNvPr id="5" name="Chart Placeholder 4">
            <a:extLst>
              <a:ext uri="{FF2B5EF4-FFF2-40B4-BE49-F238E27FC236}">
                <a16:creationId xmlns:a16="http://schemas.microsoft.com/office/drawing/2014/main" id="{11C77C89-434E-37A9-4EA6-B61260EAF47F}"/>
              </a:ext>
            </a:extLst>
          </p:cNvPr>
          <p:cNvPicPr>
            <a:picLocks noGrp="1" noChangeAspect="1"/>
          </p:cNvPicPr>
          <p:nvPr>
            <p:ph type="chart" sz="quarter" idx="13"/>
          </p:nvPr>
        </p:nvPicPr>
        <p:blipFill>
          <a:blip r:embed="rId2"/>
          <a:stretch>
            <a:fillRect/>
          </a:stretch>
        </p:blipFill>
        <p:spPr>
          <a:xfrm>
            <a:off x="502123" y="2016121"/>
            <a:ext cx="10851677" cy="4027327"/>
          </a:xfrm>
          <a:prstGeom prst="rect">
            <a:avLst/>
          </a:prstGeom>
        </p:spPr>
      </p:pic>
      <p:sp>
        <p:nvSpPr>
          <p:cNvPr id="4" name="Title 3">
            <a:extLst>
              <a:ext uri="{FF2B5EF4-FFF2-40B4-BE49-F238E27FC236}">
                <a16:creationId xmlns:a16="http://schemas.microsoft.com/office/drawing/2014/main" id="{D0F6C353-25E4-4953-887C-3E60CC08E0C4}"/>
              </a:ext>
            </a:extLst>
          </p:cNvPr>
          <p:cNvSpPr>
            <a:spLocks noGrp="1"/>
          </p:cNvSpPr>
          <p:nvPr>
            <p:ph type="title"/>
          </p:nvPr>
        </p:nvSpPr>
        <p:spPr>
          <a:xfrm>
            <a:off x="457200" y="572018"/>
            <a:ext cx="9110662" cy="571695"/>
          </a:xfrm>
        </p:spPr>
        <p:txBody>
          <a:bodyPr/>
          <a:lstStyle/>
          <a:p>
            <a:r>
              <a:rPr lang="en-US" dirty="0"/>
              <a:t>Network Graph of Mined Rules</a:t>
            </a:r>
          </a:p>
        </p:txBody>
      </p:sp>
    </p:spTree>
    <p:extLst>
      <p:ext uri="{BB962C8B-B14F-4D97-AF65-F5344CB8AC3E}">
        <p14:creationId xmlns:p14="http://schemas.microsoft.com/office/powerpoint/2010/main" val="2055798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B45C86-9C66-FB87-6178-767C1EAAA01F}"/>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97207ABD-6FA1-2508-54F7-AB7B1F8714F5}"/>
              </a:ext>
            </a:extLst>
          </p:cNvPr>
          <p:cNvSpPr>
            <a:spLocks noGrp="1"/>
          </p:cNvSpPr>
          <p:nvPr>
            <p:ph sz="quarter" idx="13"/>
          </p:nvPr>
        </p:nvSpPr>
        <p:spPr>
          <a:xfrm>
            <a:off x="471744" y="1603512"/>
            <a:ext cx="11270489" cy="3534301"/>
          </a:xfrm>
        </p:spPr>
        <p:txBody>
          <a:bodyPr/>
          <a:lstStyle/>
          <a:p>
            <a:r>
              <a:rPr lang="en-US" dirty="0"/>
              <a:t>Based on FP-Growth.</a:t>
            </a:r>
          </a:p>
          <a:p>
            <a:endParaRPr lang="en-US" dirty="0"/>
          </a:p>
          <a:p>
            <a:r>
              <a:rPr lang="en-US" dirty="0"/>
              <a:t>Data Discretization for ACS Income and Home to Work Travel Time.</a:t>
            </a:r>
          </a:p>
          <a:p>
            <a:endParaRPr lang="en-US" dirty="0"/>
          </a:p>
          <a:p>
            <a:r>
              <a:rPr lang="en-US" dirty="0"/>
              <a:t>Classify Telecommute Workers from ACS Income, Home to Work Travel Time, and NAICS Code.</a:t>
            </a:r>
          </a:p>
          <a:p>
            <a:endParaRPr lang="en-US" dirty="0"/>
          </a:p>
        </p:txBody>
      </p:sp>
      <p:sp>
        <p:nvSpPr>
          <p:cNvPr id="4" name="Title 3">
            <a:extLst>
              <a:ext uri="{FF2B5EF4-FFF2-40B4-BE49-F238E27FC236}">
                <a16:creationId xmlns:a16="http://schemas.microsoft.com/office/drawing/2014/main" id="{DADF58DF-B864-2C18-E895-EAAD03DB600F}"/>
              </a:ext>
            </a:extLst>
          </p:cNvPr>
          <p:cNvSpPr>
            <a:spLocks noGrp="1"/>
          </p:cNvSpPr>
          <p:nvPr>
            <p:ph type="title"/>
          </p:nvPr>
        </p:nvSpPr>
        <p:spPr>
          <a:xfrm>
            <a:off x="457200" y="572018"/>
            <a:ext cx="9110662" cy="571695"/>
          </a:xfrm>
        </p:spPr>
        <p:txBody>
          <a:bodyPr/>
          <a:lstStyle/>
          <a:p>
            <a:r>
              <a:rPr lang="en-US" dirty="0"/>
              <a:t>Association: Rule-based </a:t>
            </a:r>
            <a:r>
              <a:rPr lang="en-US" altLang="zh-CN" dirty="0"/>
              <a:t>Classification</a:t>
            </a:r>
            <a:endParaRPr lang="en-US" dirty="0"/>
          </a:p>
        </p:txBody>
      </p:sp>
    </p:spTree>
    <p:extLst>
      <p:ext uri="{BB962C8B-B14F-4D97-AF65-F5344CB8AC3E}">
        <p14:creationId xmlns:p14="http://schemas.microsoft.com/office/powerpoint/2010/main" val="1459170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74645D-6CAA-95D5-CFFF-8E5C134AB5FA}"/>
              </a:ext>
            </a:extLst>
          </p:cNvPr>
          <p:cNvSpPr>
            <a:spLocks noGrp="1"/>
          </p:cNvSpPr>
          <p:nvPr>
            <p:ph type="body" sz="quarter" idx="14"/>
          </p:nvPr>
        </p:nvSpPr>
        <p:spPr/>
        <p:txBody>
          <a:bodyPr/>
          <a:lstStyle/>
          <a:p>
            <a:endParaRPr lang="en-US"/>
          </a:p>
        </p:txBody>
      </p:sp>
      <p:graphicFrame>
        <p:nvGraphicFramePr>
          <p:cNvPr id="5" name="Content Placeholder 4">
            <a:extLst>
              <a:ext uri="{FF2B5EF4-FFF2-40B4-BE49-F238E27FC236}">
                <a16:creationId xmlns:a16="http://schemas.microsoft.com/office/drawing/2014/main" id="{CD753C39-57BE-115D-594C-0B50F1BF3BCF}"/>
              </a:ext>
            </a:extLst>
          </p:cNvPr>
          <p:cNvGraphicFramePr>
            <a:graphicFrameLocks noGrp="1"/>
          </p:cNvGraphicFramePr>
          <p:nvPr>
            <p:ph sz="quarter" idx="13"/>
            <p:extLst>
              <p:ext uri="{D42A27DB-BD31-4B8C-83A1-F6EECF244321}">
                <p14:modId xmlns:p14="http://schemas.microsoft.com/office/powerpoint/2010/main" val="2877181596"/>
              </p:ext>
            </p:extLst>
          </p:nvPr>
        </p:nvGraphicFramePr>
        <p:xfrm>
          <a:off x="471488" y="1603375"/>
          <a:ext cx="11271246" cy="2595880"/>
        </p:xfrm>
        <a:graphic>
          <a:graphicData uri="http://schemas.openxmlformats.org/drawingml/2006/table">
            <a:tbl>
              <a:tblPr firstRow="1" bandRow="1">
                <a:tableStyleId>{5C22544A-7EE6-4342-B048-85BDC9FD1C3A}</a:tableStyleId>
              </a:tblPr>
              <a:tblGrid>
                <a:gridCol w="1809257">
                  <a:extLst>
                    <a:ext uri="{9D8B030D-6E8A-4147-A177-3AD203B41FA5}">
                      <a16:colId xmlns:a16="http://schemas.microsoft.com/office/drawing/2014/main" val="1483733073"/>
                    </a:ext>
                  </a:extLst>
                </a:gridCol>
                <a:gridCol w="641131">
                  <a:extLst>
                    <a:ext uri="{9D8B030D-6E8A-4147-A177-3AD203B41FA5}">
                      <a16:colId xmlns:a16="http://schemas.microsoft.com/office/drawing/2014/main" val="3594378569"/>
                    </a:ext>
                  </a:extLst>
                </a:gridCol>
                <a:gridCol w="3185235">
                  <a:extLst>
                    <a:ext uri="{9D8B030D-6E8A-4147-A177-3AD203B41FA5}">
                      <a16:colId xmlns:a16="http://schemas.microsoft.com/office/drawing/2014/main" val="4086106050"/>
                    </a:ext>
                  </a:extLst>
                </a:gridCol>
                <a:gridCol w="1878541">
                  <a:extLst>
                    <a:ext uri="{9D8B030D-6E8A-4147-A177-3AD203B41FA5}">
                      <a16:colId xmlns:a16="http://schemas.microsoft.com/office/drawing/2014/main" val="411150763"/>
                    </a:ext>
                  </a:extLst>
                </a:gridCol>
                <a:gridCol w="1878541">
                  <a:extLst>
                    <a:ext uri="{9D8B030D-6E8A-4147-A177-3AD203B41FA5}">
                      <a16:colId xmlns:a16="http://schemas.microsoft.com/office/drawing/2014/main" val="605166719"/>
                    </a:ext>
                  </a:extLst>
                </a:gridCol>
                <a:gridCol w="1878541">
                  <a:extLst>
                    <a:ext uri="{9D8B030D-6E8A-4147-A177-3AD203B41FA5}">
                      <a16:colId xmlns:a16="http://schemas.microsoft.com/office/drawing/2014/main" val="1596438971"/>
                    </a:ext>
                  </a:extLst>
                </a:gridCol>
              </a:tblGrid>
              <a:tr h="370840">
                <a:tc>
                  <a:txBody>
                    <a:bodyPr/>
                    <a:lstStyle/>
                    <a:p>
                      <a:pPr algn="ctr" fontAlgn="b">
                        <a:buNone/>
                      </a:pPr>
                      <a:r>
                        <a:rPr lang="en-US" sz="1800" b="0" i="0" u="none" strike="noStrike" dirty="0" err="1">
                          <a:solidFill>
                            <a:schemeClr val="bg1"/>
                          </a:solidFill>
                          <a:effectLst/>
                          <a:latin typeface="+mj-lt"/>
                        </a:rPr>
                        <a:t>lhs</a:t>
                      </a:r>
                      <a:endParaRPr lang="en-US" sz="1800" b="0" i="0" u="none" strike="noStrike" dirty="0">
                        <a:solidFill>
                          <a:schemeClr val="bg1"/>
                        </a:solidFill>
                        <a:effectLst/>
                        <a:latin typeface="+mj-lt"/>
                      </a:endParaRPr>
                    </a:p>
                  </a:txBody>
                  <a:tcPr marL="7620" marR="7620" marT="7620" marB="0" anchor="b"/>
                </a:tc>
                <a:tc>
                  <a:txBody>
                    <a:bodyPr/>
                    <a:lstStyle/>
                    <a:p>
                      <a:pPr algn="ctr" fontAlgn="b">
                        <a:buNone/>
                      </a:pPr>
                      <a:endParaRPr lang="en-US" sz="1800" b="0" i="0" u="none" strike="noStrike" dirty="0">
                        <a:solidFill>
                          <a:schemeClr val="bg1"/>
                        </a:solidFill>
                        <a:effectLst/>
                        <a:latin typeface="+mj-lt"/>
                      </a:endParaRPr>
                    </a:p>
                  </a:txBody>
                  <a:tcPr marL="7620" marR="7620" marT="7620" marB="0" anchor="b"/>
                </a:tc>
                <a:tc>
                  <a:txBody>
                    <a:bodyPr/>
                    <a:lstStyle/>
                    <a:p>
                      <a:pPr algn="ctr" fontAlgn="b">
                        <a:buNone/>
                      </a:pPr>
                      <a:r>
                        <a:rPr lang="en-US" sz="1800" b="0" i="0" u="none" strike="noStrike">
                          <a:solidFill>
                            <a:schemeClr val="bg1"/>
                          </a:solidFill>
                          <a:effectLst/>
                          <a:latin typeface="+mj-lt"/>
                        </a:rPr>
                        <a:t>rhs</a:t>
                      </a:r>
                    </a:p>
                  </a:txBody>
                  <a:tcPr marL="7620" marR="7620" marT="7620" marB="0" anchor="b"/>
                </a:tc>
                <a:tc>
                  <a:txBody>
                    <a:bodyPr/>
                    <a:lstStyle/>
                    <a:p>
                      <a:pPr algn="ctr" fontAlgn="b">
                        <a:buNone/>
                      </a:pPr>
                      <a:r>
                        <a:rPr lang="en-US" sz="1800" b="0" i="0" u="none" strike="noStrike" dirty="0">
                          <a:solidFill>
                            <a:schemeClr val="bg1"/>
                          </a:solidFill>
                          <a:effectLst/>
                          <a:latin typeface="+mj-lt"/>
                        </a:rPr>
                        <a:t>support</a:t>
                      </a:r>
                    </a:p>
                  </a:txBody>
                  <a:tcPr marL="7620" marR="7620" marT="7620" marB="0" anchor="b"/>
                </a:tc>
                <a:tc>
                  <a:txBody>
                    <a:bodyPr/>
                    <a:lstStyle/>
                    <a:p>
                      <a:pPr algn="ctr" fontAlgn="b">
                        <a:buNone/>
                      </a:pPr>
                      <a:r>
                        <a:rPr lang="en-US" sz="1800" b="0" i="0" u="none" strike="noStrike" dirty="0">
                          <a:solidFill>
                            <a:schemeClr val="bg1"/>
                          </a:solidFill>
                          <a:effectLst/>
                          <a:latin typeface="+mj-lt"/>
                        </a:rPr>
                        <a:t>confidence</a:t>
                      </a:r>
                    </a:p>
                  </a:txBody>
                  <a:tcPr marL="7620" marR="7620" marT="7620" marB="0" anchor="b"/>
                </a:tc>
                <a:tc>
                  <a:txBody>
                    <a:bodyPr/>
                    <a:lstStyle/>
                    <a:p>
                      <a:pPr algn="ctr" fontAlgn="b">
                        <a:buNone/>
                      </a:pPr>
                      <a:r>
                        <a:rPr lang="en-US" sz="1800" b="0" i="0" u="none" strike="noStrike" dirty="0">
                          <a:solidFill>
                            <a:schemeClr val="bg1"/>
                          </a:solidFill>
                          <a:effectLst/>
                          <a:latin typeface="+mj-lt"/>
                        </a:rPr>
                        <a:t>lift</a:t>
                      </a:r>
                    </a:p>
                  </a:txBody>
                  <a:tcPr marL="7620" marR="7620" marT="7620" marB="0" anchor="b"/>
                </a:tc>
                <a:extLst>
                  <a:ext uri="{0D108BD9-81ED-4DB2-BD59-A6C34878D82A}">
                    <a16:rowId xmlns:a16="http://schemas.microsoft.com/office/drawing/2014/main" val="1217394764"/>
                  </a:ext>
                </a:extLst>
              </a:tr>
              <a:tr h="370840">
                <a:tc>
                  <a:txBody>
                    <a:bodyPr/>
                    <a:lstStyle/>
                    <a:p>
                      <a:pPr algn="l" fontAlgn="b">
                        <a:buNone/>
                      </a:pPr>
                      <a:r>
                        <a:rPr lang="en-US" sz="1800" b="0" i="0" u="none" strike="noStrike" dirty="0">
                          <a:solidFill>
                            <a:srgbClr val="000000"/>
                          </a:solidFill>
                          <a:effectLst/>
                          <a:latin typeface="+mj-lt"/>
                        </a:rPr>
                        <a:t>{NAICS2=48}</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a:solidFill>
                            <a:srgbClr val="000000"/>
                          </a:solidFill>
                          <a:effectLst/>
                          <a:latin typeface="+mj-lt"/>
                        </a:rPr>
                        <a:t>{WorkFromHome=False}</a:t>
                      </a:r>
                    </a:p>
                  </a:txBody>
                  <a:tcPr marL="7620" marR="7620" marT="7620" marB="0" anchor="b"/>
                </a:tc>
                <a:tc>
                  <a:txBody>
                    <a:bodyPr/>
                    <a:lstStyle/>
                    <a:p>
                      <a:pPr algn="r" fontAlgn="b">
                        <a:buNone/>
                      </a:pPr>
                      <a:r>
                        <a:rPr lang="en-US" sz="1800" b="0" i="0" u="none" strike="noStrike">
                          <a:solidFill>
                            <a:srgbClr val="000000"/>
                          </a:solidFill>
                          <a:effectLst/>
                          <a:latin typeface="+mj-lt"/>
                        </a:rPr>
                        <a:t>0.01</a:t>
                      </a:r>
                    </a:p>
                  </a:txBody>
                  <a:tcPr marL="7620" marR="7620" marT="7620" marB="0" anchor="b"/>
                </a:tc>
                <a:tc>
                  <a:txBody>
                    <a:bodyPr/>
                    <a:lstStyle/>
                    <a:p>
                      <a:pPr algn="r" fontAlgn="b">
                        <a:buNone/>
                      </a:pPr>
                      <a:r>
                        <a:rPr lang="en-US" sz="1800" b="0" i="0" u="none" strike="noStrike">
                          <a:solidFill>
                            <a:srgbClr val="000000"/>
                          </a:solidFill>
                          <a:effectLst/>
                          <a:latin typeface="+mj-lt"/>
                        </a:rPr>
                        <a:t>0.96</a:t>
                      </a:r>
                    </a:p>
                  </a:txBody>
                  <a:tcPr marL="7620" marR="7620" marT="7620" marB="0" anchor="b"/>
                </a:tc>
                <a:tc>
                  <a:txBody>
                    <a:bodyPr/>
                    <a:lstStyle/>
                    <a:p>
                      <a:pPr algn="r" fontAlgn="b">
                        <a:buNone/>
                      </a:pPr>
                      <a:r>
                        <a:rPr lang="en-US" sz="1800" b="0" i="0" u="none" strike="noStrike">
                          <a:solidFill>
                            <a:srgbClr val="000000"/>
                          </a:solidFill>
                          <a:effectLst/>
                          <a:latin typeface="+mj-lt"/>
                        </a:rPr>
                        <a:t>1.13</a:t>
                      </a:r>
                    </a:p>
                  </a:txBody>
                  <a:tcPr marL="7620" marR="7620" marT="7620" marB="0" anchor="b"/>
                </a:tc>
                <a:extLst>
                  <a:ext uri="{0D108BD9-81ED-4DB2-BD59-A6C34878D82A}">
                    <a16:rowId xmlns:a16="http://schemas.microsoft.com/office/drawing/2014/main" val="2518448481"/>
                  </a:ext>
                </a:extLst>
              </a:tr>
              <a:tr h="370840">
                <a:tc>
                  <a:txBody>
                    <a:bodyPr/>
                    <a:lstStyle/>
                    <a:p>
                      <a:pPr algn="l" fontAlgn="b">
                        <a:buNone/>
                      </a:pPr>
                      <a:r>
                        <a:rPr lang="en-US" sz="1800" b="0" i="0" u="none" strike="noStrike" dirty="0">
                          <a:solidFill>
                            <a:srgbClr val="000000"/>
                          </a:solidFill>
                          <a:effectLst/>
                          <a:latin typeface="+mj-lt"/>
                        </a:rPr>
                        <a:t>{NAICS2=21}</a:t>
                      </a:r>
                    </a:p>
                  </a:txBody>
                  <a:tcPr marL="7620" marR="7620" marT="7620" marB="0" anchor="b"/>
                </a:tc>
                <a:tc>
                  <a:txBody>
                    <a:bodyPr/>
                    <a:lstStyle/>
                    <a:p>
                      <a:pPr algn="l" fontAlgn="b">
                        <a:buNone/>
                      </a:pPr>
                      <a:r>
                        <a:rPr lang="en-US" sz="1800" b="0" i="0" u="none" strike="noStrike" dirty="0">
                          <a:solidFill>
                            <a:srgbClr val="000000"/>
                          </a:solidFill>
                          <a:effectLst/>
                          <a:latin typeface="+mj-lt"/>
                        </a:rPr>
                        <a:t>=&gt;</a:t>
                      </a:r>
                    </a:p>
                  </a:txBody>
                  <a:tcPr marL="7620" marR="7620" marT="7620" marB="0" anchor="b"/>
                </a:tc>
                <a:tc>
                  <a:txBody>
                    <a:bodyPr/>
                    <a:lstStyle/>
                    <a:p>
                      <a:pPr algn="l" fontAlgn="b">
                        <a:buNone/>
                      </a:pPr>
                      <a:r>
                        <a:rPr lang="en-US" sz="1800" b="0" i="0" u="none" strike="noStrike" dirty="0">
                          <a:solidFill>
                            <a:srgbClr val="000000"/>
                          </a:solidFill>
                          <a:effectLst/>
                          <a:latin typeface="+mj-lt"/>
                        </a:rPr>
                        <a:t>{</a:t>
                      </a:r>
                      <a:r>
                        <a:rPr lang="en-US" sz="1800" b="0" i="0" u="none" strike="noStrike" dirty="0" err="1">
                          <a:solidFill>
                            <a:srgbClr val="000000"/>
                          </a:solidFill>
                          <a:effectLst/>
                          <a:latin typeface="+mj-lt"/>
                        </a:rPr>
                        <a:t>WorkFromHome</a:t>
                      </a:r>
                      <a:r>
                        <a:rPr lang="en-US" sz="1800" b="0" i="0" u="none" strike="noStrike" dirty="0">
                          <a:solidFill>
                            <a:srgbClr val="000000"/>
                          </a:solidFill>
                          <a:effectLst/>
                          <a:latin typeface="+mj-lt"/>
                        </a:rPr>
                        <a:t>=False}</a:t>
                      </a:r>
                    </a:p>
                  </a:txBody>
                  <a:tcPr marL="7620" marR="7620" marT="7620" marB="0" anchor="b"/>
                </a:tc>
                <a:tc>
                  <a:txBody>
                    <a:bodyPr/>
                    <a:lstStyle/>
                    <a:p>
                      <a:pPr algn="r" fontAlgn="b">
                        <a:buNone/>
                      </a:pPr>
                      <a:r>
                        <a:rPr lang="en-US" sz="1800" b="0" i="0" u="none" strike="noStrike">
                          <a:solidFill>
                            <a:srgbClr val="000000"/>
                          </a:solidFill>
                          <a:effectLst/>
                          <a:latin typeface="+mj-lt"/>
                        </a:rPr>
                        <a:t>0.02</a:t>
                      </a:r>
                    </a:p>
                  </a:txBody>
                  <a:tcPr marL="7620" marR="7620" marT="7620" marB="0" anchor="b"/>
                </a:tc>
                <a:tc>
                  <a:txBody>
                    <a:bodyPr/>
                    <a:lstStyle/>
                    <a:p>
                      <a:pPr algn="r" fontAlgn="b">
                        <a:buNone/>
                      </a:pPr>
                      <a:r>
                        <a:rPr lang="en-US" sz="1800" b="0" i="0" u="none" strike="noStrike">
                          <a:solidFill>
                            <a:srgbClr val="000000"/>
                          </a:solidFill>
                          <a:effectLst/>
                          <a:latin typeface="+mj-lt"/>
                        </a:rPr>
                        <a:t>0.94</a:t>
                      </a:r>
                    </a:p>
                  </a:txBody>
                  <a:tcPr marL="7620" marR="7620" marT="7620" marB="0" anchor="b"/>
                </a:tc>
                <a:tc>
                  <a:txBody>
                    <a:bodyPr/>
                    <a:lstStyle/>
                    <a:p>
                      <a:pPr algn="r" fontAlgn="b">
                        <a:buNone/>
                      </a:pPr>
                      <a:r>
                        <a:rPr lang="en-US" sz="1800" b="0" i="0" u="none" strike="noStrike">
                          <a:solidFill>
                            <a:srgbClr val="000000"/>
                          </a:solidFill>
                          <a:effectLst/>
                          <a:latin typeface="+mj-lt"/>
                        </a:rPr>
                        <a:t>1.10</a:t>
                      </a:r>
                    </a:p>
                  </a:txBody>
                  <a:tcPr marL="7620" marR="7620" marT="7620" marB="0" anchor="b"/>
                </a:tc>
                <a:extLst>
                  <a:ext uri="{0D108BD9-81ED-4DB2-BD59-A6C34878D82A}">
                    <a16:rowId xmlns:a16="http://schemas.microsoft.com/office/drawing/2014/main" val="909003874"/>
                  </a:ext>
                </a:extLst>
              </a:tr>
              <a:tr h="370840">
                <a:tc>
                  <a:txBody>
                    <a:bodyPr/>
                    <a:lstStyle/>
                    <a:p>
                      <a:pPr algn="l" fontAlgn="b">
                        <a:buNone/>
                      </a:pPr>
                      <a:r>
                        <a:rPr lang="en-US" sz="1800" b="0" i="0" u="none" strike="noStrike">
                          <a:solidFill>
                            <a:srgbClr val="000000"/>
                          </a:solidFill>
                          <a:effectLst/>
                          <a:latin typeface="+mj-lt"/>
                        </a:rPr>
                        <a:t>{NAICS2=56}</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dirty="0">
                          <a:solidFill>
                            <a:srgbClr val="000000"/>
                          </a:solidFill>
                          <a:effectLst/>
                          <a:latin typeface="+mj-lt"/>
                        </a:rPr>
                        <a:t>{</a:t>
                      </a:r>
                      <a:r>
                        <a:rPr lang="en-US" sz="1800" b="0" i="0" u="none" strike="noStrike" dirty="0" err="1">
                          <a:solidFill>
                            <a:srgbClr val="000000"/>
                          </a:solidFill>
                          <a:effectLst/>
                          <a:latin typeface="+mj-lt"/>
                        </a:rPr>
                        <a:t>WorkFromHome</a:t>
                      </a:r>
                      <a:r>
                        <a:rPr lang="en-US" sz="1800" b="0" i="0" u="none" strike="noStrike" dirty="0">
                          <a:solidFill>
                            <a:srgbClr val="000000"/>
                          </a:solidFill>
                          <a:effectLst/>
                          <a:latin typeface="+mj-lt"/>
                        </a:rPr>
                        <a:t>=False}</a:t>
                      </a:r>
                    </a:p>
                  </a:txBody>
                  <a:tcPr marL="7620" marR="7620" marT="7620" marB="0" anchor="b"/>
                </a:tc>
                <a:tc>
                  <a:txBody>
                    <a:bodyPr/>
                    <a:lstStyle/>
                    <a:p>
                      <a:pPr algn="r" fontAlgn="b">
                        <a:buNone/>
                      </a:pPr>
                      <a:r>
                        <a:rPr lang="en-US" sz="1800" b="0" i="0" u="none" strike="noStrike">
                          <a:solidFill>
                            <a:srgbClr val="000000"/>
                          </a:solidFill>
                          <a:effectLst/>
                          <a:latin typeface="+mj-lt"/>
                        </a:rPr>
                        <a:t>0.02</a:t>
                      </a:r>
                    </a:p>
                  </a:txBody>
                  <a:tcPr marL="7620" marR="7620" marT="7620" marB="0" anchor="b"/>
                </a:tc>
                <a:tc>
                  <a:txBody>
                    <a:bodyPr/>
                    <a:lstStyle/>
                    <a:p>
                      <a:pPr algn="r" fontAlgn="b">
                        <a:buNone/>
                      </a:pPr>
                      <a:r>
                        <a:rPr lang="en-US" sz="1800" b="0" i="0" u="none" strike="noStrike">
                          <a:solidFill>
                            <a:srgbClr val="000000"/>
                          </a:solidFill>
                          <a:effectLst/>
                          <a:latin typeface="+mj-lt"/>
                        </a:rPr>
                        <a:t>0.96</a:t>
                      </a:r>
                    </a:p>
                  </a:txBody>
                  <a:tcPr marL="7620" marR="7620" marT="7620" marB="0" anchor="b"/>
                </a:tc>
                <a:tc>
                  <a:txBody>
                    <a:bodyPr/>
                    <a:lstStyle/>
                    <a:p>
                      <a:pPr algn="r" fontAlgn="b">
                        <a:buNone/>
                      </a:pPr>
                      <a:r>
                        <a:rPr lang="en-US" sz="1800" b="0" i="0" u="none" strike="noStrike">
                          <a:solidFill>
                            <a:srgbClr val="000000"/>
                          </a:solidFill>
                          <a:effectLst/>
                          <a:latin typeface="+mj-lt"/>
                        </a:rPr>
                        <a:t>1.12</a:t>
                      </a:r>
                    </a:p>
                  </a:txBody>
                  <a:tcPr marL="7620" marR="7620" marT="7620" marB="0" anchor="b"/>
                </a:tc>
                <a:extLst>
                  <a:ext uri="{0D108BD9-81ED-4DB2-BD59-A6C34878D82A}">
                    <a16:rowId xmlns:a16="http://schemas.microsoft.com/office/drawing/2014/main" val="2967334599"/>
                  </a:ext>
                </a:extLst>
              </a:tr>
              <a:tr h="370840">
                <a:tc>
                  <a:txBody>
                    <a:bodyPr/>
                    <a:lstStyle/>
                    <a:p>
                      <a:pPr algn="l" fontAlgn="b">
                        <a:buNone/>
                      </a:pPr>
                      <a:r>
                        <a:rPr lang="en-US" sz="1800" b="0" i="0" u="none" strike="noStrike">
                          <a:solidFill>
                            <a:srgbClr val="000000"/>
                          </a:solidFill>
                          <a:effectLst/>
                          <a:latin typeface="+mj-lt"/>
                        </a:rPr>
                        <a:t>{NAICS2=72}</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a:solidFill>
                            <a:srgbClr val="000000"/>
                          </a:solidFill>
                          <a:effectLst/>
                          <a:latin typeface="+mj-lt"/>
                        </a:rPr>
                        <a:t>{WorkFromHome=False}</a:t>
                      </a:r>
                    </a:p>
                  </a:txBody>
                  <a:tcPr marL="7620" marR="7620" marT="7620" marB="0" anchor="b"/>
                </a:tc>
                <a:tc>
                  <a:txBody>
                    <a:bodyPr/>
                    <a:lstStyle/>
                    <a:p>
                      <a:pPr algn="r" fontAlgn="b">
                        <a:buNone/>
                      </a:pPr>
                      <a:r>
                        <a:rPr lang="en-US" sz="1800" b="0" i="0" u="none" strike="noStrike" dirty="0">
                          <a:solidFill>
                            <a:srgbClr val="000000"/>
                          </a:solidFill>
                          <a:effectLst/>
                          <a:latin typeface="+mj-lt"/>
                        </a:rPr>
                        <a:t>0.02</a:t>
                      </a:r>
                    </a:p>
                  </a:txBody>
                  <a:tcPr marL="7620" marR="7620" marT="7620" marB="0" anchor="b"/>
                </a:tc>
                <a:tc>
                  <a:txBody>
                    <a:bodyPr/>
                    <a:lstStyle/>
                    <a:p>
                      <a:pPr algn="r" fontAlgn="b">
                        <a:buNone/>
                      </a:pPr>
                      <a:r>
                        <a:rPr lang="en-US" sz="1800" b="0" i="0" u="none" strike="noStrike">
                          <a:solidFill>
                            <a:srgbClr val="000000"/>
                          </a:solidFill>
                          <a:effectLst/>
                          <a:latin typeface="+mj-lt"/>
                        </a:rPr>
                        <a:t>0.96</a:t>
                      </a:r>
                    </a:p>
                  </a:txBody>
                  <a:tcPr marL="7620" marR="7620" marT="7620" marB="0" anchor="b"/>
                </a:tc>
                <a:tc>
                  <a:txBody>
                    <a:bodyPr/>
                    <a:lstStyle/>
                    <a:p>
                      <a:pPr algn="r" fontAlgn="b">
                        <a:buNone/>
                      </a:pPr>
                      <a:r>
                        <a:rPr lang="en-US" sz="1800" b="0" i="0" u="none" strike="noStrike">
                          <a:solidFill>
                            <a:srgbClr val="000000"/>
                          </a:solidFill>
                          <a:effectLst/>
                          <a:latin typeface="+mj-lt"/>
                        </a:rPr>
                        <a:t>1.12</a:t>
                      </a:r>
                    </a:p>
                  </a:txBody>
                  <a:tcPr marL="7620" marR="7620" marT="7620" marB="0" anchor="b"/>
                </a:tc>
                <a:extLst>
                  <a:ext uri="{0D108BD9-81ED-4DB2-BD59-A6C34878D82A}">
                    <a16:rowId xmlns:a16="http://schemas.microsoft.com/office/drawing/2014/main" val="2221340725"/>
                  </a:ext>
                </a:extLst>
              </a:tr>
              <a:tr h="370840">
                <a:tc>
                  <a:txBody>
                    <a:bodyPr/>
                    <a:lstStyle/>
                    <a:p>
                      <a:pPr algn="l" fontAlgn="b">
                        <a:buNone/>
                      </a:pPr>
                      <a:r>
                        <a:rPr lang="en-US" sz="1800" b="0" i="0" u="none" strike="noStrike">
                          <a:solidFill>
                            <a:srgbClr val="000000"/>
                          </a:solidFill>
                          <a:effectLst/>
                          <a:latin typeface="+mj-lt"/>
                        </a:rPr>
                        <a:t>{NAICS2=49}</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a:solidFill>
                            <a:srgbClr val="000000"/>
                          </a:solidFill>
                          <a:effectLst/>
                          <a:latin typeface="+mj-lt"/>
                        </a:rPr>
                        <a:t>{WorkFromHome=False}</a:t>
                      </a:r>
                    </a:p>
                  </a:txBody>
                  <a:tcPr marL="7620" marR="7620" marT="7620" marB="0" anchor="b"/>
                </a:tc>
                <a:tc>
                  <a:txBody>
                    <a:bodyPr/>
                    <a:lstStyle/>
                    <a:p>
                      <a:pPr algn="r" fontAlgn="b">
                        <a:buNone/>
                      </a:pPr>
                      <a:r>
                        <a:rPr lang="en-US" sz="1800" b="0" i="0" u="none" strike="noStrike" dirty="0">
                          <a:solidFill>
                            <a:srgbClr val="000000"/>
                          </a:solidFill>
                          <a:effectLst/>
                          <a:latin typeface="+mj-lt"/>
                        </a:rPr>
                        <a:t>0.03</a:t>
                      </a:r>
                    </a:p>
                  </a:txBody>
                  <a:tcPr marL="7620" marR="7620" marT="7620" marB="0" anchor="b"/>
                </a:tc>
                <a:tc>
                  <a:txBody>
                    <a:bodyPr/>
                    <a:lstStyle/>
                    <a:p>
                      <a:pPr algn="r" fontAlgn="b">
                        <a:buNone/>
                      </a:pPr>
                      <a:r>
                        <a:rPr lang="en-US" sz="1800" b="0" i="0" u="none" strike="noStrike" dirty="0">
                          <a:solidFill>
                            <a:srgbClr val="000000"/>
                          </a:solidFill>
                          <a:effectLst/>
                          <a:latin typeface="+mj-lt"/>
                        </a:rPr>
                        <a:t>0.99</a:t>
                      </a:r>
                    </a:p>
                  </a:txBody>
                  <a:tcPr marL="7620" marR="7620" marT="7620" marB="0" anchor="b"/>
                </a:tc>
                <a:tc>
                  <a:txBody>
                    <a:bodyPr/>
                    <a:lstStyle/>
                    <a:p>
                      <a:pPr algn="r" fontAlgn="b">
                        <a:buNone/>
                      </a:pPr>
                      <a:r>
                        <a:rPr lang="en-US" sz="1800" b="0" i="0" u="none" strike="noStrike">
                          <a:solidFill>
                            <a:srgbClr val="000000"/>
                          </a:solidFill>
                          <a:effectLst/>
                          <a:latin typeface="+mj-lt"/>
                        </a:rPr>
                        <a:t>1.16</a:t>
                      </a:r>
                    </a:p>
                  </a:txBody>
                  <a:tcPr marL="7620" marR="7620" marT="7620" marB="0" anchor="b"/>
                </a:tc>
                <a:extLst>
                  <a:ext uri="{0D108BD9-81ED-4DB2-BD59-A6C34878D82A}">
                    <a16:rowId xmlns:a16="http://schemas.microsoft.com/office/drawing/2014/main" val="1330710741"/>
                  </a:ext>
                </a:extLst>
              </a:tr>
              <a:tr h="370840">
                <a:tc>
                  <a:txBody>
                    <a:bodyPr/>
                    <a:lstStyle/>
                    <a:p>
                      <a:pPr algn="l" fontAlgn="b">
                        <a:buNone/>
                      </a:pPr>
                      <a:r>
                        <a:rPr lang="en-US" sz="1800" b="0" i="0" u="none" strike="noStrike">
                          <a:solidFill>
                            <a:srgbClr val="000000"/>
                          </a:solidFill>
                          <a:effectLst/>
                          <a:latin typeface="+mj-lt"/>
                        </a:rPr>
                        <a:t>{NAICS2=54}</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a:solidFill>
                            <a:srgbClr val="000000"/>
                          </a:solidFill>
                          <a:effectLst/>
                          <a:latin typeface="+mj-lt"/>
                        </a:rPr>
                        <a:t>{WorkFromHome=True}</a:t>
                      </a:r>
                    </a:p>
                  </a:txBody>
                  <a:tcPr marL="7620" marR="7620" marT="7620" marB="0" anchor="b"/>
                </a:tc>
                <a:tc>
                  <a:txBody>
                    <a:bodyPr/>
                    <a:lstStyle/>
                    <a:p>
                      <a:pPr algn="r" fontAlgn="b">
                        <a:buNone/>
                      </a:pPr>
                      <a:r>
                        <a:rPr lang="en-US" sz="1800" b="0" i="0" u="none" strike="noStrike">
                          <a:solidFill>
                            <a:srgbClr val="000000"/>
                          </a:solidFill>
                          <a:effectLst/>
                          <a:latin typeface="+mj-lt"/>
                        </a:rPr>
                        <a:t>0.01</a:t>
                      </a:r>
                    </a:p>
                  </a:txBody>
                  <a:tcPr marL="7620" marR="7620" marT="7620" marB="0" anchor="b"/>
                </a:tc>
                <a:tc>
                  <a:txBody>
                    <a:bodyPr/>
                    <a:lstStyle/>
                    <a:p>
                      <a:pPr algn="r" fontAlgn="b">
                        <a:buNone/>
                      </a:pPr>
                      <a:r>
                        <a:rPr lang="en-US" sz="1800" b="0" i="0" u="none" strike="noStrike" dirty="0">
                          <a:solidFill>
                            <a:srgbClr val="000000"/>
                          </a:solidFill>
                          <a:effectLst/>
                          <a:latin typeface="+mj-lt"/>
                        </a:rPr>
                        <a:t>0.41</a:t>
                      </a:r>
                    </a:p>
                  </a:txBody>
                  <a:tcPr marL="7620" marR="7620" marT="7620" marB="0" anchor="b"/>
                </a:tc>
                <a:tc>
                  <a:txBody>
                    <a:bodyPr/>
                    <a:lstStyle/>
                    <a:p>
                      <a:pPr algn="r" fontAlgn="b">
                        <a:buNone/>
                      </a:pPr>
                      <a:r>
                        <a:rPr lang="en-US" sz="1800" b="0" i="0" u="none" strike="noStrike" dirty="0">
                          <a:solidFill>
                            <a:srgbClr val="000000"/>
                          </a:solidFill>
                          <a:effectLst/>
                          <a:latin typeface="+mj-lt"/>
                        </a:rPr>
                        <a:t>2.89</a:t>
                      </a:r>
                    </a:p>
                  </a:txBody>
                  <a:tcPr marL="7620" marR="7620" marT="7620" marB="0" anchor="b"/>
                </a:tc>
                <a:extLst>
                  <a:ext uri="{0D108BD9-81ED-4DB2-BD59-A6C34878D82A}">
                    <a16:rowId xmlns:a16="http://schemas.microsoft.com/office/drawing/2014/main" val="4034213107"/>
                  </a:ext>
                </a:extLst>
              </a:tr>
            </a:tbl>
          </a:graphicData>
        </a:graphic>
      </p:graphicFrame>
      <p:sp>
        <p:nvSpPr>
          <p:cNvPr id="4" name="Title 3">
            <a:extLst>
              <a:ext uri="{FF2B5EF4-FFF2-40B4-BE49-F238E27FC236}">
                <a16:creationId xmlns:a16="http://schemas.microsoft.com/office/drawing/2014/main" id="{3F1C28AF-D740-6E36-946E-10325B6AAE90}"/>
              </a:ext>
            </a:extLst>
          </p:cNvPr>
          <p:cNvSpPr>
            <a:spLocks noGrp="1"/>
          </p:cNvSpPr>
          <p:nvPr>
            <p:ph type="title"/>
          </p:nvPr>
        </p:nvSpPr>
        <p:spPr>
          <a:xfrm>
            <a:off x="457200" y="572018"/>
            <a:ext cx="9110662" cy="571695"/>
          </a:xfrm>
        </p:spPr>
        <p:txBody>
          <a:bodyPr/>
          <a:lstStyle/>
          <a:p>
            <a:r>
              <a:rPr lang="en-US" dirty="0"/>
              <a:t>Rules Before Pruning</a:t>
            </a:r>
          </a:p>
        </p:txBody>
      </p:sp>
    </p:spTree>
    <p:extLst>
      <p:ext uri="{BB962C8B-B14F-4D97-AF65-F5344CB8AC3E}">
        <p14:creationId xmlns:p14="http://schemas.microsoft.com/office/powerpoint/2010/main" val="2143196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E71AD-AFE9-B8EE-F4B0-30CD3FAFEB1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028F33C-8D29-B123-261E-38028176C605}"/>
              </a:ext>
            </a:extLst>
          </p:cNvPr>
          <p:cNvSpPr>
            <a:spLocks noGrp="1"/>
          </p:cNvSpPr>
          <p:nvPr>
            <p:ph type="body" sz="quarter" idx="14"/>
          </p:nvPr>
        </p:nvSpPr>
        <p:spPr/>
        <p:txBody>
          <a:bodyPr/>
          <a:lstStyle/>
          <a:p>
            <a:endParaRPr lang="en-US"/>
          </a:p>
        </p:txBody>
      </p:sp>
      <p:graphicFrame>
        <p:nvGraphicFramePr>
          <p:cNvPr id="5" name="Content Placeholder 4">
            <a:extLst>
              <a:ext uri="{FF2B5EF4-FFF2-40B4-BE49-F238E27FC236}">
                <a16:creationId xmlns:a16="http://schemas.microsoft.com/office/drawing/2014/main" id="{1B4C8220-782A-825A-5EDE-C012AB8AD54F}"/>
              </a:ext>
            </a:extLst>
          </p:cNvPr>
          <p:cNvGraphicFramePr>
            <a:graphicFrameLocks noGrp="1"/>
          </p:cNvGraphicFramePr>
          <p:nvPr>
            <p:ph sz="quarter" idx="13"/>
            <p:extLst>
              <p:ext uri="{D42A27DB-BD31-4B8C-83A1-F6EECF244321}">
                <p14:modId xmlns:p14="http://schemas.microsoft.com/office/powerpoint/2010/main" val="3921583275"/>
              </p:ext>
            </p:extLst>
          </p:nvPr>
        </p:nvGraphicFramePr>
        <p:xfrm>
          <a:off x="471488" y="1603375"/>
          <a:ext cx="11271246" cy="1112520"/>
        </p:xfrm>
        <a:graphic>
          <a:graphicData uri="http://schemas.openxmlformats.org/drawingml/2006/table">
            <a:tbl>
              <a:tblPr firstRow="1" bandRow="1">
                <a:tableStyleId>{5C22544A-7EE6-4342-B048-85BDC9FD1C3A}</a:tableStyleId>
              </a:tblPr>
              <a:tblGrid>
                <a:gridCol w="1809257">
                  <a:extLst>
                    <a:ext uri="{9D8B030D-6E8A-4147-A177-3AD203B41FA5}">
                      <a16:colId xmlns:a16="http://schemas.microsoft.com/office/drawing/2014/main" val="1483733073"/>
                    </a:ext>
                  </a:extLst>
                </a:gridCol>
                <a:gridCol w="641131">
                  <a:extLst>
                    <a:ext uri="{9D8B030D-6E8A-4147-A177-3AD203B41FA5}">
                      <a16:colId xmlns:a16="http://schemas.microsoft.com/office/drawing/2014/main" val="3594378569"/>
                    </a:ext>
                  </a:extLst>
                </a:gridCol>
                <a:gridCol w="3185235">
                  <a:extLst>
                    <a:ext uri="{9D8B030D-6E8A-4147-A177-3AD203B41FA5}">
                      <a16:colId xmlns:a16="http://schemas.microsoft.com/office/drawing/2014/main" val="4086106050"/>
                    </a:ext>
                  </a:extLst>
                </a:gridCol>
                <a:gridCol w="1878541">
                  <a:extLst>
                    <a:ext uri="{9D8B030D-6E8A-4147-A177-3AD203B41FA5}">
                      <a16:colId xmlns:a16="http://schemas.microsoft.com/office/drawing/2014/main" val="411150763"/>
                    </a:ext>
                  </a:extLst>
                </a:gridCol>
                <a:gridCol w="1878541">
                  <a:extLst>
                    <a:ext uri="{9D8B030D-6E8A-4147-A177-3AD203B41FA5}">
                      <a16:colId xmlns:a16="http://schemas.microsoft.com/office/drawing/2014/main" val="605166719"/>
                    </a:ext>
                  </a:extLst>
                </a:gridCol>
                <a:gridCol w="1878541">
                  <a:extLst>
                    <a:ext uri="{9D8B030D-6E8A-4147-A177-3AD203B41FA5}">
                      <a16:colId xmlns:a16="http://schemas.microsoft.com/office/drawing/2014/main" val="1596438971"/>
                    </a:ext>
                  </a:extLst>
                </a:gridCol>
              </a:tblGrid>
              <a:tr h="370840">
                <a:tc>
                  <a:txBody>
                    <a:bodyPr/>
                    <a:lstStyle/>
                    <a:p>
                      <a:pPr algn="ctr" fontAlgn="b">
                        <a:buNone/>
                      </a:pPr>
                      <a:r>
                        <a:rPr lang="en-US" sz="1800" b="0" i="0" u="none" strike="noStrike" dirty="0" err="1">
                          <a:solidFill>
                            <a:schemeClr val="bg1"/>
                          </a:solidFill>
                          <a:effectLst/>
                          <a:latin typeface="+mj-lt"/>
                        </a:rPr>
                        <a:t>lhs</a:t>
                      </a:r>
                      <a:endParaRPr lang="en-US" sz="1800" b="0" i="0" u="none" strike="noStrike" dirty="0">
                        <a:solidFill>
                          <a:schemeClr val="bg1"/>
                        </a:solidFill>
                        <a:effectLst/>
                        <a:latin typeface="+mj-lt"/>
                      </a:endParaRPr>
                    </a:p>
                  </a:txBody>
                  <a:tcPr marL="7620" marR="7620" marT="7620" marB="0" anchor="b"/>
                </a:tc>
                <a:tc>
                  <a:txBody>
                    <a:bodyPr/>
                    <a:lstStyle/>
                    <a:p>
                      <a:pPr algn="ctr" fontAlgn="b">
                        <a:buNone/>
                      </a:pPr>
                      <a:endParaRPr lang="en-US" sz="1800" b="0" i="0" u="none" strike="noStrike" dirty="0">
                        <a:solidFill>
                          <a:schemeClr val="bg1"/>
                        </a:solidFill>
                        <a:effectLst/>
                        <a:latin typeface="+mj-lt"/>
                      </a:endParaRPr>
                    </a:p>
                  </a:txBody>
                  <a:tcPr marL="7620" marR="7620" marT="7620" marB="0" anchor="b"/>
                </a:tc>
                <a:tc>
                  <a:txBody>
                    <a:bodyPr/>
                    <a:lstStyle/>
                    <a:p>
                      <a:pPr algn="ctr" fontAlgn="b">
                        <a:buNone/>
                      </a:pPr>
                      <a:r>
                        <a:rPr lang="en-US" sz="1800" b="0" i="0" u="none" strike="noStrike">
                          <a:solidFill>
                            <a:schemeClr val="bg1"/>
                          </a:solidFill>
                          <a:effectLst/>
                          <a:latin typeface="+mj-lt"/>
                        </a:rPr>
                        <a:t>rhs</a:t>
                      </a:r>
                    </a:p>
                  </a:txBody>
                  <a:tcPr marL="7620" marR="7620" marT="7620" marB="0" anchor="b"/>
                </a:tc>
                <a:tc>
                  <a:txBody>
                    <a:bodyPr/>
                    <a:lstStyle/>
                    <a:p>
                      <a:pPr algn="ctr" fontAlgn="b">
                        <a:buNone/>
                      </a:pPr>
                      <a:r>
                        <a:rPr lang="en-US" sz="1800" b="0" i="0" u="none" strike="noStrike" dirty="0">
                          <a:solidFill>
                            <a:schemeClr val="bg1"/>
                          </a:solidFill>
                          <a:effectLst/>
                          <a:latin typeface="+mj-lt"/>
                        </a:rPr>
                        <a:t>support</a:t>
                      </a:r>
                    </a:p>
                  </a:txBody>
                  <a:tcPr marL="7620" marR="7620" marT="7620" marB="0" anchor="b"/>
                </a:tc>
                <a:tc>
                  <a:txBody>
                    <a:bodyPr/>
                    <a:lstStyle/>
                    <a:p>
                      <a:pPr algn="ctr" fontAlgn="b">
                        <a:buNone/>
                      </a:pPr>
                      <a:r>
                        <a:rPr lang="en-US" sz="1800" b="0" i="0" u="none" strike="noStrike" dirty="0">
                          <a:solidFill>
                            <a:schemeClr val="bg1"/>
                          </a:solidFill>
                          <a:effectLst/>
                          <a:latin typeface="+mj-lt"/>
                        </a:rPr>
                        <a:t>confidence</a:t>
                      </a:r>
                    </a:p>
                  </a:txBody>
                  <a:tcPr marL="7620" marR="7620" marT="7620" marB="0" anchor="b"/>
                </a:tc>
                <a:tc>
                  <a:txBody>
                    <a:bodyPr/>
                    <a:lstStyle/>
                    <a:p>
                      <a:pPr algn="ctr" fontAlgn="b">
                        <a:buNone/>
                      </a:pPr>
                      <a:r>
                        <a:rPr lang="en-US" sz="1800" b="0" i="0" u="none" strike="noStrike" dirty="0">
                          <a:solidFill>
                            <a:schemeClr val="bg1"/>
                          </a:solidFill>
                          <a:effectLst/>
                          <a:latin typeface="+mj-lt"/>
                        </a:rPr>
                        <a:t>lift</a:t>
                      </a:r>
                    </a:p>
                  </a:txBody>
                  <a:tcPr marL="7620" marR="7620" marT="7620" marB="0" anchor="b"/>
                </a:tc>
                <a:extLst>
                  <a:ext uri="{0D108BD9-81ED-4DB2-BD59-A6C34878D82A}">
                    <a16:rowId xmlns:a16="http://schemas.microsoft.com/office/drawing/2014/main" val="1217394764"/>
                  </a:ext>
                </a:extLst>
              </a:tr>
              <a:tr h="370840">
                <a:tc>
                  <a:txBody>
                    <a:bodyPr/>
                    <a:lstStyle/>
                    <a:p>
                      <a:pPr algn="l" fontAlgn="b">
                        <a:buNone/>
                      </a:pPr>
                      <a:r>
                        <a:rPr lang="en-US" sz="1800" b="0" i="0" u="none" strike="noStrike">
                          <a:solidFill>
                            <a:srgbClr val="000000"/>
                          </a:solidFill>
                          <a:effectLst/>
                          <a:latin typeface="+mj-lt"/>
                        </a:rPr>
                        <a:t>{NAICS2=49}</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a:solidFill>
                            <a:srgbClr val="000000"/>
                          </a:solidFill>
                          <a:effectLst/>
                          <a:latin typeface="+mj-lt"/>
                        </a:rPr>
                        <a:t>{WorkFromHome=False}</a:t>
                      </a:r>
                    </a:p>
                  </a:txBody>
                  <a:tcPr marL="7620" marR="7620" marT="7620" marB="0" anchor="b"/>
                </a:tc>
                <a:tc>
                  <a:txBody>
                    <a:bodyPr/>
                    <a:lstStyle/>
                    <a:p>
                      <a:pPr algn="r" fontAlgn="b">
                        <a:buNone/>
                      </a:pPr>
                      <a:r>
                        <a:rPr lang="en-US" sz="1800" b="0" i="0" u="none" strike="noStrike" dirty="0">
                          <a:solidFill>
                            <a:srgbClr val="000000"/>
                          </a:solidFill>
                          <a:effectLst/>
                          <a:latin typeface="+mj-lt"/>
                        </a:rPr>
                        <a:t>0.03</a:t>
                      </a:r>
                    </a:p>
                  </a:txBody>
                  <a:tcPr marL="7620" marR="7620" marT="7620" marB="0" anchor="b"/>
                </a:tc>
                <a:tc>
                  <a:txBody>
                    <a:bodyPr/>
                    <a:lstStyle/>
                    <a:p>
                      <a:pPr algn="r" fontAlgn="b">
                        <a:buNone/>
                      </a:pPr>
                      <a:r>
                        <a:rPr lang="en-US" sz="1800" b="0" i="0" u="none" strike="noStrike" dirty="0">
                          <a:solidFill>
                            <a:srgbClr val="000000"/>
                          </a:solidFill>
                          <a:effectLst/>
                          <a:latin typeface="+mj-lt"/>
                        </a:rPr>
                        <a:t>0.99</a:t>
                      </a:r>
                    </a:p>
                  </a:txBody>
                  <a:tcPr marL="7620" marR="7620" marT="7620" marB="0" anchor="b"/>
                </a:tc>
                <a:tc>
                  <a:txBody>
                    <a:bodyPr/>
                    <a:lstStyle/>
                    <a:p>
                      <a:pPr algn="r" fontAlgn="b">
                        <a:buNone/>
                      </a:pPr>
                      <a:r>
                        <a:rPr lang="en-US" sz="1800" b="0" i="0" u="none" strike="noStrike" dirty="0">
                          <a:solidFill>
                            <a:srgbClr val="000000"/>
                          </a:solidFill>
                          <a:effectLst/>
                          <a:latin typeface="+mj-lt"/>
                        </a:rPr>
                        <a:t>1.16</a:t>
                      </a:r>
                    </a:p>
                  </a:txBody>
                  <a:tcPr marL="7620" marR="7620" marT="7620" marB="0" anchor="b"/>
                </a:tc>
                <a:extLst>
                  <a:ext uri="{0D108BD9-81ED-4DB2-BD59-A6C34878D82A}">
                    <a16:rowId xmlns:a16="http://schemas.microsoft.com/office/drawing/2014/main" val="1330710741"/>
                  </a:ext>
                </a:extLst>
              </a:tr>
              <a:tr h="370840">
                <a:tc>
                  <a:txBody>
                    <a:bodyPr/>
                    <a:lstStyle/>
                    <a:p>
                      <a:pPr algn="l" fontAlgn="b">
                        <a:buNone/>
                      </a:pPr>
                      <a:r>
                        <a:rPr lang="en-US" sz="1800" b="0" i="0" u="none" strike="noStrike" dirty="0">
                          <a:solidFill>
                            <a:srgbClr val="000000"/>
                          </a:solidFill>
                          <a:effectLst/>
                          <a:latin typeface="+mj-lt"/>
                        </a:rPr>
                        <a:t>{}</a:t>
                      </a:r>
                    </a:p>
                  </a:txBody>
                  <a:tcPr marL="7620" marR="7620" marT="7620" marB="0" anchor="b"/>
                </a:tc>
                <a:tc>
                  <a:txBody>
                    <a:bodyPr/>
                    <a:lstStyle/>
                    <a:p>
                      <a:pPr algn="l" fontAlgn="b">
                        <a:buNone/>
                      </a:pPr>
                      <a:r>
                        <a:rPr lang="en-US" sz="1800" b="0" i="0" u="none" strike="noStrike">
                          <a:solidFill>
                            <a:srgbClr val="000000"/>
                          </a:solidFill>
                          <a:effectLst/>
                          <a:latin typeface="+mj-lt"/>
                        </a:rPr>
                        <a:t>=&gt;</a:t>
                      </a:r>
                    </a:p>
                  </a:txBody>
                  <a:tcPr marL="7620" marR="7620" marT="7620" marB="0" anchor="b"/>
                </a:tc>
                <a:tc>
                  <a:txBody>
                    <a:bodyPr/>
                    <a:lstStyle/>
                    <a:p>
                      <a:pPr algn="l" fontAlgn="b">
                        <a:buNone/>
                      </a:pPr>
                      <a:r>
                        <a:rPr lang="en-US" sz="1800" b="0" i="0" u="none" strike="noStrike">
                          <a:solidFill>
                            <a:srgbClr val="000000"/>
                          </a:solidFill>
                          <a:effectLst/>
                          <a:latin typeface="+mj-lt"/>
                        </a:rPr>
                        <a:t>{WorkFromHome=True}</a:t>
                      </a:r>
                    </a:p>
                  </a:txBody>
                  <a:tcPr marL="7620" marR="7620" marT="7620" marB="0" anchor="b"/>
                </a:tc>
                <a:tc>
                  <a:txBody>
                    <a:bodyPr/>
                    <a:lstStyle/>
                    <a:p>
                      <a:pPr algn="r" fontAlgn="b">
                        <a:buNone/>
                      </a:pPr>
                      <a:r>
                        <a:rPr lang="en-US" sz="1800" b="0" i="0" u="none" strike="noStrike" dirty="0">
                          <a:solidFill>
                            <a:srgbClr val="000000"/>
                          </a:solidFill>
                          <a:effectLst/>
                          <a:latin typeface="+mj-lt"/>
                        </a:rPr>
                        <a:t>0.86</a:t>
                      </a:r>
                    </a:p>
                  </a:txBody>
                  <a:tcPr marL="7620" marR="7620" marT="7620" marB="0" anchor="b"/>
                </a:tc>
                <a:tc>
                  <a:txBody>
                    <a:bodyPr/>
                    <a:lstStyle/>
                    <a:p>
                      <a:pPr algn="r" fontAlgn="b">
                        <a:buNone/>
                      </a:pPr>
                      <a:r>
                        <a:rPr lang="en-US" sz="1800" b="0" i="0" u="none" strike="noStrike" dirty="0">
                          <a:solidFill>
                            <a:srgbClr val="000000"/>
                          </a:solidFill>
                          <a:effectLst/>
                          <a:latin typeface="+mj-lt"/>
                        </a:rPr>
                        <a:t>0.86</a:t>
                      </a:r>
                    </a:p>
                  </a:txBody>
                  <a:tcPr marL="7620" marR="7620" marT="7620" marB="0" anchor="b"/>
                </a:tc>
                <a:tc>
                  <a:txBody>
                    <a:bodyPr/>
                    <a:lstStyle/>
                    <a:p>
                      <a:pPr algn="r" fontAlgn="b">
                        <a:buNone/>
                      </a:pPr>
                      <a:r>
                        <a:rPr lang="en-US" sz="1800" b="0" i="0" u="none" strike="noStrike" dirty="0">
                          <a:solidFill>
                            <a:srgbClr val="000000"/>
                          </a:solidFill>
                          <a:effectLst/>
                          <a:latin typeface="+mj-lt"/>
                        </a:rPr>
                        <a:t>1</a:t>
                      </a:r>
                    </a:p>
                  </a:txBody>
                  <a:tcPr marL="7620" marR="7620" marT="7620" marB="0" anchor="b"/>
                </a:tc>
                <a:extLst>
                  <a:ext uri="{0D108BD9-81ED-4DB2-BD59-A6C34878D82A}">
                    <a16:rowId xmlns:a16="http://schemas.microsoft.com/office/drawing/2014/main" val="4034213107"/>
                  </a:ext>
                </a:extLst>
              </a:tr>
            </a:tbl>
          </a:graphicData>
        </a:graphic>
      </p:graphicFrame>
      <p:sp>
        <p:nvSpPr>
          <p:cNvPr id="4" name="Title 3">
            <a:extLst>
              <a:ext uri="{FF2B5EF4-FFF2-40B4-BE49-F238E27FC236}">
                <a16:creationId xmlns:a16="http://schemas.microsoft.com/office/drawing/2014/main" id="{25F63FB8-77B1-C123-A905-E1FE9B8EC90F}"/>
              </a:ext>
            </a:extLst>
          </p:cNvPr>
          <p:cNvSpPr>
            <a:spLocks noGrp="1"/>
          </p:cNvSpPr>
          <p:nvPr>
            <p:ph type="title"/>
          </p:nvPr>
        </p:nvSpPr>
        <p:spPr>
          <a:xfrm>
            <a:off x="457200" y="572018"/>
            <a:ext cx="9110662" cy="571695"/>
          </a:xfrm>
        </p:spPr>
        <p:txBody>
          <a:bodyPr/>
          <a:lstStyle/>
          <a:p>
            <a:r>
              <a:rPr lang="en-US" dirty="0"/>
              <a:t>Rules After Pruning</a:t>
            </a:r>
          </a:p>
        </p:txBody>
      </p:sp>
    </p:spTree>
    <p:extLst>
      <p:ext uri="{BB962C8B-B14F-4D97-AF65-F5344CB8AC3E}">
        <p14:creationId xmlns:p14="http://schemas.microsoft.com/office/powerpoint/2010/main" val="172246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6F2579-865C-ACE9-8967-E18C3FF94C9A}"/>
              </a:ext>
            </a:extLst>
          </p:cNvPr>
          <p:cNvSpPr>
            <a:spLocks noGrp="1"/>
          </p:cNvSpPr>
          <p:nvPr>
            <p:ph type="body" sz="quarter" idx="14"/>
          </p:nvPr>
        </p:nvSpPr>
        <p:spPr/>
        <p:txBody>
          <a:bodyPr/>
          <a:lstStyle/>
          <a:p>
            <a:endParaRPr lang="en-US"/>
          </a:p>
        </p:txBody>
      </p:sp>
      <p:sp>
        <p:nvSpPr>
          <p:cNvPr id="3" name="Content Placeholder 2">
            <a:extLst>
              <a:ext uri="{FF2B5EF4-FFF2-40B4-BE49-F238E27FC236}">
                <a16:creationId xmlns:a16="http://schemas.microsoft.com/office/drawing/2014/main" id="{81AB2740-F4E8-0238-CEBC-6D81BF18669E}"/>
              </a:ext>
            </a:extLst>
          </p:cNvPr>
          <p:cNvSpPr>
            <a:spLocks noGrp="1"/>
          </p:cNvSpPr>
          <p:nvPr>
            <p:ph sz="quarter" idx="13"/>
          </p:nvPr>
        </p:nvSpPr>
        <p:spPr>
          <a:xfrm>
            <a:off x="471744" y="1603512"/>
            <a:ext cx="11270489" cy="3295774"/>
          </a:xfrm>
        </p:spPr>
        <p:txBody>
          <a:bodyPr/>
          <a:lstStyle/>
          <a:p>
            <a:r>
              <a:rPr lang="en-US" sz="2800" dirty="0" err="1"/>
              <a:t>Apriori</a:t>
            </a:r>
            <a:r>
              <a:rPr lang="en-US" sz="2800" dirty="0"/>
              <a:t> Associate </a:t>
            </a:r>
            <a:r>
              <a:rPr lang="en-US" altLang="zh-CN" sz="2800" dirty="0"/>
              <a:t>Rules:</a:t>
            </a:r>
          </a:p>
          <a:p>
            <a:pPr lvl="1"/>
            <a:r>
              <a:rPr lang="en-US" sz="2300" dirty="0"/>
              <a:t>Every frequent sets of work activities are associated with admin activities or management activities. </a:t>
            </a:r>
            <a:endParaRPr lang="en-US" sz="2800" dirty="0"/>
          </a:p>
          <a:p>
            <a:r>
              <a:rPr lang="en-US" sz="2800" dirty="0"/>
              <a:t>FP Growth Rule-based </a:t>
            </a:r>
            <a:r>
              <a:rPr lang="en-US" altLang="zh-CN" sz="2800" dirty="0"/>
              <a:t>Classification:</a:t>
            </a:r>
          </a:p>
          <a:p>
            <a:pPr lvl="1"/>
            <a:r>
              <a:rPr lang="en-US" sz="2300" dirty="0"/>
              <a:t>Sample data is unbalanced. Negative samples dominate the training data.</a:t>
            </a:r>
          </a:p>
          <a:p>
            <a:pPr lvl="1"/>
            <a:r>
              <a:rPr lang="en-US" sz="2300" dirty="0"/>
              <a:t>Decision tree classification works better by maximizing the entropy</a:t>
            </a:r>
            <a:r>
              <a:rPr lang="en-US" sz="2800" dirty="0"/>
              <a:t>.</a:t>
            </a:r>
          </a:p>
          <a:p>
            <a:endParaRPr lang="en-US" dirty="0"/>
          </a:p>
        </p:txBody>
      </p:sp>
      <p:sp>
        <p:nvSpPr>
          <p:cNvPr id="4" name="Title 3">
            <a:extLst>
              <a:ext uri="{FF2B5EF4-FFF2-40B4-BE49-F238E27FC236}">
                <a16:creationId xmlns:a16="http://schemas.microsoft.com/office/drawing/2014/main" id="{046F6E76-4842-9573-310A-EF295E3C69D5}"/>
              </a:ext>
            </a:extLst>
          </p:cNvPr>
          <p:cNvSpPr>
            <a:spLocks noGrp="1"/>
          </p:cNvSpPr>
          <p:nvPr>
            <p:ph type="title"/>
          </p:nvPr>
        </p:nvSpPr>
        <p:spPr>
          <a:xfrm>
            <a:off x="457200" y="572018"/>
            <a:ext cx="9110662" cy="571695"/>
          </a:xfrm>
        </p:spPr>
        <p:txBody>
          <a:bodyPr/>
          <a:lstStyle/>
          <a:p>
            <a:r>
              <a:rPr lang="en-US" dirty="0"/>
              <a:t>Conclusions for Associations</a:t>
            </a:r>
          </a:p>
        </p:txBody>
      </p:sp>
    </p:spTree>
    <p:extLst>
      <p:ext uri="{BB962C8B-B14F-4D97-AF65-F5344CB8AC3E}">
        <p14:creationId xmlns:p14="http://schemas.microsoft.com/office/powerpoint/2010/main" val="799103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2692B-73B4-225C-C858-424D482470C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23376E9-E634-ACFC-334E-1DCD7A68FB8C}"/>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F89E4694-B69C-3B92-D27C-4445E283A8E3}"/>
              </a:ext>
            </a:extLst>
          </p:cNvPr>
          <p:cNvSpPr>
            <a:spLocks noGrp="1"/>
          </p:cNvSpPr>
          <p:nvPr>
            <p:ph type="body" sz="quarter" idx="15"/>
          </p:nvPr>
        </p:nvSpPr>
        <p:spPr>
          <a:xfrm>
            <a:off x="1473348" y="3392492"/>
            <a:ext cx="9266583" cy="584775"/>
          </a:xfrm>
        </p:spPr>
        <p:txBody>
          <a:bodyPr/>
          <a:lstStyle/>
          <a:p>
            <a:r>
              <a:rPr lang="en-US" dirty="0"/>
              <a:t>Thank you very much!</a:t>
            </a:r>
          </a:p>
        </p:txBody>
      </p:sp>
      <p:sp>
        <p:nvSpPr>
          <p:cNvPr id="5" name="Text Placeholder 4">
            <a:extLst>
              <a:ext uri="{FF2B5EF4-FFF2-40B4-BE49-F238E27FC236}">
                <a16:creationId xmlns:a16="http://schemas.microsoft.com/office/drawing/2014/main" id="{5EC327D1-499B-E60A-B382-28BAEDEC16F0}"/>
              </a:ext>
            </a:extLst>
          </p:cNvPr>
          <p:cNvSpPr>
            <a:spLocks noGrp="1"/>
          </p:cNvSpPr>
          <p:nvPr>
            <p:ph type="body" sz="quarter" idx="14"/>
          </p:nvPr>
        </p:nvSpPr>
        <p:spPr/>
        <p:txBody>
          <a:bodyPr/>
          <a:lstStyle/>
          <a:p>
            <a:r>
              <a:rPr lang="en-US" dirty="0"/>
              <a:t>Questions?</a:t>
            </a:r>
          </a:p>
        </p:txBody>
      </p:sp>
    </p:spTree>
    <p:extLst>
      <p:ext uri="{BB962C8B-B14F-4D97-AF65-F5344CB8AC3E}">
        <p14:creationId xmlns:p14="http://schemas.microsoft.com/office/powerpoint/2010/main" val="1132929244"/>
      </p:ext>
    </p:extLst>
  </p:cSld>
  <p:clrMapOvr>
    <a:masterClrMapping/>
  </p:clrMapOvr>
</p:sld>
</file>

<file path=ppt/theme/theme1.xml><?xml version="1.0" encoding="utf-8"?>
<a:theme xmlns:a="http://schemas.openxmlformats.org/drawingml/2006/main" name="Office Theme">
  <a:themeElements>
    <a:clrScheme name="PAG Theme Colors">
      <a:dk1>
        <a:srgbClr val="202020"/>
      </a:dk1>
      <a:lt1>
        <a:srgbClr val="FFFFFF"/>
      </a:lt1>
      <a:dk2>
        <a:srgbClr val="101010"/>
      </a:dk2>
      <a:lt2>
        <a:srgbClr val="DADFE1"/>
      </a:lt2>
      <a:accent1>
        <a:srgbClr val="495671"/>
      </a:accent1>
      <a:accent2>
        <a:srgbClr val="8E87A3"/>
      </a:accent2>
      <a:accent3>
        <a:srgbClr val="FCCB51"/>
      </a:accent3>
      <a:accent4>
        <a:srgbClr val="ADADAD"/>
      </a:accent4>
      <a:accent5>
        <a:srgbClr val="739F76"/>
      </a:accent5>
      <a:accent6>
        <a:srgbClr val="F26723"/>
      </a:accent6>
      <a:hlink>
        <a:srgbClr val="0479A8"/>
      </a:hlink>
      <a:folHlink>
        <a:srgbClr val="0479A8"/>
      </a:folHlink>
    </a:clrScheme>
    <a:fontScheme name="Myriad">
      <a:majorFont>
        <a:latin typeface="Myriad Pro"/>
        <a:ea typeface=""/>
        <a:cs typeface=""/>
      </a:majorFont>
      <a:minorFont>
        <a:latin typeface="Myriad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4C92221-12E0-DC4D-9394-EAFAC81F9138}" vid="{913396D6-4527-9649-BF2D-680FAB9023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7285</TotalTime>
  <Words>1889</Words>
  <Application>Microsoft Office PowerPoint</Application>
  <PresentationFormat>Widescreen</PresentationFormat>
  <Paragraphs>564</Paragraphs>
  <Slides>29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Myriad Pro Light</vt:lpstr>
      <vt:lpstr>Myriad Pro</vt:lpstr>
      <vt:lpstr>Calibri</vt:lpstr>
      <vt:lpstr>Arial</vt:lpstr>
      <vt:lpstr>Office Theme</vt:lpstr>
      <vt:lpstr>Data Mining of Travel Reduction Program Survey</vt:lpstr>
      <vt:lpstr>Data Source</vt:lpstr>
      <vt:lpstr>Data Source</vt:lpstr>
      <vt:lpstr>Data Preprocessing/Integration</vt:lpstr>
      <vt:lpstr>Data Exploration: Mode Choice</vt:lpstr>
      <vt:lpstr>Data Exploration: Household Travel</vt:lpstr>
      <vt:lpstr>NAICS Code Exploration</vt:lpstr>
      <vt:lpstr>Other Variables Exploration</vt:lpstr>
      <vt:lpstr>Other Variables Exploration</vt:lpstr>
      <vt:lpstr>Correlation Matrix</vt:lpstr>
      <vt:lpstr>Data Mining: Classification</vt:lpstr>
      <vt:lpstr>Classifications Confusion Matrices</vt:lpstr>
      <vt:lpstr>Classifications Model Compare</vt:lpstr>
      <vt:lpstr>Classification: ROC Curves</vt:lpstr>
      <vt:lpstr>SHAP Feature Importance</vt:lpstr>
      <vt:lpstr>Conclusions for Classifications</vt:lpstr>
      <vt:lpstr>Data Mining: Clusters</vt:lpstr>
      <vt:lpstr>K-means 3 Clusters</vt:lpstr>
      <vt:lpstr>PAM: Finding Number of Clusters</vt:lpstr>
      <vt:lpstr>PAM</vt:lpstr>
      <vt:lpstr>Density Clustering DBSCAN </vt:lpstr>
      <vt:lpstr>Association Rules: Apriori</vt:lpstr>
      <vt:lpstr>Rules Mined</vt:lpstr>
      <vt:lpstr>Network Graph of Mined Rules</vt:lpstr>
      <vt:lpstr>Association: Rule-based Classification</vt:lpstr>
      <vt:lpstr>Rules Before Pruning</vt:lpstr>
      <vt:lpstr>Rules After Pruning</vt:lpstr>
      <vt:lpstr>Conclusions for Associations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this template</dc:title>
  <dc:creator>Kristin Griffin</dc:creator>
  <cp:lastModifiedBy>Xiao Li</cp:lastModifiedBy>
  <cp:revision>98</cp:revision>
  <dcterms:created xsi:type="dcterms:W3CDTF">2025-02-04T17:44:40Z</dcterms:created>
  <dcterms:modified xsi:type="dcterms:W3CDTF">2025-12-10T22:41:53Z</dcterms:modified>
</cp:coreProperties>
</file>